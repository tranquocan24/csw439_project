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18288000" cy="10287000"/>
  <p:notesSz cx="6858000" cy="9144000"/>
  <p:embeddedFontLst>
    <p:embeddedFont>
      <p:font typeface="Arial MT Pro Bold" charset="1" panose="020B0802020202020204"/>
      <p:regular r:id="rId50"/>
    </p:embeddedFont>
    <p:embeddedFont>
      <p:font typeface="Arial MT Pro" charset="1" panose="020B0502020202020204"/>
      <p:regular r:id="rId51"/>
    </p:embeddedFont>
    <p:embeddedFont>
      <p:font typeface="Canva Sans Medium" charset="1" panose="020B0603030501040103"/>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1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9.png" Type="http://schemas.openxmlformats.org/officeDocument/2006/relationships/image"/><Relationship Id="rId5" Target="../embeddings/oleObject1.bin" Type="http://schemas.openxmlformats.org/officeDocument/2006/relationships/oleObjec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173721" y="6425645"/>
            <a:ext cx="3353748" cy="717442"/>
            <a:chOff x="0" y="0"/>
            <a:chExt cx="1899754" cy="406400"/>
          </a:xfrm>
        </p:grpSpPr>
        <p:sp>
          <p:nvSpPr>
            <p:cNvPr name="Freeform 4" id="4"/>
            <p:cNvSpPr/>
            <p:nvPr/>
          </p:nvSpPr>
          <p:spPr>
            <a:xfrm flipH="false" flipV="false" rot="0">
              <a:off x="0" y="0"/>
              <a:ext cx="1899754" cy="406400"/>
            </a:xfrm>
            <a:custGeom>
              <a:avLst/>
              <a:gdLst/>
              <a:ahLst/>
              <a:cxnLst/>
              <a:rect r="r" b="b" t="t" l="l"/>
              <a:pathLst>
                <a:path h="406400" w="1899754">
                  <a:moveTo>
                    <a:pt x="1696554" y="0"/>
                  </a:moveTo>
                  <a:cubicBezTo>
                    <a:pt x="1808778" y="0"/>
                    <a:pt x="1899754" y="90976"/>
                    <a:pt x="1899754" y="203200"/>
                  </a:cubicBezTo>
                  <a:cubicBezTo>
                    <a:pt x="1899754" y="315424"/>
                    <a:pt x="1808778" y="406400"/>
                    <a:pt x="169655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89975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1383774">
            <a:off x="7565571" y="197405"/>
            <a:ext cx="11226909" cy="14341591"/>
            <a:chOff x="0" y="0"/>
            <a:chExt cx="2956881" cy="3777209"/>
          </a:xfrm>
        </p:grpSpPr>
        <p:sp>
          <p:nvSpPr>
            <p:cNvPr name="Freeform 8" id="8"/>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10" id="10"/>
          <p:cNvGrpSpPr/>
          <p:nvPr/>
        </p:nvGrpSpPr>
        <p:grpSpPr>
          <a:xfrm rot="1383774">
            <a:off x="7012072" y="108644"/>
            <a:ext cx="10773748" cy="14341591"/>
            <a:chOff x="0" y="0"/>
            <a:chExt cx="2837530" cy="3777209"/>
          </a:xfrm>
        </p:grpSpPr>
        <p:sp>
          <p:nvSpPr>
            <p:cNvPr name="Freeform 11" id="11"/>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12" id="12"/>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13" id="13"/>
          <p:cNvSpPr txBox="true"/>
          <p:nvPr/>
        </p:nvSpPr>
        <p:spPr>
          <a:xfrm rot="0">
            <a:off x="2054482" y="3277263"/>
            <a:ext cx="11006929" cy="1715029"/>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Project Report</a:t>
            </a:r>
          </a:p>
        </p:txBody>
      </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2617728" y="6650330"/>
            <a:ext cx="2587398" cy="363694"/>
          </a:xfrm>
          <a:prstGeom prst="rect">
            <a:avLst/>
          </a:prstGeom>
        </p:spPr>
        <p:txBody>
          <a:bodyPr anchor="t" rtlCol="false" tIns="0" lIns="0" bIns="0" rIns="0">
            <a:spAutoFit/>
          </a:bodyPr>
          <a:lstStyle/>
          <a:p>
            <a:pPr algn="l">
              <a:lnSpc>
                <a:spcPts val="2306"/>
              </a:lnSpc>
            </a:pPr>
            <a:r>
              <a:rPr lang="en-US" sz="2621">
                <a:solidFill>
                  <a:srgbClr val="FFFFFF"/>
                </a:solidFill>
                <a:latin typeface="Arial MT Pro"/>
                <a:ea typeface="Arial MT Pro"/>
                <a:cs typeface="Arial MT Pro"/>
                <a:sym typeface="Arial MT Pro"/>
              </a:rPr>
              <a:t>CSW 439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4011154">
            <a:off x="14044924" y="1464134"/>
            <a:ext cx="17403374" cy="18180272"/>
            <a:chOff x="0" y="0"/>
            <a:chExt cx="4583605" cy="4788220"/>
          </a:xfrm>
        </p:grpSpPr>
        <p:sp>
          <p:nvSpPr>
            <p:cNvPr name="Freeform 4" id="4"/>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6" id="6"/>
          <p:cNvGrpSpPr/>
          <p:nvPr/>
        </p:nvGrpSpPr>
        <p:grpSpPr>
          <a:xfrm rot="0">
            <a:off x="2054482" y="2262850"/>
            <a:ext cx="5784422" cy="6645580"/>
            <a:chOff x="0" y="0"/>
            <a:chExt cx="812800" cy="933806"/>
          </a:xfrm>
        </p:grpSpPr>
        <p:sp>
          <p:nvSpPr>
            <p:cNvPr name="Freeform 7" id="7"/>
            <p:cNvSpPr/>
            <p:nvPr/>
          </p:nvSpPr>
          <p:spPr>
            <a:xfrm flipH="false" flipV="false" rot="0">
              <a:off x="0" y="0"/>
              <a:ext cx="812800" cy="933806"/>
            </a:xfrm>
            <a:custGeom>
              <a:avLst/>
              <a:gdLst/>
              <a:ahLst/>
              <a:cxnLst/>
              <a:rect r="r" b="b" t="t" l="l"/>
              <a:pathLst>
                <a:path h="933806" w="812800">
                  <a:moveTo>
                    <a:pt x="65582" y="0"/>
                  </a:moveTo>
                  <a:lnTo>
                    <a:pt x="747218" y="0"/>
                  </a:lnTo>
                  <a:cubicBezTo>
                    <a:pt x="783438" y="0"/>
                    <a:pt x="812800" y="29362"/>
                    <a:pt x="812800" y="65582"/>
                  </a:cubicBezTo>
                  <a:lnTo>
                    <a:pt x="812800" y="868224"/>
                  </a:lnTo>
                  <a:cubicBezTo>
                    <a:pt x="812800" y="885617"/>
                    <a:pt x="805890" y="902298"/>
                    <a:pt x="793591" y="914597"/>
                  </a:cubicBezTo>
                  <a:cubicBezTo>
                    <a:pt x="781292" y="926896"/>
                    <a:pt x="764611" y="933806"/>
                    <a:pt x="747218" y="933806"/>
                  </a:cubicBezTo>
                  <a:lnTo>
                    <a:pt x="65582" y="933806"/>
                  </a:lnTo>
                  <a:cubicBezTo>
                    <a:pt x="29362" y="933806"/>
                    <a:pt x="0" y="904444"/>
                    <a:pt x="0" y="868224"/>
                  </a:cubicBezTo>
                  <a:lnTo>
                    <a:pt x="0" y="65582"/>
                  </a:lnTo>
                  <a:cubicBezTo>
                    <a:pt x="0" y="29362"/>
                    <a:pt x="29362" y="0"/>
                    <a:pt x="65582" y="0"/>
                  </a:cubicBezTo>
                  <a:close/>
                </a:path>
              </a:pathLst>
            </a:custGeom>
            <a:blipFill>
              <a:blip r:embed="rId4"/>
              <a:stretch>
                <a:fillRect l="-36219" t="0" r="-36219" b="0"/>
              </a:stretch>
            </a:blipFill>
          </p:spPr>
        </p:sp>
      </p:grpSp>
      <p:grpSp>
        <p:nvGrpSpPr>
          <p:cNvPr name="Group 8" id="8"/>
          <p:cNvGrpSpPr/>
          <p:nvPr/>
        </p:nvGrpSpPr>
        <p:grpSpPr>
          <a:xfrm rot="0">
            <a:off x="2054482" y="4949018"/>
            <a:ext cx="5784422" cy="3959411"/>
            <a:chOff x="0" y="0"/>
            <a:chExt cx="1523469" cy="1042808"/>
          </a:xfrm>
        </p:grpSpPr>
        <p:sp>
          <p:nvSpPr>
            <p:cNvPr name="Freeform 9" id="9"/>
            <p:cNvSpPr/>
            <p:nvPr/>
          </p:nvSpPr>
          <p:spPr>
            <a:xfrm flipH="false" flipV="false" rot="0">
              <a:off x="0" y="0"/>
              <a:ext cx="1523469" cy="1042808"/>
            </a:xfrm>
            <a:custGeom>
              <a:avLst/>
              <a:gdLst/>
              <a:ahLst/>
              <a:cxnLst/>
              <a:rect r="r" b="b" t="t" l="l"/>
              <a:pathLst>
                <a:path h="1042808" w="1523469">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true">
              <a:gsLst>
                <a:gs pos="0">
                  <a:srgbClr val="141519">
                    <a:alpha val="0"/>
                  </a:srgbClr>
                </a:gs>
                <a:gs pos="100000">
                  <a:srgbClr val="141519">
                    <a:alpha val="57000"/>
                  </a:srgbClr>
                </a:gs>
              </a:gsLst>
              <a:lin ang="5400000"/>
            </a:gradFill>
          </p:spPr>
        </p:sp>
        <p:sp>
          <p:nvSpPr>
            <p:cNvPr name="TextBox 10" id="10"/>
            <p:cNvSpPr txBox="true"/>
            <p:nvPr/>
          </p:nvSpPr>
          <p:spPr>
            <a:xfrm>
              <a:off x="0" y="19050"/>
              <a:ext cx="1523469" cy="1023758"/>
            </a:xfrm>
            <a:prstGeom prst="rect">
              <a:avLst/>
            </a:prstGeom>
          </p:spPr>
          <p:txBody>
            <a:bodyPr anchor="ctr" rtlCol="false" tIns="50800" lIns="50800" bIns="50800" rIns="50800"/>
            <a:lstStyle/>
            <a:p>
              <a:pPr algn="ctr">
                <a:lnSpc>
                  <a:spcPts val="1387"/>
                </a:lnSpc>
              </a:pPr>
            </a:p>
          </p:txBody>
        </p:sp>
      </p:grpSp>
      <p:grpSp>
        <p:nvGrpSpPr>
          <p:cNvPr name="Group 11" id="11"/>
          <p:cNvGrpSpPr/>
          <p:nvPr/>
        </p:nvGrpSpPr>
        <p:grpSpPr>
          <a:xfrm rot="0">
            <a:off x="8932970" y="2262850"/>
            <a:ext cx="5434050" cy="705218"/>
            <a:chOff x="0" y="0"/>
            <a:chExt cx="1417549" cy="183966"/>
          </a:xfrm>
        </p:grpSpPr>
        <p:sp>
          <p:nvSpPr>
            <p:cNvPr name="Freeform 12" id="12"/>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3" id="13"/>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grpSp>
        <p:nvGrpSpPr>
          <p:cNvPr name="Group 14" id="14"/>
          <p:cNvGrpSpPr/>
          <p:nvPr/>
        </p:nvGrpSpPr>
        <p:grpSpPr>
          <a:xfrm rot="0">
            <a:off x="8932970" y="3253947"/>
            <a:ext cx="5434050" cy="705218"/>
            <a:chOff x="0" y="0"/>
            <a:chExt cx="1417549" cy="183966"/>
          </a:xfrm>
        </p:grpSpPr>
        <p:sp>
          <p:nvSpPr>
            <p:cNvPr name="Freeform 15" id="15"/>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6" id="16"/>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grpSp>
        <p:nvGrpSpPr>
          <p:cNvPr name="Group 17" id="17"/>
          <p:cNvGrpSpPr/>
          <p:nvPr/>
        </p:nvGrpSpPr>
        <p:grpSpPr>
          <a:xfrm rot="0">
            <a:off x="8932970" y="4243800"/>
            <a:ext cx="5434050" cy="705218"/>
            <a:chOff x="0" y="0"/>
            <a:chExt cx="1417549" cy="183966"/>
          </a:xfrm>
        </p:grpSpPr>
        <p:sp>
          <p:nvSpPr>
            <p:cNvPr name="Freeform 18" id="18"/>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19" id="19"/>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grpSp>
        <p:nvGrpSpPr>
          <p:cNvPr name="Group 20" id="20"/>
          <p:cNvGrpSpPr/>
          <p:nvPr/>
        </p:nvGrpSpPr>
        <p:grpSpPr>
          <a:xfrm rot="0">
            <a:off x="8932970" y="5233653"/>
            <a:ext cx="5434050" cy="705218"/>
            <a:chOff x="0" y="0"/>
            <a:chExt cx="1417549" cy="183966"/>
          </a:xfrm>
        </p:grpSpPr>
        <p:sp>
          <p:nvSpPr>
            <p:cNvPr name="Freeform 21" id="21"/>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2" id="22"/>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grpSp>
        <p:nvGrpSpPr>
          <p:cNvPr name="Group 23" id="23"/>
          <p:cNvGrpSpPr/>
          <p:nvPr/>
        </p:nvGrpSpPr>
        <p:grpSpPr>
          <a:xfrm rot="0">
            <a:off x="8932970" y="6223506"/>
            <a:ext cx="5434050" cy="705218"/>
            <a:chOff x="0" y="0"/>
            <a:chExt cx="1417549" cy="183966"/>
          </a:xfrm>
        </p:grpSpPr>
        <p:sp>
          <p:nvSpPr>
            <p:cNvPr name="Freeform 24" id="24"/>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5" id="25"/>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grpSp>
        <p:nvGrpSpPr>
          <p:cNvPr name="Group 26" id="26"/>
          <p:cNvGrpSpPr/>
          <p:nvPr/>
        </p:nvGrpSpPr>
        <p:grpSpPr>
          <a:xfrm rot="0">
            <a:off x="8932970" y="7213358"/>
            <a:ext cx="5434050" cy="705218"/>
            <a:chOff x="0" y="0"/>
            <a:chExt cx="1417549" cy="183966"/>
          </a:xfrm>
        </p:grpSpPr>
        <p:sp>
          <p:nvSpPr>
            <p:cNvPr name="Freeform 27" id="27"/>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solidFill>
              <a:srgbClr val="202127"/>
            </a:solidFill>
          </p:spPr>
        </p:sp>
        <p:sp>
          <p:nvSpPr>
            <p:cNvPr name="TextBox 28" id="28"/>
            <p:cNvSpPr txBox="true"/>
            <p:nvPr/>
          </p:nvSpPr>
          <p:spPr>
            <a:xfrm>
              <a:off x="0" y="19050"/>
              <a:ext cx="1417549" cy="164916"/>
            </a:xfrm>
            <a:prstGeom prst="rect">
              <a:avLst/>
            </a:prstGeom>
          </p:spPr>
          <p:txBody>
            <a:bodyPr anchor="ctr" rtlCol="false" tIns="50800" lIns="50800" bIns="50800" rIns="50800"/>
            <a:lstStyle/>
            <a:p>
              <a:pPr algn="ctr">
                <a:lnSpc>
                  <a:spcPts val="2003"/>
                </a:lnSpc>
              </a:pPr>
            </a:p>
          </p:txBody>
        </p:sp>
      </p:grpSp>
      <p:sp>
        <p:nvSpPr>
          <p:cNvPr name="TextBox 29" id="2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30" id="30"/>
          <p:cNvSpPr txBox="true"/>
          <p:nvPr/>
        </p:nvSpPr>
        <p:spPr>
          <a:xfrm rot="0">
            <a:off x="9423448" y="2515621"/>
            <a:ext cx="4544551"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Introduction &amp; Data Cleaning</a:t>
            </a:r>
          </a:p>
        </p:txBody>
      </p:sp>
      <p:sp>
        <p:nvSpPr>
          <p:cNvPr name="TextBox 31" id="31"/>
          <p:cNvSpPr txBox="true"/>
          <p:nvPr/>
        </p:nvSpPr>
        <p:spPr>
          <a:xfrm rot="0">
            <a:off x="9423448" y="3506718"/>
            <a:ext cx="3088392"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Logistic Regression</a:t>
            </a:r>
          </a:p>
        </p:txBody>
      </p:sp>
      <p:sp>
        <p:nvSpPr>
          <p:cNvPr name="TextBox 32" id="32"/>
          <p:cNvSpPr txBox="true"/>
          <p:nvPr/>
        </p:nvSpPr>
        <p:spPr>
          <a:xfrm rot="0">
            <a:off x="2670283" y="6589357"/>
            <a:ext cx="4238502" cy="1847575"/>
          </a:xfrm>
          <a:prstGeom prst="rect">
            <a:avLst/>
          </a:prstGeom>
        </p:spPr>
        <p:txBody>
          <a:bodyPr anchor="t" rtlCol="false" tIns="0" lIns="0" bIns="0" rIns="0">
            <a:spAutoFit/>
          </a:bodyPr>
          <a:lstStyle/>
          <a:p>
            <a:pPr algn="l">
              <a:lnSpc>
                <a:spcPts val="6406"/>
              </a:lnSpc>
            </a:pPr>
            <a:r>
              <a:rPr lang="en-US" sz="7280" spc="-116" b="true">
                <a:solidFill>
                  <a:srgbClr val="27DDDF"/>
                </a:solidFill>
                <a:latin typeface="Arial MT Pro Bold"/>
                <a:ea typeface="Arial MT Pro Bold"/>
                <a:cs typeface="Arial MT Pro Bold"/>
                <a:sym typeface="Arial MT Pro Bold"/>
              </a:rPr>
              <a:t>table of</a:t>
            </a:r>
          </a:p>
          <a:p>
            <a:pPr algn="l">
              <a:lnSpc>
                <a:spcPts val="6406"/>
              </a:lnSpc>
            </a:pPr>
            <a:r>
              <a:rPr lang="en-US" sz="7280" spc="-116" b="true">
                <a:solidFill>
                  <a:srgbClr val="27DDDF"/>
                </a:solidFill>
                <a:latin typeface="Arial MT Pro Bold"/>
                <a:ea typeface="Arial MT Pro Bold"/>
                <a:cs typeface="Arial MT Pro Bold"/>
                <a:sym typeface="Arial MT Pro Bold"/>
              </a:rPr>
              <a:t>content</a:t>
            </a:r>
          </a:p>
        </p:txBody>
      </p:sp>
      <p:sp>
        <p:nvSpPr>
          <p:cNvPr name="TextBox 33" id="33"/>
          <p:cNvSpPr txBox="true"/>
          <p:nvPr/>
        </p:nvSpPr>
        <p:spPr>
          <a:xfrm rot="0">
            <a:off x="9423448" y="4496571"/>
            <a:ext cx="3088392"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Decision Tree</a:t>
            </a:r>
          </a:p>
        </p:txBody>
      </p:sp>
      <p:sp>
        <p:nvSpPr>
          <p:cNvPr name="TextBox 34" id="34"/>
          <p:cNvSpPr txBox="true"/>
          <p:nvPr/>
        </p:nvSpPr>
        <p:spPr>
          <a:xfrm rot="0">
            <a:off x="9423448" y="5486424"/>
            <a:ext cx="3088392"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Random Forest</a:t>
            </a:r>
          </a:p>
        </p:txBody>
      </p:sp>
      <p:sp>
        <p:nvSpPr>
          <p:cNvPr name="TextBox 35" id="35"/>
          <p:cNvSpPr txBox="true"/>
          <p:nvPr/>
        </p:nvSpPr>
        <p:spPr>
          <a:xfrm rot="0">
            <a:off x="9423448" y="6476276"/>
            <a:ext cx="3088392"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KNN</a:t>
            </a:r>
          </a:p>
        </p:txBody>
      </p:sp>
      <p:sp>
        <p:nvSpPr>
          <p:cNvPr name="TextBox 36" id="36"/>
          <p:cNvSpPr txBox="true"/>
          <p:nvPr/>
        </p:nvSpPr>
        <p:spPr>
          <a:xfrm rot="0">
            <a:off x="9423448" y="7466129"/>
            <a:ext cx="3088392" cy="397011"/>
          </a:xfrm>
          <a:prstGeom prst="rect">
            <a:avLst/>
          </a:prstGeom>
        </p:spPr>
        <p:txBody>
          <a:bodyPr anchor="t" rtlCol="false" tIns="0" lIns="0" bIns="0" rIns="0">
            <a:spAutoFit/>
          </a:bodyPr>
          <a:lstStyle/>
          <a:p>
            <a:pPr algn="l">
              <a:lnSpc>
                <a:spcPts val="2409"/>
              </a:lnSpc>
            </a:pPr>
            <a:r>
              <a:rPr lang="en-US" sz="2737">
                <a:solidFill>
                  <a:srgbClr val="FFFFFF"/>
                </a:solidFill>
                <a:latin typeface="Arial MT Pro"/>
                <a:ea typeface="Arial MT Pro"/>
                <a:cs typeface="Arial MT Pro"/>
                <a:sym typeface="Arial MT Pro"/>
              </a:rPr>
              <a:t>Comparison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38146" y="4391117"/>
            <a:ext cx="6007300" cy="844170"/>
            <a:chOff x="0" y="0"/>
            <a:chExt cx="2892032" cy="406400"/>
          </a:xfrm>
        </p:grpSpPr>
        <p:sp>
          <p:nvSpPr>
            <p:cNvPr name="Freeform 4" id="4"/>
            <p:cNvSpPr/>
            <p:nvPr/>
          </p:nvSpPr>
          <p:spPr>
            <a:xfrm flipH="false" flipV="false" rot="0">
              <a:off x="0" y="0"/>
              <a:ext cx="2892032" cy="406400"/>
            </a:xfrm>
            <a:custGeom>
              <a:avLst/>
              <a:gdLst/>
              <a:ahLst/>
              <a:cxnLst/>
              <a:rect r="r" b="b" t="t" l="l"/>
              <a:pathLst>
                <a:path h="406400" w="2892032">
                  <a:moveTo>
                    <a:pt x="2688832" y="0"/>
                  </a:moveTo>
                  <a:cubicBezTo>
                    <a:pt x="2801057" y="0"/>
                    <a:pt x="2892032" y="90976"/>
                    <a:pt x="2892032" y="203200"/>
                  </a:cubicBezTo>
                  <a:cubicBezTo>
                    <a:pt x="2892032" y="315424"/>
                    <a:pt x="2801057" y="406400"/>
                    <a:pt x="2688832"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2892032"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911865" y="5463887"/>
            <a:ext cx="2546867" cy="3444543"/>
            <a:chOff x="0" y="0"/>
            <a:chExt cx="670780" cy="907205"/>
          </a:xfrm>
        </p:grpSpPr>
        <p:sp>
          <p:nvSpPr>
            <p:cNvPr name="Freeform 7" id="7"/>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8" id="8"/>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9" id="9"/>
          <p:cNvGrpSpPr/>
          <p:nvPr/>
        </p:nvGrpSpPr>
        <p:grpSpPr>
          <a:xfrm rot="0">
            <a:off x="4914783" y="5463887"/>
            <a:ext cx="2546867" cy="3444543"/>
            <a:chOff x="0" y="0"/>
            <a:chExt cx="670780" cy="907205"/>
          </a:xfrm>
        </p:grpSpPr>
        <p:sp>
          <p:nvSpPr>
            <p:cNvPr name="Freeform 10" id="10"/>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11" id="11"/>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12" id="12"/>
          <p:cNvGrpSpPr/>
          <p:nvPr/>
        </p:nvGrpSpPr>
        <p:grpSpPr>
          <a:xfrm rot="0">
            <a:off x="0" y="7724775"/>
            <a:ext cx="18288000" cy="6686550"/>
            <a:chOff x="0" y="0"/>
            <a:chExt cx="4816593" cy="1761067"/>
          </a:xfrm>
        </p:grpSpPr>
        <p:sp>
          <p:nvSpPr>
            <p:cNvPr name="Freeform 13" id="13"/>
            <p:cNvSpPr/>
            <p:nvPr/>
          </p:nvSpPr>
          <p:spPr>
            <a:xfrm flipH="false" flipV="false" rot="0">
              <a:off x="0" y="0"/>
              <a:ext cx="4816592" cy="1761067"/>
            </a:xfrm>
            <a:custGeom>
              <a:avLst/>
              <a:gdLst/>
              <a:ahLst/>
              <a:cxnLst/>
              <a:rect r="r" b="b" t="t" l="l"/>
              <a:pathLst>
                <a:path h="1761067" w="4816592">
                  <a:moveTo>
                    <a:pt x="0" y="0"/>
                  </a:moveTo>
                  <a:lnTo>
                    <a:pt x="4816592" y="0"/>
                  </a:lnTo>
                  <a:lnTo>
                    <a:pt x="4816592" y="1761067"/>
                  </a:lnTo>
                  <a:lnTo>
                    <a:pt x="0" y="1761067"/>
                  </a:lnTo>
                  <a:close/>
                </a:path>
              </a:pathLst>
            </a:custGeom>
            <a:gradFill rotWithShape="true">
              <a:gsLst>
                <a:gs pos="0">
                  <a:srgbClr val="2D2E34">
                    <a:alpha val="0"/>
                  </a:srgbClr>
                </a:gs>
                <a:gs pos="100000">
                  <a:srgbClr val="2D2E34">
                    <a:alpha val="100000"/>
                  </a:srgbClr>
                </a:gs>
              </a:gsLst>
              <a:lin ang="5400000"/>
            </a:gradFill>
          </p:spPr>
        </p:sp>
        <p:sp>
          <p:nvSpPr>
            <p:cNvPr name="TextBox 14" id="14"/>
            <p:cNvSpPr txBox="true"/>
            <p:nvPr/>
          </p:nvSpPr>
          <p:spPr>
            <a:xfrm>
              <a:off x="0" y="19050"/>
              <a:ext cx="4816593" cy="1742017"/>
            </a:xfrm>
            <a:prstGeom prst="rect">
              <a:avLst/>
            </a:prstGeom>
          </p:spPr>
          <p:txBody>
            <a:bodyPr anchor="ctr" rtlCol="false" tIns="50800" lIns="50800" bIns="50800" rIns="50800"/>
            <a:lstStyle/>
            <a:p>
              <a:pPr algn="ctr">
                <a:lnSpc>
                  <a:spcPts val="1387"/>
                </a:lnSpc>
              </a:pPr>
            </a:p>
          </p:txBody>
        </p:sp>
      </p:grpSp>
      <p:grpSp>
        <p:nvGrpSpPr>
          <p:cNvPr name="Group 15" id="15"/>
          <p:cNvGrpSpPr/>
          <p:nvPr/>
        </p:nvGrpSpPr>
        <p:grpSpPr>
          <a:xfrm rot="0">
            <a:off x="2054482" y="5463887"/>
            <a:ext cx="2546867" cy="3444543"/>
            <a:chOff x="0" y="0"/>
            <a:chExt cx="670780" cy="907205"/>
          </a:xfrm>
        </p:grpSpPr>
        <p:sp>
          <p:nvSpPr>
            <p:cNvPr name="Freeform 16" id="16"/>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17" id="17"/>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18" id="18"/>
          <p:cNvGrpSpPr/>
          <p:nvPr/>
        </p:nvGrpSpPr>
        <p:grpSpPr>
          <a:xfrm rot="0">
            <a:off x="7766450" y="5463887"/>
            <a:ext cx="2546867" cy="3444543"/>
            <a:chOff x="0" y="0"/>
            <a:chExt cx="670780" cy="907205"/>
          </a:xfrm>
        </p:grpSpPr>
        <p:sp>
          <p:nvSpPr>
            <p:cNvPr name="Freeform 19" id="19"/>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20" id="20"/>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21" id="21"/>
          <p:cNvGrpSpPr/>
          <p:nvPr/>
        </p:nvGrpSpPr>
        <p:grpSpPr>
          <a:xfrm rot="0">
            <a:off x="10621036" y="5463887"/>
            <a:ext cx="2546867" cy="3444543"/>
            <a:chOff x="0" y="0"/>
            <a:chExt cx="670780" cy="907205"/>
          </a:xfrm>
        </p:grpSpPr>
        <p:sp>
          <p:nvSpPr>
            <p:cNvPr name="Freeform 22" id="22"/>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23" id="23"/>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24" id="24"/>
          <p:cNvGrpSpPr/>
          <p:nvPr/>
        </p:nvGrpSpPr>
        <p:grpSpPr>
          <a:xfrm rot="0">
            <a:off x="13475621" y="5463887"/>
            <a:ext cx="2546867" cy="3444543"/>
            <a:chOff x="0" y="0"/>
            <a:chExt cx="670780" cy="907205"/>
          </a:xfrm>
        </p:grpSpPr>
        <p:sp>
          <p:nvSpPr>
            <p:cNvPr name="Freeform 25" id="25"/>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26" id="26"/>
            <p:cNvSpPr txBox="true"/>
            <p:nvPr/>
          </p:nvSpPr>
          <p:spPr>
            <a:xfrm>
              <a:off x="0" y="19050"/>
              <a:ext cx="670780" cy="888155"/>
            </a:xfrm>
            <a:prstGeom prst="rect">
              <a:avLst/>
            </a:prstGeom>
          </p:spPr>
          <p:txBody>
            <a:bodyPr anchor="ctr" rtlCol="false" tIns="50800" lIns="50800" bIns="50800" rIns="50800"/>
            <a:lstStyle/>
            <a:p>
              <a:pPr algn="ctr">
                <a:lnSpc>
                  <a:spcPts val="1387"/>
                </a:lnSpc>
              </a:pPr>
            </a:p>
          </p:txBody>
        </p:sp>
      </p:grpSp>
      <p:grpSp>
        <p:nvGrpSpPr>
          <p:cNvPr name="Group 27" id="27"/>
          <p:cNvGrpSpPr/>
          <p:nvPr/>
        </p:nvGrpSpPr>
        <p:grpSpPr>
          <a:xfrm rot="0">
            <a:off x="6719937" y="8230201"/>
            <a:ext cx="422397" cy="4223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29" id="29"/>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grpSp>
        <p:nvGrpSpPr>
          <p:cNvPr name="Group 30" id="30"/>
          <p:cNvGrpSpPr/>
          <p:nvPr/>
        </p:nvGrpSpPr>
        <p:grpSpPr>
          <a:xfrm rot="0">
            <a:off x="3860818" y="8230201"/>
            <a:ext cx="422397" cy="42239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p:spPr>
        </p:sp>
        <p:sp>
          <p:nvSpPr>
            <p:cNvPr name="TextBox 32" id="32"/>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grpSp>
        <p:nvGrpSpPr>
          <p:cNvPr name="Group 33" id="33"/>
          <p:cNvGrpSpPr/>
          <p:nvPr/>
        </p:nvGrpSpPr>
        <p:grpSpPr>
          <a:xfrm rot="0">
            <a:off x="9573282" y="8230201"/>
            <a:ext cx="422397" cy="42239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35" id="35"/>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36" id="36"/>
          <p:cNvSpPr/>
          <p:nvPr/>
        </p:nvSpPr>
        <p:spPr>
          <a:xfrm flipH="false" flipV="false" rot="-5400000">
            <a:off x="11391510" y="4650989"/>
            <a:ext cx="427277" cy="228399"/>
          </a:xfrm>
          <a:custGeom>
            <a:avLst/>
            <a:gdLst/>
            <a:ahLst/>
            <a:cxnLst/>
            <a:rect r="r" b="b" t="t" l="l"/>
            <a:pathLst>
              <a:path h="228399" w="427277">
                <a:moveTo>
                  <a:pt x="0" y="0"/>
                </a:moveTo>
                <a:lnTo>
                  <a:pt x="427276" y="0"/>
                </a:lnTo>
                <a:lnTo>
                  <a:pt x="427276" y="228399"/>
                </a:lnTo>
                <a:lnTo>
                  <a:pt x="0" y="228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false" rot="-5400000">
            <a:off x="6842841"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5400000">
            <a:off x="3983723"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5400000">
            <a:off x="9696187"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0" id="4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41" id="41"/>
          <p:cNvSpPr txBox="true"/>
          <p:nvPr/>
        </p:nvSpPr>
        <p:spPr>
          <a:xfrm rot="0">
            <a:off x="2446072" y="6003427"/>
            <a:ext cx="1520815" cy="1764392"/>
          </a:xfrm>
          <a:prstGeom prst="rect">
            <a:avLst/>
          </a:prstGeom>
        </p:spPr>
        <p:txBody>
          <a:bodyPr anchor="t" rtlCol="false" tIns="0" lIns="0" bIns="0" rIns="0">
            <a:spAutoFit/>
          </a:bodyPr>
          <a:lstStyle/>
          <a:p>
            <a:pPr algn="l">
              <a:lnSpc>
                <a:spcPts val="2694"/>
              </a:lnSpc>
            </a:pPr>
            <a:r>
              <a:rPr lang="en-US" sz="2590" spc="-108" b="true">
                <a:solidFill>
                  <a:srgbClr val="FFFFFF"/>
                </a:solidFill>
                <a:latin typeface="Arial MT Pro Bold"/>
                <a:ea typeface="Arial MT Pro Bold"/>
                <a:cs typeface="Arial MT Pro Bold"/>
                <a:sym typeface="Arial MT Pro Bold"/>
              </a:rPr>
              <a:t>1. </a:t>
            </a:r>
          </a:p>
          <a:p>
            <a:pPr algn="l">
              <a:lnSpc>
                <a:spcPts val="2694"/>
              </a:lnSpc>
            </a:pPr>
            <a:r>
              <a:rPr lang="en-US" sz="2590" spc="-108" b="true">
                <a:solidFill>
                  <a:srgbClr val="FFFFFF"/>
                </a:solidFill>
                <a:latin typeface="Arial MT Pro Bold"/>
                <a:ea typeface="Arial MT Pro Bold"/>
                <a:cs typeface="Arial MT Pro Bold"/>
                <a:sym typeface="Arial MT Pro Bold"/>
              </a:rPr>
              <a:t>Load,</a:t>
            </a:r>
          </a:p>
          <a:p>
            <a:pPr algn="l">
              <a:lnSpc>
                <a:spcPts val="2694"/>
              </a:lnSpc>
            </a:pPr>
            <a:r>
              <a:rPr lang="en-US" sz="2590" spc="-108" b="true">
                <a:solidFill>
                  <a:srgbClr val="FFFFFF"/>
                </a:solidFill>
                <a:latin typeface="Arial MT Pro Bold"/>
                <a:ea typeface="Arial MT Pro Bold"/>
                <a:cs typeface="Arial MT Pro Bold"/>
                <a:sym typeface="Arial MT Pro Bold"/>
              </a:rPr>
              <a:t>Đọc dữ liệu thô</a:t>
            </a:r>
          </a:p>
          <a:p>
            <a:pPr algn="l">
              <a:lnSpc>
                <a:spcPts val="2694"/>
              </a:lnSpc>
            </a:pPr>
          </a:p>
        </p:txBody>
      </p:sp>
      <p:sp>
        <p:nvSpPr>
          <p:cNvPr name="TextBox 42" id="42"/>
          <p:cNvSpPr txBox="true"/>
          <p:nvPr/>
        </p:nvSpPr>
        <p:spPr>
          <a:xfrm rot="0">
            <a:off x="5303454" y="6003427"/>
            <a:ext cx="1758146" cy="1764392"/>
          </a:xfrm>
          <a:prstGeom prst="rect">
            <a:avLst/>
          </a:prstGeom>
        </p:spPr>
        <p:txBody>
          <a:bodyPr anchor="t" rtlCol="false" tIns="0" lIns="0" bIns="0" rIns="0">
            <a:spAutoFit/>
          </a:bodyPr>
          <a:lstStyle/>
          <a:p>
            <a:pPr algn="l">
              <a:lnSpc>
                <a:spcPts val="2694"/>
              </a:lnSpc>
            </a:pPr>
            <a:r>
              <a:rPr lang="en-US" sz="2590" spc="-108" b="true">
                <a:solidFill>
                  <a:srgbClr val="FFFFFF"/>
                </a:solidFill>
                <a:latin typeface="Arial MT Pro Bold"/>
                <a:ea typeface="Arial MT Pro Bold"/>
                <a:cs typeface="Arial MT Pro Bold"/>
                <a:sym typeface="Arial MT Pro Bold"/>
              </a:rPr>
              <a:t>2. Understand</a:t>
            </a:r>
          </a:p>
          <a:p>
            <a:pPr algn="l">
              <a:lnSpc>
                <a:spcPts val="2694"/>
              </a:lnSpc>
            </a:pPr>
            <a:r>
              <a:rPr lang="en-US" sz="2590" spc="-108" b="true">
                <a:solidFill>
                  <a:srgbClr val="FFFFFF"/>
                </a:solidFill>
                <a:latin typeface="Arial MT Pro Bold"/>
                <a:ea typeface="Arial MT Pro Bold"/>
                <a:cs typeface="Arial MT Pro Bold"/>
                <a:sym typeface="Arial MT Pro Bold"/>
              </a:rPr>
              <a:t>Khám phá &amp; Đánh giá</a:t>
            </a:r>
          </a:p>
          <a:p>
            <a:pPr algn="l">
              <a:lnSpc>
                <a:spcPts val="2694"/>
              </a:lnSpc>
            </a:pPr>
          </a:p>
        </p:txBody>
      </p:sp>
      <p:sp>
        <p:nvSpPr>
          <p:cNvPr name="TextBox 43" id="43"/>
          <p:cNvSpPr txBox="true"/>
          <p:nvPr/>
        </p:nvSpPr>
        <p:spPr>
          <a:xfrm rot="0">
            <a:off x="8038183" y="6003427"/>
            <a:ext cx="1878002" cy="1764392"/>
          </a:xfrm>
          <a:prstGeom prst="rect">
            <a:avLst/>
          </a:prstGeom>
        </p:spPr>
        <p:txBody>
          <a:bodyPr anchor="t" rtlCol="false" tIns="0" lIns="0" bIns="0" rIns="0">
            <a:spAutoFit/>
          </a:bodyPr>
          <a:lstStyle/>
          <a:p>
            <a:pPr algn="l">
              <a:lnSpc>
                <a:spcPts val="2694"/>
              </a:lnSpc>
            </a:pPr>
            <a:r>
              <a:rPr lang="en-US" sz="2590" spc="-108" b="true">
                <a:solidFill>
                  <a:srgbClr val="FFFFFF"/>
                </a:solidFill>
                <a:latin typeface="Arial MT Pro Bold"/>
                <a:ea typeface="Arial MT Pro Bold"/>
                <a:cs typeface="Arial MT Pro Bold"/>
                <a:sym typeface="Arial MT Pro Bold"/>
              </a:rPr>
              <a:t>3. Aggregation</a:t>
            </a:r>
          </a:p>
          <a:p>
            <a:pPr algn="l">
              <a:lnSpc>
                <a:spcPts val="2694"/>
              </a:lnSpc>
            </a:pPr>
            <a:r>
              <a:rPr lang="en-US" sz="2590" spc="-108" b="true">
                <a:solidFill>
                  <a:srgbClr val="FFFFFF"/>
                </a:solidFill>
                <a:latin typeface="Arial MT Pro Bold"/>
                <a:ea typeface="Arial MT Pro Bold"/>
                <a:cs typeface="Arial MT Pro Bold"/>
                <a:sym typeface="Arial MT Pro Bold"/>
              </a:rPr>
              <a:t>Trích xuất &amp; Tổng hợp</a:t>
            </a:r>
          </a:p>
          <a:p>
            <a:pPr algn="l">
              <a:lnSpc>
                <a:spcPts val="2694"/>
              </a:lnSpc>
            </a:pPr>
          </a:p>
        </p:txBody>
      </p:sp>
      <p:sp>
        <p:nvSpPr>
          <p:cNvPr name="TextBox 44" id="44"/>
          <p:cNvSpPr txBox="true"/>
          <p:nvPr/>
        </p:nvSpPr>
        <p:spPr>
          <a:xfrm rot="0">
            <a:off x="11018220" y="6003427"/>
            <a:ext cx="1747034" cy="2104838"/>
          </a:xfrm>
          <a:prstGeom prst="rect">
            <a:avLst/>
          </a:prstGeom>
        </p:spPr>
        <p:txBody>
          <a:bodyPr anchor="t" rtlCol="false" tIns="0" lIns="0" bIns="0" rIns="0">
            <a:spAutoFit/>
          </a:bodyPr>
          <a:lstStyle/>
          <a:p>
            <a:pPr algn="l">
              <a:lnSpc>
                <a:spcPts val="2694"/>
              </a:lnSpc>
            </a:pPr>
            <a:r>
              <a:rPr lang="en-US" sz="2590" spc="-108" b="true">
                <a:solidFill>
                  <a:srgbClr val="FFFFFF"/>
                </a:solidFill>
                <a:latin typeface="Arial MT Pro Bold"/>
                <a:ea typeface="Arial MT Pro Bold"/>
                <a:cs typeface="Arial MT Pro Bold"/>
                <a:sym typeface="Arial MT Pro Bold"/>
              </a:rPr>
              <a:t>4. </a:t>
            </a:r>
          </a:p>
          <a:p>
            <a:pPr algn="l">
              <a:lnSpc>
                <a:spcPts val="2694"/>
              </a:lnSpc>
            </a:pPr>
            <a:r>
              <a:rPr lang="en-US" sz="2590" spc="-108" b="true">
                <a:solidFill>
                  <a:srgbClr val="FFFFFF"/>
                </a:solidFill>
                <a:latin typeface="Arial MT Pro Bold"/>
                <a:ea typeface="Arial MT Pro Bold"/>
                <a:cs typeface="Arial MT Pro Bold"/>
                <a:sym typeface="Arial MT Pro Bold"/>
              </a:rPr>
              <a:t>Merge &amp; Dedup</a:t>
            </a:r>
          </a:p>
          <a:p>
            <a:pPr algn="l">
              <a:lnSpc>
                <a:spcPts val="2694"/>
              </a:lnSpc>
            </a:pPr>
            <a:r>
              <a:rPr lang="en-US" sz="2590" spc="-108" b="true">
                <a:solidFill>
                  <a:srgbClr val="FFFFFF"/>
                </a:solidFill>
                <a:latin typeface="Arial MT Pro Bold"/>
                <a:ea typeface="Arial MT Pro Bold"/>
                <a:cs typeface="Arial MT Pro Bold"/>
                <a:sym typeface="Arial MT Pro Bold"/>
              </a:rPr>
              <a:t>Hợp nhất &amp; Làm sạch</a:t>
            </a:r>
          </a:p>
          <a:p>
            <a:pPr algn="l">
              <a:lnSpc>
                <a:spcPts val="2694"/>
              </a:lnSpc>
            </a:pPr>
          </a:p>
        </p:txBody>
      </p:sp>
      <p:sp>
        <p:nvSpPr>
          <p:cNvPr name="TextBox 45" id="45"/>
          <p:cNvSpPr txBox="true"/>
          <p:nvPr/>
        </p:nvSpPr>
        <p:spPr>
          <a:xfrm rot="0">
            <a:off x="13875602" y="6003427"/>
            <a:ext cx="1691315" cy="1764392"/>
          </a:xfrm>
          <a:prstGeom prst="rect">
            <a:avLst/>
          </a:prstGeom>
        </p:spPr>
        <p:txBody>
          <a:bodyPr anchor="t" rtlCol="false" tIns="0" lIns="0" bIns="0" rIns="0">
            <a:spAutoFit/>
          </a:bodyPr>
          <a:lstStyle/>
          <a:p>
            <a:pPr algn="l">
              <a:lnSpc>
                <a:spcPts val="2694"/>
              </a:lnSpc>
            </a:pPr>
            <a:r>
              <a:rPr lang="en-US" sz="2590" spc="-108" b="true">
                <a:solidFill>
                  <a:srgbClr val="FFFFFF"/>
                </a:solidFill>
                <a:latin typeface="Arial MT Pro Bold"/>
                <a:ea typeface="Arial MT Pro Bold"/>
                <a:cs typeface="Arial MT Pro Bold"/>
                <a:sym typeface="Arial MT Pro Bold"/>
              </a:rPr>
              <a:t>5.</a:t>
            </a:r>
          </a:p>
          <a:p>
            <a:pPr algn="l">
              <a:lnSpc>
                <a:spcPts val="2694"/>
              </a:lnSpc>
            </a:pPr>
            <a:r>
              <a:rPr lang="en-US" sz="2590" spc="-108" b="true">
                <a:solidFill>
                  <a:srgbClr val="FFFFFF"/>
                </a:solidFill>
                <a:latin typeface="Arial MT Pro Bold"/>
                <a:ea typeface="Arial MT Pro Bold"/>
                <a:cs typeface="Arial MT Pro Bold"/>
                <a:sym typeface="Arial MT Pro Bold"/>
              </a:rPr>
              <a:t>Perfor-</a:t>
            </a:r>
          </a:p>
          <a:p>
            <a:pPr algn="l">
              <a:lnSpc>
                <a:spcPts val="2694"/>
              </a:lnSpc>
            </a:pPr>
            <a:r>
              <a:rPr lang="en-US" sz="2590" spc="-108" b="true">
                <a:solidFill>
                  <a:srgbClr val="FFFFFF"/>
                </a:solidFill>
                <a:latin typeface="Arial MT Pro Bold"/>
                <a:ea typeface="Arial MT Pro Bold"/>
                <a:cs typeface="Arial MT Pro Bold"/>
                <a:sym typeface="Arial MT Pro Bold"/>
              </a:rPr>
              <a:t>mance Measure-</a:t>
            </a:r>
          </a:p>
          <a:p>
            <a:pPr algn="l">
              <a:lnSpc>
                <a:spcPts val="2694"/>
              </a:lnSpc>
            </a:pPr>
            <a:r>
              <a:rPr lang="en-US" sz="2590" spc="-108" b="true">
                <a:solidFill>
                  <a:srgbClr val="FFFFFF"/>
                </a:solidFill>
                <a:latin typeface="Arial MT Pro Bold"/>
                <a:ea typeface="Arial MT Pro Bold"/>
                <a:cs typeface="Arial MT Pro Bold"/>
                <a:sym typeface="Arial MT Pro Bold"/>
              </a:rPr>
              <a:t>ment</a:t>
            </a:r>
          </a:p>
        </p:txBody>
      </p:sp>
      <p:grpSp>
        <p:nvGrpSpPr>
          <p:cNvPr name="Group 46" id="46"/>
          <p:cNvGrpSpPr/>
          <p:nvPr/>
        </p:nvGrpSpPr>
        <p:grpSpPr>
          <a:xfrm rot="0">
            <a:off x="12426627" y="8230201"/>
            <a:ext cx="422397" cy="422397"/>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48" id="48"/>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49" id="49"/>
          <p:cNvSpPr/>
          <p:nvPr/>
        </p:nvSpPr>
        <p:spPr>
          <a:xfrm flipH="false" flipV="false" rot="-5400000">
            <a:off x="12549532"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0" id="50"/>
          <p:cNvGrpSpPr/>
          <p:nvPr/>
        </p:nvGrpSpPr>
        <p:grpSpPr>
          <a:xfrm rot="0">
            <a:off x="15279973" y="8230201"/>
            <a:ext cx="422397" cy="422397"/>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52" id="52"/>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53" id="53"/>
          <p:cNvSpPr/>
          <p:nvPr/>
        </p:nvSpPr>
        <p:spPr>
          <a:xfrm flipH="false" flipV="false" rot="-5400000">
            <a:off x="15402878"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4" id="54"/>
          <p:cNvSpPr txBox="true"/>
          <p:nvPr/>
        </p:nvSpPr>
        <p:spPr>
          <a:xfrm rot="0">
            <a:off x="1168646" y="1456485"/>
            <a:ext cx="10438706" cy="1149207"/>
          </a:xfrm>
          <a:prstGeom prst="rect">
            <a:avLst/>
          </a:prstGeom>
        </p:spPr>
        <p:txBody>
          <a:bodyPr anchor="t" rtlCol="false" tIns="0" lIns="0" bIns="0" rIns="0">
            <a:spAutoFit/>
          </a:bodyPr>
          <a:lstStyle/>
          <a:p>
            <a:pPr algn="l" marL="675906" indent="-337953" lvl="1">
              <a:lnSpc>
                <a:spcPts val="4382"/>
              </a:lnSpc>
              <a:buAutoNum type="arabicPeriod" startAt="1"/>
            </a:pPr>
            <a:r>
              <a:rPr lang="en-US" b="true" sz="3130">
                <a:solidFill>
                  <a:srgbClr val="FFFFFF"/>
                </a:solidFill>
                <a:latin typeface="Arial MT Pro Bold"/>
                <a:ea typeface="Arial MT Pro Bold"/>
                <a:cs typeface="Arial MT Pro Bold"/>
                <a:sym typeface="Arial MT Pro Bold"/>
              </a:rPr>
              <a:t>Tiền xử lý dữ liệu (Data Preprocessing)</a:t>
            </a:r>
          </a:p>
          <a:p>
            <a:pPr algn="ctr">
              <a:lnSpc>
                <a:spcPts val="4382"/>
              </a:lnSpc>
              <a:spcBef>
                <a:spcPct val="0"/>
              </a:spcBef>
            </a:pPr>
            <a:r>
              <a:rPr lang="en-US" sz="3130">
                <a:solidFill>
                  <a:srgbClr val="FFFFFF"/>
                </a:solidFill>
                <a:latin typeface="Arial MT Pro"/>
                <a:ea typeface="Arial MT Pro"/>
                <a:cs typeface="Arial MT Pro"/>
                <a:sym typeface="Arial MT Pro"/>
              </a:rPr>
              <a:t>Nền tảng xây dựng mô hình phân loại đánh giá khách hàng</a:t>
            </a:r>
          </a:p>
        </p:txBody>
      </p:sp>
      <p:sp>
        <p:nvSpPr>
          <p:cNvPr name="TextBox 55" id="55"/>
          <p:cNvSpPr txBox="true"/>
          <p:nvPr/>
        </p:nvSpPr>
        <p:spPr>
          <a:xfrm rot="0">
            <a:off x="2056686" y="2810184"/>
            <a:ext cx="14174628" cy="1352332"/>
          </a:xfrm>
          <a:prstGeom prst="rect">
            <a:avLst/>
          </a:prstGeom>
        </p:spPr>
        <p:txBody>
          <a:bodyPr anchor="t" rtlCol="false" tIns="0" lIns="0" bIns="0" rIns="0">
            <a:spAutoFit/>
          </a:bodyPr>
          <a:lstStyle/>
          <a:p>
            <a:pPr algn="ctr">
              <a:lnSpc>
                <a:spcPts val="4180"/>
              </a:lnSpc>
              <a:spcBef>
                <a:spcPct val="0"/>
              </a:spcBef>
            </a:pPr>
            <a:r>
              <a:rPr lang="en-US" sz="2985">
                <a:solidFill>
                  <a:srgbClr val="FFFFFF"/>
                </a:solidFill>
                <a:latin typeface="Arial MT Pro"/>
                <a:ea typeface="Arial MT Pro"/>
                <a:cs typeface="Arial MT Pro"/>
                <a:sym typeface="Arial MT Pro"/>
              </a:rPr>
              <a:t>Mục tiêu cốt lõi</a:t>
            </a:r>
          </a:p>
          <a:p>
            <a:pPr algn="ctr">
              <a:lnSpc>
                <a:spcPts val="3053"/>
              </a:lnSpc>
              <a:spcBef>
                <a:spcPct val="0"/>
              </a:spcBef>
            </a:pPr>
            <a:r>
              <a:rPr lang="en-US" sz="2181">
                <a:solidFill>
                  <a:srgbClr val="FFFFFF"/>
                </a:solidFill>
                <a:latin typeface="Arial MT Pro"/>
                <a:ea typeface="Arial MT Pro"/>
                <a:cs typeface="Arial MT Pro"/>
                <a:sym typeface="Arial MT Pro"/>
              </a:rPr>
              <a:t>Làm sạch, hiểu và hợp nhất dữ liệu từ nhiều nguồn khác nhau nhằm chuẩn bị dữ liệu đầu vào</a:t>
            </a:r>
          </a:p>
          <a:p>
            <a:pPr algn="ctr">
              <a:lnSpc>
                <a:spcPts val="3193"/>
              </a:lnSpc>
              <a:spcBef>
                <a:spcPct val="0"/>
              </a:spcBef>
            </a:pPr>
            <a:r>
              <a:rPr lang="en-US" sz="2281">
                <a:solidFill>
                  <a:srgbClr val="FFFFFF"/>
                </a:solidFill>
                <a:latin typeface="Arial MT Pro"/>
                <a:ea typeface="Arial MT Pro"/>
                <a:cs typeface="Arial MT Pro"/>
                <a:sym typeface="Arial MT Pro"/>
              </a:rPr>
              <a:t> có chất lượng tốt nhất cho việc huấn luyện mô hình.</a:t>
            </a:r>
          </a:p>
        </p:txBody>
      </p:sp>
      <p:sp>
        <p:nvSpPr>
          <p:cNvPr name="TextBox 56" id="56"/>
          <p:cNvSpPr txBox="true"/>
          <p:nvPr/>
        </p:nvSpPr>
        <p:spPr>
          <a:xfrm rot="0">
            <a:off x="6586953" y="4571376"/>
            <a:ext cx="4522635" cy="407451"/>
          </a:xfrm>
          <a:prstGeom prst="rect">
            <a:avLst/>
          </a:prstGeom>
        </p:spPr>
        <p:txBody>
          <a:bodyPr anchor="t" rtlCol="false" tIns="0" lIns="0" bIns="0" rIns="0">
            <a:spAutoFit/>
          </a:bodyPr>
          <a:lstStyle/>
          <a:p>
            <a:pPr algn="ctr">
              <a:lnSpc>
                <a:spcPts val="3095"/>
              </a:lnSpc>
              <a:spcBef>
                <a:spcPct val="0"/>
              </a:spcBef>
            </a:pPr>
            <a:r>
              <a:rPr lang="en-US" sz="2210">
                <a:solidFill>
                  <a:srgbClr val="FFFFFF"/>
                </a:solidFill>
                <a:latin typeface="Arial MT Pro"/>
                <a:ea typeface="Arial MT Pro"/>
                <a:cs typeface="Arial MT Pro"/>
                <a:sym typeface="Arial MT Pro"/>
              </a:rPr>
              <a:t>Sơ đồ quy trình tổng quan (Pipeline)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1312" y="2809258"/>
            <a:ext cx="2990248" cy="3510788"/>
            <a:chOff x="0" y="0"/>
            <a:chExt cx="3986998" cy="4681051"/>
          </a:xfrm>
        </p:grpSpPr>
        <p:grpSp>
          <p:nvGrpSpPr>
            <p:cNvPr name="Group 4" id="4"/>
            <p:cNvGrpSpPr/>
            <p:nvPr/>
          </p:nvGrpSpPr>
          <p:grpSpPr>
            <a:xfrm rot="0">
              <a:off x="0" y="0"/>
              <a:ext cx="3986998" cy="4681051"/>
              <a:chOff x="0" y="0"/>
              <a:chExt cx="830276" cy="974810"/>
            </a:xfrm>
          </p:grpSpPr>
          <p:sp>
            <p:nvSpPr>
              <p:cNvPr name="Freeform 5" id="5"/>
              <p:cNvSpPr/>
              <p:nvPr/>
            </p:nvSpPr>
            <p:spPr>
              <a:xfrm flipH="false" flipV="false" rot="0">
                <a:off x="0" y="0"/>
                <a:ext cx="830276" cy="974810"/>
              </a:xfrm>
              <a:custGeom>
                <a:avLst/>
                <a:gdLst/>
                <a:ahLst/>
                <a:cxnLst/>
                <a:rect r="r" b="b" t="t" l="l"/>
                <a:pathLst>
                  <a:path h="974810" w="830276">
                    <a:moveTo>
                      <a:pt x="68763" y="0"/>
                    </a:moveTo>
                    <a:lnTo>
                      <a:pt x="761513" y="0"/>
                    </a:lnTo>
                    <a:cubicBezTo>
                      <a:pt x="799490" y="0"/>
                      <a:pt x="830276" y="30786"/>
                      <a:pt x="830276" y="68763"/>
                    </a:cubicBezTo>
                    <a:lnTo>
                      <a:pt x="830276" y="906047"/>
                    </a:lnTo>
                    <a:cubicBezTo>
                      <a:pt x="830276" y="924284"/>
                      <a:pt x="823031" y="941774"/>
                      <a:pt x="810136" y="954670"/>
                    </a:cubicBezTo>
                    <a:cubicBezTo>
                      <a:pt x="797240" y="967565"/>
                      <a:pt x="779750" y="974810"/>
                      <a:pt x="761513" y="974810"/>
                    </a:cubicBezTo>
                    <a:lnTo>
                      <a:pt x="68763" y="974810"/>
                    </a:lnTo>
                    <a:cubicBezTo>
                      <a:pt x="50526" y="974810"/>
                      <a:pt x="33036" y="967565"/>
                      <a:pt x="20140" y="954670"/>
                    </a:cubicBezTo>
                    <a:cubicBezTo>
                      <a:pt x="7245" y="941774"/>
                      <a:pt x="0" y="924284"/>
                      <a:pt x="0" y="906047"/>
                    </a:cubicBezTo>
                    <a:lnTo>
                      <a:pt x="0" y="68763"/>
                    </a:lnTo>
                    <a:cubicBezTo>
                      <a:pt x="0" y="50526"/>
                      <a:pt x="7245" y="33036"/>
                      <a:pt x="20140" y="20140"/>
                    </a:cubicBezTo>
                    <a:cubicBezTo>
                      <a:pt x="33036" y="7245"/>
                      <a:pt x="50526" y="0"/>
                      <a:pt x="68763"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830276" cy="95576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3050427" y="3823277"/>
              <a:ext cx="534217" cy="53421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10" id="10"/>
            <p:cNvSpPr/>
            <p:nvPr/>
          </p:nvSpPr>
          <p:spPr>
            <a:xfrm flipH="false" flipV="false" rot="-5400000">
              <a:off x="3205868" y="4018117"/>
              <a:ext cx="270394" cy="144538"/>
            </a:xfrm>
            <a:custGeom>
              <a:avLst/>
              <a:gdLst/>
              <a:ahLst/>
              <a:cxnLst/>
              <a:rect r="r" b="b" t="t" l="l"/>
              <a:pathLst>
                <a:path h="144538" w="270394">
                  <a:moveTo>
                    <a:pt x="0" y="0"/>
                  </a:moveTo>
                  <a:lnTo>
                    <a:pt x="270394" y="0"/>
                  </a:lnTo>
                  <a:lnTo>
                    <a:pt x="270394" y="144537"/>
                  </a:lnTo>
                  <a:lnTo>
                    <a:pt x="0" y="144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8370" y="959141"/>
              <a:ext cx="2892058" cy="2753244"/>
            </a:xfrm>
            <a:prstGeom prst="rect">
              <a:avLst/>
            </a:prstGeom>
          </p:spPr>
          <p:txBody>
            <a:bodyPr anchor="t" rtlCol="false" tIns="0" lIns="0" bIns="0" rIns="0">
              <a:spAutoFit/>
            </a:bodyPr>
            <a:lstStyle/>
            <a:p>
              <a:pPr algn="l" marL="552936" indent="-276468" lvl="1">
                <a:lnSpc>
                  <a:spcPts val="2663"/>
                </a:lnSpc>
                <a:buFont typeface="Arial"/>
                <a:buChar char="•"/>
              </a:pPr>
              <a:r>
                <a:rPr lang="en-US" sz="2561" spc="-107">
                  <a:solidFill>
                    <a:srgbClr val="FFFFFF"/>
                  </a:solidFill>
                  <a:latin typeface="Arial MT Pro"/>
                  <a:ea typeface="Arial MT Pro"/>
                  <a:cs typeface="Arial MT Pro"/>
                  <a:sym typeface="Arial MT Pro"/>
                </a:rPr>
                <a:t>99</a:t>
              </a:r>
              <a:r>
                <a:rPr lang="en-US" sz="2561" spc="-107">
                  <a:solidFill>
                    <a:srgbClr val="FFFFFF"/>
                  </a:solidFill>
                  <a:latin typeface="Arial MT Pro"/>
                  <a:ea typeface="Arial MT Pro"/>
                  <a:cs typeface="Arial MT Pro"/>
                  <a:sym typeface="Arial MT Pro"/>
                </a:rPr>
                <a:t>.224 dòng</a:t>
              </a:r>
            </a:p>
            <a:p>
              <a:pPr algn="l" marL="552936" indent="-276468" lvl="1">
                <a:lnSpc>
                  <a:spcPts val="2663"/>
                </a:lnSpc>
                <a:buFont typeface="Arial"/>
                <a:buChar char="•"/>
              </a:pPr>
              <a:r>
                <a:rPr lang="en-US" sz="2561" spc="-107">
                  <a:solidFill>
                    <a:srgbClr val="FFFFFF"/>
                  </a:solidFill>
                  <a:latin typeface="Arial MT Pro"/>
                  <a:ea typeface="Arial MT Pro"/>
                  <a:cs typeface="Arial MT Pro"/>
                  <a:sym typeface="Arial MT Pro"/>
                </a:rPr>
                <a:t>7 cột</a:t>
              </a:r>
            </a:p>
            <a:p>
              <a:pPr algn="l" marL="552936" indent="-276468" lvl="1">
                <a:lnSpc>
                  <a:spcPts val="2663"/>
                </a:lnSpc>
                <a:buFont typeface="Arial"/>
                <a:buChar char="•"/>
              </a:pPr>
              <a:r>
                <a:rPr lang="en-US" sz="2561" spc="-107">
                  <a:solidFill>
                    <a:srgbClr val="FFFFFF"/>
                  </a:solidFill>
                  <a:latin typeface="Arial MT Pro"/>
                  <a:ea typeface="Arial MT Pro"/>
                  <a:cs typeface="Arial MT Pro"/>
                  <a:sym typeface="Arial MT Pro"/>
                </a:rPr>
                <a:t>Điểm số đánh giá, tiêu đề, text</a:t>
              </a:r>
            </a:p>
          </p:txBody>
        </p:sp>
      </p:grpSp>
      <p:grpSp>
        <p:nvGrpSpPr>
          <p:cNvPr name="Group 12" id="12"/>
          <p:cNvGrpSpPr/>
          <p:nvPr/>
        </p:nvGrpSpPr>
        <p:grpSpPr>
          <a:xfrm rot="0">
            <a:off x="2041312" y="6501022"/>
            <a:ext cx="2930257" cy="3469215"/>
            <a:chOff x="0" y="0"/>
            <a:chExt cx="3907009" cy="4625620"/>
          </a:xfrm>
        </p:grpSpPr>
        <p:grpSp>
          <p:nvGrpSpPr>
            <p:cNvPr name="Group 13" id="13"/>
            <p:cNvGrpSpPr/>
            <p:nvPr/>
          </p:nvGrpSpPr>
          <p:grpSpPr>
            <a:xfrm rot="0">
              <a:off x="0" y="0"/>
              <a:ext cx="3907009" cy="4625620"/>
              <a:chOff x="0" y="0"/>
              <a:chExt cx="901320" cy="1067098"/>
            </a:xfrm>
          </p:grpSpPr>
          <p:sp>
            <p:nvSpPr>
              <p:cNvPr name="Freeform 14" id="14"/>
              <p:cNvSpPr/>
              <p:nvPr/>
            </p:nvSpPr>
            <p:spPr>
              <a:xfrm flipH="false" flipV="false" rot="0">
                <a:off x="0" y="0"/>
                <a:ext cx="901320" cy="1067098"/>
              </a:xfrm>
              <a:custGeom>
                <a:avLst/>
                <a:gdLst/>
                <a:ahLst/>
                <a:cxnLst/>
                <a:rect r="r" b="b" t="t" l="l"/>
                <a:pathLst>
                  <a:path h="1067098" w="901320">
                    <a:moveTo>
                      <a:pt x="63343" y="0"/>
                    </a:moveTo>
                    <a:lnTo>
                      <a:pt x="837976" y="0"/>
                    </a:lnTo>
                    <a:cubicBezTo>
                      <a:pt x="854776" y="0"/>
                      <a:pt x="870888" y="6674"/>
                      <a:pt x="882767" y="18553"/>
                    </a:cubicBezTo>
                    <a:cubicBezTo>
                      <a:pt x="894646" y="30432"/>
                      <a:pt x="901320" y="46544"/>
                      <a:pt x="901320" y="63343"/>
                    </a:cubicBezTo>
                    <a:lnTo>
                      <a:pt x="901320" y="1003755"/>
                    </a:lnTo>
                    <a:cubicBezTo>
                      <a:pt x="901320" y="1020555"/>
                      <a:pt x="894646" y="1036666"/>
                      <a:pt x="882767" y="1048546"/>
                    </a:cubicBezTo>
                    <a:cubicBezTo>
                      <a:pt x="870888" y="1060425"/>
                      <a:pt x="854776" y="1067098"/>
                      <a:pt x="837976" y="1067098"/>
                    </a:cubicBezTo>
                    <a:lnTo>
                      <a:pt x="63343" y="1067098"/>
                    </a:lnTo>
                    <a:cubicBezTo>
                      <a:pt x="46544" y="1067098"/>
                      <a:pt x="30432" y="1060425"/>
                      <a:pt x="18553" y="1048546"/>
                    </a:cubicBezTo>
                    <a:cubicBezTo>
                      <a:pt x="6674" y="1036666"/>
                      <a:pt x="0" y="1020555"/>
                      <a:pt x="0" y="1003755"/>
                    </a:cubicBezTo>
                    <a:lnTo>
                      <a:pt x="0" y="63343"/>
                    </a:lnTo>
                    <a:cubicBezTo>
                      <a:pt x="0" y="46544"/>
                      <a:pt x="6674" y="30432"/>
                      <a:pt x="18553" y="18553"/>
                    </a:cubicBezTo>
                    <a:cubicBezTo>
                      <a:pt x="30432" y="6674"/>
                      <a:pt x="46544" y="0"/>
                      <a:pt x="63343" y="0"/>
                    </a:cubicBezTo>
                    <a:close/>
                  </a:path>
                </a:pathLst>
              </a:custGeom>
              <a:gradFill rotWithShape="true">
                <a:gsLst>
                  <a:gs pos="0">
                    <a:srgbClr val="0C4A5B">
                      <a:alpha val="100000"/>
                    </a:srgbClr>
                  </a:gs>
                  <a:gs pos="100000">
                    <a:srgbClr val="27DDDF">
                      <a:alpha val="100000"/>
                    </a:srgbClr>
                  </a:gs>
                </a:gsLst>
                <a:lin ang="2700000"/>
              </a:gradFill>
            </p:spPr>
          </p:sp>
          <p:sp>
            <p:nvSpPr>
              <p:cNvPr name="TextBox 15" id="15"/>
              <p:cNvSpPr txBox="true"/>
              <p:nvPr/>
            </p:nvSpPr>
            <p:spPr>
              <a:xfrm>
                <a:off x="0" y="19050"/>
                <a:ext cx="901320" cy="1048048"/>
              </a:xfrm>
              <a:prstGeom prst="rect">
                <a:avLst/>
              </a:prstGeom>
            </p:spPr>
            <p:txBody>
              <a:bodyPr anchor="ctr" rtlCol="false" tIns="50800" lIns="50800" bIns="50800" rIns="50800"/>
              <a:lstStyle/>
              <a:p>
                <a:pPr algn="ctr">
                  <a:lnSpc>
                    <a:spcPts val="1387"/>
                  </a:lnSpc>
                </a:pPr>
              </a:p>
            </p:txBody>
          </p:sp>
        </p:grpSp>
        <p:grpSp>
          <p:nvGrpSpPr>
            <p:cNvPr name="Group 16" id="16"/>
            <p:cNvGrpSpPr/>
            <p:nvPr/>
          </p:nvGrpSpPr>
          <p:grpSpPr>
            <a:xfrm rot="0">
              <a:off x="2838682" y="3835577"/>
              <a:ext cx="482236" cy="48223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18" id="18"/>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19" id="19"/>
            <p:cNvSpPr/>
            <p:nvPr/>
          </p:nvSpPr>
          <p:spPr>
            <a:xfrm flipH="false" flipV="false" rot="-5400000">
              <a:off x="2894403" y="4011458"/>
              <a:ext cx="244084" cy="130474"/>
            </a:xfrm>
            <a:custGeom>
              <a:avLst/>
              <a:gdLst/>
              <a:ahLst/>
              <a:cxnLst/>
              <a:rect r="r" b="b" t="t" l="l"/>
              <a:pathLst>
                <a:path h="130474" w="244084">
                  <a:moveTo>
                    <a:pt x="0" y="0"/>
                  </a:moveTo>
                  <a:lnTo>
                    <a:pt x="244084" y="0"/>
                  </a:lnTo>
                  <a:lnTo>
                    <a:pt x="244084" y="130474"/>
                  </a:lnTo>
                  <a:lnTo>
                    <a:pt x="0" y="1304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0" y="770985"/>
              <a:ext cx="3320918" cy="2585716"/>
            </a:xfrm>
            <a:prstGeom prst="rect">
              <a:avLst/>
            </a:prstGeom>
          </p:spPr>
          <p:txBody>
            <a:bodyPr anchor="t" rtlCol="false" tIns="0" lIns="0" bIns="0" rIns="0">
              <a:spAutoFit/>
            </a:bodyPr>
            <a:lstStyle/>
            <a:p>
              <a:pPr algn="l">
                <a:lnSpc>
                  <a:spcPts val="2488"/>
                </a:lnSpc>
              </a:pPr>
            </a:p>
            <a:p>
              <a:pPr algn="l" marL="516657" indent="-258328" lvl="1">
                <a:lnSpc>
                  <a:spcPts val="2488"/>
                </a:lnSpc>
                <a:buFont typeface="Arial"/>
                <a:buChar char="•"/>
              </a:pPr>
              <a:r>
                <a:rPr lang="en-US" sz="2393" spc="-100">
                  <a:solidFill>
                    <a:srgbClr val="FFFFFF"/>
                  </a:solidFill>
                  <a:latin typeface="Arial MT Pro"/>
                  <a:ea typeface="Arial MT Pro"/>
                  <a:cs typeface="Arial MT Pro"/>
                  <a:sym typeface="Arial MT Pro"/>
                </a:rPr>
                <a:t>112.650 dòng </a:t>
              </a:r>
            </a:p>
            <a:p>
              <a:pPr algn="l" marL="516657" indent="-258328" lvl="1">
                <a:lnSpc>
                  <a:spcPts val="2488"/>
                </a:lnSpc>
                <a:buFont typeface="Arial"/>
                <a:buChar char="•"/>
              </a:pPr>
              <a:r>
                <a:rPr lang="en-US" sz="2393" spc="-100">
                  <a:solidFill>
                    <a:srgbClr val="FFFFFF"/>
                  </a:solidFill>
                  <a:latin typeface="Arial MT Pro"/>
                  <a:ea typeface="Arial MT Pro"/>
                  <a:cs typeface="Arial MT Pro"/>
                  <a:sym typeface="Arial MT Pro"/>
                </a:rPr>
                <a:t>7 cột</a:t>
              </a:r>
            </a:p>
            <a:p>
              <a:pPr algn="l" marL="516657" indent="-258328" lvl="1">
                <a:lnSpc>
                  <a:spcPts val="2488"/>
                </a:lnSpc>
                <a:buFont typeface="Arial"/>
                <a:buChar char="•"/>
              </a:pPr>
              <a:r>
                <a:rPr lang="en-US" sz="2393" spc="-100">
                  <a:solidFill>
                    <a:srgbClr val="FFFFFF"/>
                  </a:solidFill>
                  <a:latin typeface="Arial MT Pro"/>
                  <a:ea typeface="Arial MT Pro"/>
                  <a:cs typeface="Arial MT Pro"/>
                  <a:sym typeface="Arial MT Pro"/>
                </a:rPr>
                <a:t>Mã sản phẩm, giá bán, phí vận chuyển</a:t>
              </a:r>
            </a:p>
          </p:txBody>
        </p:sp>
      </p:grpSp>
      <p:grpSp>
        <p:nvGrpSpPr>
          <p:cNvPr name="Group 21" id="21"/>
          <p:cNvGrpSpPr/>
          <p:nvPr/>
        </p:nvGrpSpPr>
        <p:grpSpPr>
          <a:xfrm rot="0">
            <a:off x="7317110" y="6442526"/>
            <a:ext cx="3177961" cy="3527711"/>
            <a:chOff x="0" y="0"/>
            <a:chExt cx="4237281" cy="4703614"/>
          </a:xfrm>
        </p:grpSpPr>
        <p:grpSp>
          <p:nvGrpSpPr>
            <p:cNvPr name="Group 22" id="22"/>
            <p:cNvGrpSpPr/>
            <p:nvPr/>
          </p:nvGrpSpPr>
          <p:grpSpPr>
            <a:xfrm rot="0">
              <a:off x="0" y="0"/>
              <a:ext cx="4237281" cy="4703614"/>
              <a:chOff x="0" y="0"/>
              <a:chExt cx="875177" cy="971494"/>
            </a:xfrm>
          </p:grpSpPr>
          <p:sp>
            <p:nvSpPr>
              <p:cNvPr name="Freeform 23" id="23"/>
              <p:cNvSpPr/>
              <p:nvPr/>
            </p:nvSpPr>
            <p:spPr>
              <a:xfrm flipH="false" flipV="false" rot="0">
                <a:off x="0" y="0"/>
                <a:ext cx="875177" cy="971494"/>
              </a:xfrm>
              <a:custGeom>
                <a:avLst/>
                <a:gdLst/>
                <a:ahLst/>
                <a:cxnLst/>
                <a:rect r="r" b="b" t="t" l="l"/>
                <a:pathLst>
                  <a:path h="971494" w="875177">
                    <a:moveTo>
                      <a:pt x="65236" y="0"/>
                    </a:moveTo>
                    <a:lnTo>
                      <a:pt x="809941" y="0"/>
                    </a:lnTo>
                    <a:cubicBezTo>
                      <a:pt x="827242" y="0"/>
                      <a:pt x="843835" y="6873"/>
                      <a:pt x="856069" y="19107"/>
                    </a:cubicBezTo>
                    <a:cubicBezTo>
                      <a:pt x="868303" y="31341"/>
                      <a:pt x="875177" y="47934"/>
                      <a:pt x="875177" y="65236"/>
                    </a:cubicBezTo>
                    <a:lnTo>
                      <a:pt x="875177" y="906258"/>
                    </a:lnTo>
                    <a:cubicBezTo>
                      <a:pt x="875177" y="923560"/>
                      <a:pt x="868303" y="940153"/>
                      <a:pt x="856069" y="952387"/>
                    </a:cubicBezTo>
                    <a:cubicBezTo>
                      <a:pt x="843835" y="964621"/>
                      <a:pt x="827242" y="971494"/>
                      <a:pt x="809941" y="971494"/>
                    </a:cubicBezTo>
                    <a:lnTo>
                      <a:pt x="65236" y="971494"/>
                    </a:lnTo>
                    <a:cubicBezTo>
                      <a:pt x="47934" y="971494"/>
                      <a:pt x="31341" y="964621"/>
                      <a:pt x="19107" y="952387"/>
                    </a:cubicBezTo>
                    <a:cubicBezTo>
                      <a:pt x="6873" y="940153"/>
                      <a:pt x="0" y="923560"/>
                      <a:pt x="0" y="906258"/>
                    </a:cubicBezTo>
                    <a:lnTo>
                      <a:pt x="0" y="65236"/>
                    </a:lnTo>
                    <a:cubicBezTo>
                      <a:pt x="0" y="47934"/>
                      <a:pt x="6873" y="31341"/>
                      <a:pt x="19107" y="19107"/>
                    </a:cubicBezTo>
                    <a:cubicBezTo>
                      <a:pt x="31341" y="6873"/>
                      <a:pt x="47934" y="0"/>
                      <a:pt x="65236" y="0"/>
                    </a:cubicBezTo>
                    <a:close/>
                  </a:path>
                </a:pathLst>
              </a:custGeom>
              <a:gradFill rotWithShape="true">
                <a:gsLst>
                  <a:gs pos="0">
                    <a:srgbClr val="0C4A5B">
                      <a:alpha val="100000"/>
                    </a:srgbClr>
                  </a:gs>
                  <a:gs pos="100000">
                    <a:srgbClr val="27DDDF">
                      <a:alpha val="100000"/>
                    </a:srgbClr>
                  </a:gs>
                </a:gsLst>
                <a:lin ang="2700000"/>
              </a:gradFill>
            </p:spPr>
          </p:sp>
          <p:sp>
            <p:nvSpPr>
              <p:cNvPr name="TextBox 24" id="24"/>
              <p:cNvSpPr txBox="true"/>
              <p:nvPr/>
            </p:nvSpPr>
            <p:spPr>
              <a:xfrm>
                <a:off x="0" y="19050"/>
                <a:ext cx="875177" cy="952444"/>
              </a:xfrm>
              <a:prstGeom prst="rect">
                <a:avLst/>
              </a:prstGeom>
            </p:spPr>
            <p:txBody>
              <a:bodyPr anchor="ctr" rtlCol="false" tIns="50800" lIns="50800" bIns="50800" rIns="50800"/>
              <a:lstStyle/>
              <a:p>
                <a:pPr algn="ctr">
                  <a:lnSpc>
                    <a:spcPts val="1387"/>
                  </a:lnSpc>
                </a:pPr>
              </a:p>
            </p:txBody>
          </p:sp>
        </p:grpSp>
        <p:grpSp>
          <p:nvGrpSpPr>
            <p:cNvPr name="Group 25" id="25"/>
            <p:cNvGrpSpPr/>
            <p:nvPr/>
          </p:nvGrpSpPr>
          <p:grpSpPr>
            <a:xfrm rot="0">
              <a:off x="3292862" y="3838763"/>
              <a:ext cx="538624" cy="53862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27" id="27"/>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28" id="28"/>
            <p:cNvSpPr/>
            <p:nvPr/>
          </p:nvSpPr>
          <p:spPr>
            <a:xfrm flipH="false" flipV="false" rot="-5400000">
              <a:off x="3435076" y="4003021"/>
              <a:ext cx="272625" cy="145730"/>
            </a:xfrm>
            <a:custGeom>
              <a:avLst/>
              <a:gdLst/>
              <a:ahLst/>
              <a:cxnLst/>
              <a:rect r="r" b="b" t="t" l="l"/>
              <a:pathLst>
                <a:path h="145730" w="272625">
                  <a:moveTo>
                    <a:pt x="0" y="0"/>
                  </a:moveTo>
                  <a:lnTo>
                    <a:pt x="272625" y="0"/>
                  </a:lnTo>
                  <a:lnTo>
                    <a:pt x="272625" y="145730"/>
                  </a:lnTo>
                  <a:lnTo>
                    <a:pt x="0" y="145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9" id="29"/>
            <p:cNvSpPr txBox="true"/>
            <p:nvPr/>
          </p:nvSpPr>
          <p:spPr>
            <a:xfrm rot="0">
              <a:off x="0" y="734406"/>
              <a:ext cx="3498523" cy="2775879"/>
            </a:xfrm>
            <a:prstGeom prst="rect">
              <a:avLst/>
            </a:prstGeom>
          </p:spPr>
          <p:txBody>
            <a:bodyPr anchor="t" rtlCol="false" tIns="0" lIns="0" bIns="0" rIns="0">
              <a:spAutoFit/>
            </a:bodyPr>
            <a:lstStyle/>
            <a:p>
              <a:pPr algn="l">
                <a:lnSpc>
                  <a:spcPts val="2685"/>
                </a:lnSpc>
              </a:pPr>
            </a:p>
            <a:p>
              <a:pPr algn="l" marL="557498" indent="-278749" lvl="1">
                <a:lnSpc>
                  <a:spcPts val="2685"/>
                </a:lnSpc>
                <a:buFont typeface="Arial"/>
                <a:buChar char="•"/>
              </a:pPr>
              <a:r>
                <a:rPr lang="en-US" sz="2582" spc="-108">
                  <a:solidFill>
                    <a:srgbClr val="FFFFFF"/>
                  </a:solidFill>
                  <a:latin typeface="Arial MT Pro"/>
                  <a:ea typeface="Arial MT Pro"/>
                  <a:cs typeface="Arial MT Pro"/>
                  <a:sym typeface="Arial MT Pro"/>
                </a:rPr>
                <a:t>10</a:t>
              </a:r>
              <a:r>
                <a:rPr lang="en-US" sz="2582" spc="-108">
                  <a:solidFill>
                    <a:srgbClr val="FFFFFF"/>
                  </a:solidFill>
                  <a:latin typeface="Arial MT Pro"/>
                  <a:ea typeface="Arial MT Pro"/>
                  <a:cs typeface="Arial MT Pro"/>
                  <a:sym typeface="Arial MT Pro"/>
                </a:rPr>
                <a:t>3.886 dòng 5 cột</a:t>
              </a:r>
            </a:p>
            <a:p>
              <a:pPr algn="l" marL="557498" indent="-278749" lvl="1">
                <a:lnSpc>
                  <a:spcPts val="2685"/>
                </a:lnSpc>
                <a:buFont typeface="Arial"/>
                <a:buChar char="•"/>
              </a:pPr>
              <a:r>
                <a:rPr lang="en-US" sz="2582" spc="-108">
                  <a:solidFill>
                    <a:srgbClr val="FFFFFF"/>
                  </a:solidFill>
                  <a:latin typeface="Arial MT Pro"/>
                  <a:ea typeface="Arial MT Pro"/>
                  <a:cs typeface="Arial MT Pro"/>
                  <a:sym typeface="Arial MT Pro"/>
                </a:rPr>
                <a:t>Hình thức thanh toán, số kỳ, giá trị</a:t>
              </a:r>
            </a:p>
          </p:txBody>
        </p:sp>
      </p:grpSp>
      <p:grpSp>
        <p:nvGrpSpPr>
          <p:cNvPr name="Group 30" id="30"/>
          <p:cNvGrpSpPr/>
          <p:nvPr/>
        </p:nvGrpSpPr>
        <p:grpSpPr>
          <a:xfrm rot="0">
            <a:off x="12778518" y="2803373"/>
            <a:ext cx="2854891" cy="3277402"/>
            <a:chOff x="0" y="0"/>
            <a:chExt cx="3806521" cy="4369869"/>
          </a:xfrm>
        </p:grpSpPr>
        <p:grpSp>
          <p:nvGrpSpPr>
            <p:cNvPr name="Group 31" id="31"/>
            <p:cNvGrpSpPr/>
            <p:nvPr/>
          </p:nvGrpSpPr>
          <p:grpSpPr>
            <a:xfrm rot="0">
              <a:off x="0" y="0"/>
              <a:ext cx="3806521" cy="4369869"/>
              <a:chOff x="0" y="0"/>
              <a:chExt cx="791630" cy="908788"/>
            </a:xfrm>
          </p:grpSpPr>
          <p:sp>
            <p:nvSpPr>
              <p:cNvPr name="Freeform 32" id="32"/>
              <p:cNvSpPr/>
              <p:nvPr/>
            </p:nvSpPr>
            <p:spPr>
              <a:xfrm flipH="false" flipV="false" rot="0">
                <a:off x="0" y="0"/>
                <a:ext cx="791630" cy="908788"/>
              </a:xfrm>
              <a:custGeom>
                <a:avLst/>
                <a:gdLst/>
                <a:ahLst/>
                <a:cxnLst/>
                <a:rect r="r" b="b" t="t" l="l"/>
                <a:pathLst>
                  <a:path h="908788" w="791630">
                    <a:moveTo>
                      <a:pt x="72120" y="0"/>
                    </a:moveTo>
                    <a:lnTo>
                      <a:pt x="719509" y="0"/>
                    </a:lnTo>
                    <a:cubicBezTo>
                      <a:pt x="759340" y="0"/>
                      <a:pt x="791630" y="32289"/>
                      <a:pt x="791630" y="72120"/>
                    </a:cubicBezTo>
                    <a:lnTo>
                      <a:pt x="791630" y="836667"/>
                    </a:lnTo>
                    <a:cubicBezTo>
                      <a:pt x="791630" y="876498"/>
                      <a:pt x="759340" y="908788"/>
                      <a:pt x="719509" y="908788"/>
                    </a:cubicBezTo>
                    <a:lnTo>
                      <a:pt x="72120" y="908788"/>
                    </a:lnTo>
                    <a:cubicBezTo>
                      <a:pt x="32289" y="908788"/>
                      <a:pt x="0" y="876498"/>
                      <a:pt x="0" y="836667"/>
                    </a:cubicBezTo>
                    <a:lnTo>
                      <a:pt x="0" y="72120"/>
                    </a:lnTo>
                    <a:cubicBezTo>
                      <a:pt x="0" y="32289"/>
                      <a:pt x="32289" y="0"/>
                      <a:pt x="72120" y="0"/>
                    </a:cubicBezTo>
                    <a:close/>
                  </a:path>
                </a:pathLst>
              </a:custGeom>
              <a:gradFill rotWithShape="true">
                <a:gsLst>
                  <a:gs pos="0">
                    <a:srgbClr val="0C4A5B">
                      <a:alpha val="100000"/>
                    </a:srgbClr>
                  </a:gs>
                  <a:gs pos="100000">
                    <a:srgbClr val="27DDDF">
                      <a:alpha val="100000"/>
                    </a:srgbClr>
                  </a:gs>
                </a:gsLst>
                <a:lin ang="2700000"/>
              </a:gradFill>
            </p:spPr>
          </p:sp>
          <p:sp>
            <p:nvSpPr>
              <p:cNvPr name="TextBox 33" id="33"/>
              <p:cNvSpPr txBox="true"/>
              <p:nvPr/>
            </p:nvSpPr>
            <p:spPr>
              <a:xfrm>
                <a:off x="0" y="19050"/>
                <a:ext cx="791630" cy="889738"/>
              </a:xfrm>
              <a:prstGeom prst="rect">
                <a:avLst/>
              </a:prstGeom>
            </p:spPr>
            <p:txBody>
              <a:bodyPr anchor="ctr" rtlCol="false" tIns="50800" lIns="50800" bIns="50800" rIns="50800"/>
              <a:lstStyle/>
              <a:p>
                <a:pPr algn="ctr">
                  <a:lnSpc>
                    <a:spcPts val="1387"/>
                  </a:lnSpc>
                </a:pPr>
              </a:p>
            </p:txBody>
          </p:sp>
        </p:grpSp>
        <p:sp>
          <p:nvSpPr>
            <p:cNvPr name="TextBox 34" id="34"/>
            <p:cNvSpPr txBox="true"/>
            <p:nvPr/>
          </p:nvSpPr>
          <p:spPr>
            <a:xfrm rot="0">
              <a:off x="191491" y="549890"/>
              <a:ext cx="3230282" cy="2772155"/>
            </a:xfrm>
            <a:prstGeom prst="rect">
              <a:avLst/>
            </a:prstGeom>
          </p:spPr>
          <p:txBody>
            <a:bodyPr anchor="t" rtlCol="false" tIns="0" lIns="0" bIns="0" rIns="0">
              <a:spAutoFit/>
            </a:bodyPr>
            <a:lstStyle/>
            <a:p>
              <a:pPr algn="l">
                <a:lnSpc>
                  <a:spcPts val="2667"/>
                </a:lnSpc>
              </a:pPr>
            </a:p>
            <a:p>
              <a:pPr algn="l" marL="553678" indent="-276839" lvl="1">
                <a:lnSpc>
                  <a:spcPts val="2667"/>
                </a:lnSpc>
                <a:buFont typeface="Arial"/>
                <a:buChar char="•"/>
              </a:pPr>
              <a:r>
                <a:rPr lang="en-US" sz="2564" spc="-107">
                  <a:solidFill>
                    <a:srgbClr val="FFFFFF"/>
                  </a:solidFill>
                  <a:latin typeface="Arial MT Pro"/>
                  <a:ea typeface="Arial MT Pro"/>
                  <a:cs typeface="Arial MT Pro"/>
                  <a:sym typeface="Arial MT Pro"/>
                </a:rPr>
                <a:t>32.951 dò</a:t>
              </a:r>
              <a:r>
                <a:rPr lang="en-US" sz="2564" spc="-107">
                  <a:solidFill>
                    <a:srgbClr val="FFFFFF"/>
                  </a:solidFill>
                  <a:latin typeface="Arial MT Pro"/>
                  <a:ea typeface="Arial MT Pro"/>
                  <a:cs typeface="Arial MT Pro"/>
                  <a:sym typeface="Arial MT Pro"/>
                </a:rPr>
                <a:t>ng</a:t>
              </a:r>
            </a:p>
            <a:p>
              <a:pPr algn="l" marL="553678" indent="-276839" lvl="1">
                <a:lnSpc>
                  <a:spcPts val="2667"/>
                </a:lnSpc>
                <a:buFont typeface="Arial"/>
                <a:buChar char="•"/>
              </a:pPr>
              <a:r>
                <a:rPr lang="en-US" sz="2564" spc="-107">
                  <a:solidFill>
                    <a:srgbClr val="FFFFFF"/>
                  </a:solidFill>
                  <a:latin typeface="Arial MT Pro"/>
                  <a:ea typeface="Arial MT Pro"/>
                  <a:cs typeface="Arial MT Pro"/>
                  <a:sym typeface="Arial MT Pro"/>
                </a:rPr>
                <a:t>9 cột</a:t>
              </a:r>
            </a:p>
            <a:p>
              <a:pPr algn="l" marL="553678" indent="-276839" lvl="1">
                <a:lnSpc>
                  <a:spcPts val="2667"/>
                </a:lnSpc>
                <a:buFont typeface="Arial"/>
                <a:buChar char="•"/>
              </a:pPr>
              <a:r>
                <a:rPr lang="en-US" sz="2564" spc="-107">
                  <a:solidFill>
                    <a:srgbClr val="FFFFFF"/>
                  </a:solidFill>
                  <a:latin typeface="Arial MT Pro"/>
                  <a:ea typeface="Arial MT Pro"/>
                  <a:cs typeface="Arial MT Pro"/>
                  <a:sym typeface="Arial MT Pro"/>
                </a:rPr>
                <a:t>Kích thước, khối lượng, số ảnh</a:t>
              </a:r>
            </a:p>
          </p:txBody>
        </p:sp>
        <p:grpSp>
          <p:nvGrpSpPr>
            <p:cNvPr name="Group 35" id="35"/>
            <p:cNvGrpSpPr/>
            <p:nvPr/>
          </p:nvGrpSpPr>
          <p:grpSpPr>
            <a:xfrm rot="0">
              <a:off x="2886839" y="3595518"/>
              <a:ext cx="534934" cy="534934"/>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37" id="37"/>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38" id="38"/>
            <p:cNvSpPr/>
            <p:nvPr/>
          </p:nvSpPr>
          <p:spPr>
            <a:xfrm flipH="false" flipV="false" rot="-5400000">
              <a:off x="3018928" y="3790165"/>
              <a:ext cx="270757" cy="144732"/>
            </a:xfrm>
            <a:custGeom>
              <a:avLst/>
              <a:gdLst/>
              <a:ahLst/>
              <a:cxnLst/>
              <a:rect r="r" b="b" t="t" l="l"/>
              <a:pathLst>
                <a:path h="144732" w="270757">
                  <a:moveTo>
                    <a:pt x="0" y="0"/>
                  </a:moveTo>
                  <a:lnTo>
                    <a:pt x="270757" y="0"/>
                  </a:lnTo>
                  <a:lnTo>
                    <a:pt x="270757" y="144732"/>
                  </a:lnTo>
                  <a:lnTo>
                    <a:pt x="0" y="144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39" id="39"/>
          <p:cNvGrpSpPr/>
          <p:nvPr/>
        </p:nvGrpSpPr>
        <p:grpSpPr>
          <a:xfrm rot="0">
            <a:off x="12654853" y="6320047"/>
            <a:ext cx="2915540" cy="3650190"/>
            <a:chOff x="0" y="0"/>
            <a:chExt cx="3887386" cy="4866920"/>
          </a:xfrm>
        </p:grpSpPr>
        <p:grpSp>
          <p:nvGrpSpPr>
            <p:cNvPr name="Group 40" id="40"/>
            <p:cNvGrpSpPr/>
            <p:nvPr/>
          </p:nvGrpSpPr>
          <p:grpSpPr>
            <a:xfrm rot="0">
              <a:off x="164887" y="0"/>
              <a:ext cx="3722500" cy="4866920"/>
              <a:chOff x="0" y="0"/>
              <a:chExt cx="875177" cy="1144235"/>
            </a:xfrm>
          </p:grpSpPr>
          <p:sp>
            <p:nvSpPr>
              <p:cNvPr name="Freeform 41" id="41"/>
              <p:cNvSpPr/>
              <p:nvPr/>
            </p:nvSpPr>
            <p:spPr>
              <a:xfrm flipH="false" flipV="false" rot="0">
                <a:off x="0" y="0"/>
                <a:ext cx="875177" cy="1144235"/>
              </a:xfrm>
              <a:custGeom>
                <a:avLst/>
                <a:gdLst/>
                <a:ahLst/>
                <a:cxnLst/>
                <a:rect r="r" b="b" t="t" l="l"/>
                <a:pathLst>
                  <a:path h="1144235" w="875177">
                    <a:moveTo>
                      <a:pt x="65236" y="0"/>
                    </a:moveTo>
                    <a:lnTo>
                      <a:pt x="809941" y="0"/>
                    </a:lnTo>
                    <a:cubicBezTo>
                      <a:pt x="827242" y="0"/>
                      <a:pt x="843835" y="6873"/>
                      <a:pt x="856069" y="19107"/>
                    </a:cubicBezTo>
                    <a:cubicBezTo>
                      <a:pt x="868303" y="31341"/>
                      <a:pt x="875177" y="47934"/>
                      <a:pt x="875177" y="65236"/>
                    </a:cubicBezTo>
                    <a:lnTo>
                      <a:pt x="875177" y="1078999"/>
                    </a:lnTo>
                    <a:cubicBezTo>
                      <a:pt x="875177" y="1115028"/>
                      <a:pt x="845970" y="1144235"/>
                      <a:pt x="809941" y="1144235"/>
                    </a:cubicBezTo>
                    <a:lnTo>
                      <a:pt x="65236" y="1144235"/>
                    </a:lnTo>
                    <a:cubicBezTo>
                      <a:pt x="47934" y="1144235"/>
                      <a:pt x="31341" y="1137362"/>
                      <a:pt x="19107" y="1125128"/>
                    </a:cubicBezTo>
                    <a:cubicBezTo>
                      <a:pt x="6873" y="1112894"/>
                      <a:pt x="0" y="1096301"/>
                      <a:pt x="0" y="1078999"/>
                    </a:cubicBezTo>
                    <a:lnTo>
                      <a:pt x="0" y="65236"/>
                    </a:lnTo>
                    <a:cubicBezTo>
                      <a:pt x="0" y="47934"/>
                      <a:pt x="6873" y="31341"/>
                      <a:pt x="19107" y="19107"/>
                    </a:cubicBezTo>
                    <a:cubicBezTo>
                      <a:pt x="31341" y="6873"/>
                      <a:pt x="47934" y="0"/>
                      <a:pt x="65236" y="0"/>
                    </a:cubicBezTo>
                    <a:close/>
                  </a:path>
                </a:pathLst>
              </a:custGeom>
              <a:gradFill rotWithShape="true">
                <a:gsLst>
                  <a:gs pos="0">
                    <a:srgbClr val="0C4A5B">
                      <a:alpha val="100000"/>
                    </a:srgbClr>
                  </a:gs>
                  <a:gs pos="100000">
                    <a:srgbClr val="27DDDF">
                      <a:alpha val="100000"/>
                    </a:srgbClr>
                  </a:gs>
                </a:gsLst>
                <a:lin ang="2700000"/>
              </a:gradFill>
            </p:spPr>
          </p:sp>
          <p:sp>
            <p:nvSpPr>
              <p:cNvPr name="TextBox 42" id="42"/>
              <p:cNvSpPr txBox="true"/>
              <p:nvPr/>
            </p:nvSpPr>
            <p:spPr>
              <a:xfrm>
                <a:off x="0" y="19050"/>
                <a:ext cx="875177" cy="1125185"/>
              </a:xfrm>
              <a:prstGeom prst="rect">
                <a:avLst/>
              </a:prstGeom>
            </p:spPr>
            <p:txBody>
              <a:bodyPr anchor="ctr" rtlCol="false" tIns="50800" lIns="50800" bIns="50800" rIns="50800"/>
              <a:lstStyle/>
              <a:p>
                <a:pPr algn="ctr">
                  <a:lnSpc>
                    <a:spcPts val="1387"/>
                  </a:lnSpc>
                </a:pPr>
              </a:p>
            </p:txBody>
          </p:sp>
        </p:grpSp>
        <p:grpSp>
          <p:nvGrpSpPr>
            <p:cNvPr name="Group 43" id="43"/>
            <p:cNvGrpSpPr/>
            <p:nvPr/>
          </p:nvGrpSpPr>
          <p:grpSpPr>
            <a:xfrm rot="0">
              <a:off x="3057704" y="4107139"/>
              <a:ext cx="473187" cy="473187"/>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45" id="45"/>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46" id="46"/>
            <p:cNvSpPr/>
            <p:nvPr/>
          </p:nvSpPr>
          <p:spPr>
            <a:xfrm flipH="false" flipV="false" rot="-5400000">
              <a:off x="3182640" y="4251441"/>
              <a:ext cx="239504" cy="128026"/>
            </a:xfrm>
            <a:custGeom>
              <a:avLst/>
              <a:gdLst/>
              <a:ahLst/>
              <a:cxnLst/>
              <a:rect r="r" b="b" t="t" l="l"/>
              <a:pathLst>
                <a:path h="128026" w="239504">
                  <a:moveTo>
                    <a:pt x="0" y="0"/>
                  </a:moveTo>
                  <a:lnTo>
                    <a:pt x="239504" y="0"/>
                  </a:lnTo>
                  <a:lnTo>
                    <a:pt x="239504" y="128026"/>
                  </a:lnTo>
                  <a:lnTo>
                    <a:pt x="0" y="1280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7" id="47"/>
            <p:cNvSpPr txBox="true"/>
            <p:nvPr/>
          </p:nvSpPr>
          <p:spPr>
            <a:xfrm rot="0">
              <a:off x="0" y="974384"/>
              <a:ext cx="3057704" cy="2379687"/>
            </a:xfrm>
            <a:prstGeom prst="rect">
              <a:avLst/>
            </a:prstGeom>
          </p:spPr>
          <p:txBody>
            <a:bodyPr anchor="t" rtlCol="false" tIns="0" lIns="0" bIns="0" rIns="0">
              <a:spAutoFit/>
            </a:bodyPr>
            <a:lstStyle/>
            <a:p>
              <a:pPr algn="l">
                <a:lnSpc>
                  <a:spcPts val="2747"/>
                </a:lnSpc>
              </a:pPr>
            </a:p>
            <a:p>
              <a:pPr algn="l" marL="570300" indent="-285150" lvl="1">
                <a:lnSpc>
                  <a:spcPts val="2747"/>
                </a:lnSpc>
                <a:buFont typeface="Arial"/>
                <a:buChar char="•"/>
              </a:pPr>
              <a:r>
                <a:rPr lang="en-US" sz="2641" spc="-110">
                  <a:solidFill>
                    <a:srgbClr val="FFFFFF"/>
                  </a:solidFill>
                  <a:latin typeface="Arial MT Pro"/>
                  <a:ea typeface="Arial MT Pro"/>
                  <a:cs typeface="Arial MT Pro"/>
                  <a:sym typeface="Arial MT Pro"/>
                </a:rPr>
                <a:t>99</a:t>
              </a:r>
              <a:r>
                <a:rPr lang="en-US" sz="2641" spc="-110">
                  <a:solidFill>
                    <a:srgbClr val="FFFFFF"/>
                  </a:solidFill>
                  <a:latin typeface="Arial MT Pro"/>
                  <a:ea typeface="Arial MT Pro"/>
                  <a:cs typeface="Arial MT Pro"/>
                  <a:sym typeface="Arial MT Pro"/>
                </a:rPr>
                <a:t>.441 dòng</a:t>
              </a:r>
            </a:p>
            <a:p>
              <a:pPr algn="l" marL="570300" indent="-285150" lvl="1">
                <a:lnSpc>
                  <a:spcPts val="2747"/>
                </a:lnSpc>
                <a:buFont typeface="Arial"/>
                <a:buChar char="•"/>
              </a:pPr>
              <a:r>
                <a:rPr lang="en-US" sz="2641" spc="-110">
                  <a:solidFill>
                    <a:srgbClr val="FFFFFF"/>
                  </a:solidFill>
                  <a:latin typeface="Arial MT Pro"/>
                  <a:ea typeface="Arial MT Pro"/>
                  <a:cs typeface="Arial MT Pro"/>
                  <a:sym typeface="Arial MT Pro"/>
                </a:rPr>
                <a:t>5 cột, Thông vị trí, ID khách hàng</a:t>
              </a:r>
            </a:p>
          </p:txBody>
        </p:sp>
      </p:grpSp>
      <p:grpSp>
        <p:nvGrpSpPr>
          <p:cNvPr name="Group 48" id="48"/>
          <p:cNvGrpSpPr/>
          <p:nvPr/>
        </p:nvGrpSpPr>
        <p:grpSpPr>
          <a:xfrm rot="0">
            <a:off x="7308271" y="2803373"/>
            <a:ext cx="3224434" cy="3366500"/>
            <a:chOff x="0" y="0"/>
            <a:chExt cx="4299246" cy="4488667"/>
          </a:xfrm>
        </p:grpSpPr>
        <p:grpSp>
          <p:nvGrpSpPr>
            <p:cNvPr name="Group 49" id="49"/>
            <p:cNvGrpSpPr/>
            <p:nvPr/>
          </p:nvGrpSpPr>
          <p:grpSpPr>
            <a:xfrm rot="0">
              <a:off x="0" y="0"/>
              <a:ext cx="4127323" cy="4488667"/>
              <a:chOff x="0" y="0"/>
              <a:chExt cx="722592" cy="785854"/>
            </a:xfrm>
          </p:grpSpPr>
          <p:sp>
            <p:nvSpPr>
              <p:cNvPr name="Freeform 50" id="50"/>
              <p:cNvSpPr/>
              <p:nvPr/>
            </p:nvSpPr>
            <p:spPr>
              <a:xfrm flipH="false" flipV="false" rot="0">
                <a:off x="0" y="0"/>
                <a:ext cx="722592" cy="785854"/>
              </a:xfrm>
              <a:custGeom>
                <a:avLst/>
                <a:gdLst/>
                <a:ahLst/>
                <a:cxnLst/>
                <a:rect r="r" b="b" t="t" l="l"/>
                <a:pathLst>
                  <a:path h="785854" w="722592">
                    <a:moveTo>
                      <a:pt x="79011" y="0"/>
                    </a:moveTo>
                    <a:lnTo>
                      <a:pt x="643581" y="0"/>
                    </a:lnTo>
                    <a:cubicBezTo>
                      <a:pt x="687218" y="0"/>
                      <a:pt x="722592" y="35374"/>
                      <a:pt x="722592" y="79011"/>
                    </a:cubicBezTo>
                    <a:lnTo>
                      <a:pt x="722592" y="706843"/>
                    </a:lnTo>
                    <a:cubicBezTo>
                      <a:pt x="722592" y="750480"/>
                      <a:pt x="687218" y="785854"/>
                      <a:pt x="643581" y="785854"/>
                    </a:cubicBezTo>
                    <a:lnTo>
                      <a:pt x="79011" y="785854"/>
                    </a:lnTo>
                    <a:cubicBezTo>
                      <a:pt x="58056" y="785854"/>
                      <a:pt x="37959" y="777530"/>
                      <a:pt x="23142" y="762713"/>
                    </a:cubicBezTo>
                    <a:cubicBezTo>
                      <a:pt x="8324" y="747895"/>
                      <a:pt x="0" y="727798"/>
                      <a:pt x="0" y="706843"/>
                    </a:cubicBezTo>
                    <a:lnTo>
                      <a:pt x="0" y="79011"/>
                    </a:lnTo>
                    <a:cubicBezTo>
                      <a:pt x="0" y="35374"/>
                      <a:pt x="35374" y="0"/>
                      <a:pt x="79011" y="0"/>
                    </a:cubicBezTo>
                    <a:close/>
                  </a:path>
                </a:pathLst>
              </a:custGeom>
              <a:gradFill rotWithShape="true">
                <a:gsLst>
                  <a:gs pos="0">
                    <a:srgbClr val="0C4A5B">
                      <a:alpha val="100000"/>
                    </a:srgbClr>
                  </a:gs>
                  <a:gs pos="100000">
                    <a:srgbClr val="27DDDF">
                      <a:alpha val="100000"/>
                    </a:srgbClr>
                  </a:gs>
                </a:gsLst>
                <a:lin ang="2700000"/>
              </a:gradFill>
            </p:spPr>
          </p:sp>
          <p:sp>
            <p:nvSpPr>
              <p:cNvPr name="TextBox 51" id="51"/>
              <p:cNvSpPr txBox="true"/>
              <p:nvPr/>
            </p:nvSpPr>
            <p:spPr>
              <a:xfrm>
                <a:off x="0" y="19050"/>
                <a:ext cx="722592" cy="766804"/>
              </a:xfrm>
              <a:prstGeom prst="rect">
                <a:avLst/>
              </a:prstGeom>
            </p:spPr>
            <p:txBody>
              <a:bodyPr anchor="ctr" rtlCol="false" tIns="50800" lIns="50800" bIns="50800" rIns="50800"/>
              <a:lstStyle/>
              <a:p>
                <a:pPr algn="ctr">
                  <a:lnSpc>
                    <a:spcPts val="1387"/>
                  </a:lnSpc>
                </a:pPr>
              </a:p>
            </p:txBody>
          </p:sp>
        </p:grpSp>
        <p:sp>
          <p:nvSpPr>
            <p:cNvPr name="Freeform 52" id="52"/>
            <p:cNvSpPr/>
            <p:nvPr/>
          </p:nvSpPr>
          <p:spPr>
            <a:xfrm flipH="false" flipV="false" rot="-5400000">
              <a:off x="4052472" y="3662154"/>
              <a:ext cx="321624" cy="171923"/>
            </a:xfrm>
            <a:custGeom>
              <a:avLst/>
              <a:gdLst/>
              <a:ahLst/>
              <a:cxnLst/>
              <a:rect r="r" b="b" t="t" l="l"/>
              <a:pathLst>
                <a:path h="171923" w="321624">
                  <a:moveTo>
                    <a:pt x="0" y="0"/>
                  </a:moveTo>
                  <a:lnTo>
                    <a:pt x="321625" y="0"/>
                  </a:lnTo>
                  <a:lnTo>
                    <a:pt x="321625" y="171923"/>
                  </a:lnTo>
                  <a:lnTo>
                    <a:pt x="0" y="1719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3" id="53"/>
            <p:cNvSpPr txBox="true"/>
            <p:nvPr/>
          </p:nvSpPr>
          <p:spPr>
            <a:xfrm rot="0">
              <a:off x="0" y="487107"/>
              <a:ext cx="3373999" cy="2437182"/>
            </a:xfrm>
            <a:prstGeom prst="rect">
              <a:avLst/>
            </a:prstGeom>
          </p:spPr>
          <p:txBody>
            <a:bodyPr anchor="t" rtlCol="false" tIns="0" lIns="0" bIns="0" rIns="0">
              <a:spAutoFit/>
            </a:bodyPr>
            <a:lstStyle/>
            <a:p>
              <a:pPr algn="l">
                <a:lnSpc>
                  <a:spcPts val="2812"/>
                </a:lnSpc>
              </a:pPr>
            </a:p>
            <a:p>
              <a:pPr algn="l" marL="583872" indent="-291936" lvl="1">
                <a:lnSpc>
                  <a:spcPts val="2812"/>
                </a:lnSpc>
                <a:buFont typeface="Arial"/>
                <a:buChar char="•"/>
              </a:pPr>
              <a:r>
                <a:rPr lang="en-US" sz="2704" spc="-113">
                  <a:solidFill>
                    <a:srgbClr val="FFFFFF"/>
                  </a:solidFill>
                  <a:latin typeface="Arial MT Pro"/>
                  <a:ea typeface="Arial MT Pro"/>
                  <a:cs typeface="Arial MT Pro"/>
                  <a:sym typeface="Arial MT Pro"/>
                </a:rPr>
                <a:t>99</a:t>
              </a:r>
              <a:r>
                <a:rPr lang="en-US" sz="2704" spc="-113">
                  <a:solidFill>
                    <a:srgbClr val="FFFFFF"/>
                  </a:solidFill>
                  <a:latin typeface="Arial MT Pro"/>
                  <a:ea typeface="Arial MT Pro"/>
                  <a:cs typeface="Arial MT Pro"/>
                  <a:sym typeface="Arial MT Pro"/>
                </a:rPr>
                <a:t>.441 dòng</a:t>
              </a:r>
            </a:p>
            <a:p>
              <a:pPr algn="l" marL="583872" indent="-291936" lvl="1">
                <a:lnSpc>
                  <a:spcPts val="2812"/>
                </a:lnSpc>
                <a:buFont typeface="Arial"/>
                <a:buChar char="•"/>
              </a:pPr>
              <a:r>
                <a:rPr lang="en-US" sz="2704" spc="-113">
                  <a:solidFill>
                    <a:srgbClr val="FFFFFF"/>
                  </a:solidFill>
                  <a:latin typeface="Arial MT Pro"/>
                  <a:ea typeface="Arial MT Pro"/>
                  <a:cs typeface="Arial MT Pro"/>
                  <a:sym typeface="Arial MT Pro"/>
                </a:rPr>
                <a:t>8 cột</a:t>
              </a:r>
            </a:p>
            <a:p>
              <a:pPr algn="l" marL="583872" indent="-291936" lvl="1">
                <a:lnSpc>
                  <a:spcPts val="2812"/>
                </a:lnSpc>
                <a:buFont typeface="Arial"/>
                <a:buChar char="•"/>
              </a:pPr>
              <a:r>
                <a:rPr lang="en-US" sz="2704" spc="-113">
                  <a:solidFill>
                    <a:srgbClr val="FFFFFF"/>
                  </a:solidFill>
                  <a:latin typeface="Arial MT Pro"/>
                  <a:ea typeface="Arial MT Pro"/>
                  <a:cs typeface="Arial MT Pro"/>
                  <a:sym typeface="Arial MT Pro"/>
                </a:rPr>
                <a:t>Trạng thái, mốc thời gian</a:t>
              </a:r>
            </a:p>
          </p:txBody>
        </p:sp>
      </p:grpSp>
      <p:grpSp>
        <p:nvGrpSpPr>
          <p:cNvPr name="Group 54" id="54"/>
          <p:cNvGrpSpPr/>
          <p:nvPr/>
        </p:nvGrpSpPr>
        <p:grpSpPr>
          <a:xfrm rot="0">
            <a:off x="9726980" y="5461025"/>
            <a:ext cx="502136" cy="502136"/>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C4A5B">
                    <a:alpha val="100000"/>
                  </a:srgbClr>
                </a:gs>
                <a:gs pos="100000">
                  <a:srgbClr val="27DDDF">
                    <a:alpha val="100000"/>
                  </a:srgbClr>
                </a:gs>
              </a:gsLst>
              <a:lin ang="2700000"/>
            </a:gradFill>
            <a:ln w="9525" cap="sq">
              <a:gradFill>
                <a:gsLst>
                  <a:gs pos="0">
                    <a:srgbClr val="0C4A5B">
                      <a:alpha val="100000"/>
                    </a:srgbClr>
                  </a:gs>
                  <a:gs pos="100000">
                    <a:srgbClr val="27DDDF">
                      <a:alpha val="100000"/>
                    </a:srgbClr>
                  </a:gs>
                </a:gsLst>
                <a:lin ang="2700000"/>
              </a:gradFill>
              <a:prstDash val="solid"/>
              <a:miter/>
            </a:ln>
          </p:spPr>
        </p:sp>
        <p:sp>
          <p:nvSpPr>
            <p:cNvPr name="TextBox 56" id="56"/>
            <p:cNvSpPr txBox="true"/>
            <p:nvPr/>
          </p:nvSpPr>
          <p:spPr>
            <a:xfrm>
              <a:off x="76200" y="95250"/>
              <a:ext cx="660400" cy="641350"/>
            </a:xfrm>
            <a:prstGeom prst="rect">
              <a:avLst/>
            </a:prstGeom>
          </p:spPr>
          <p:txBody>
            <a:bodyPr anchor="ctr" rtlCol="false" tIns="60390" lIns="60390" bIns="60390" rIns="60390"/>
            <a:lstStyle/>
            <a:p>
              <a:pPr algn="ctr">
                <a:lnSpc>
                  <a:spcPts val="1387"/>
                </a:lnSpc>
              </a:pPr>
            </a:p>
          </p:txBody>
        </p:sp>
      </p:grpSp>
      <p:sp>
        <p:nvSpPr>
          <p:cNvPr name="TextBox 57" id="57"/>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58" id="58"/>
          <p:cNvSpPr txBox="true"/>
          <p:nvPr/>
        </p:nvSpPr>
        <p:spPr>
          <a:xfrm rot="0">
            <a:off x="1429822" y="1658035"/>
            <a:ext cx="7527888" cy="970248"/>
          </a:xfrm>
          <a:prstGeom prst="rect">
            <a:avLst/>
          </a:prstGeom>
        </p:spPr>
        <p:txBody>
          <a:bodyPr anchor="t" rtlCol="false" tIns="0" lIns="0" bIns="0" rIns="0">
            <a:spAutoFit/>
          </a:bodyPr>
          <a:lstStyle/>
          <a:p>
            <a:pPr algn="l">
              <a:lnSpc>
                <a:spcPts val="3746"/>
              </a:lnSpc>
              <a:spcBef>
                <a:spcPct val="0"/>
              </a:spcBef>
            </a:pPr>
          </a:p>
          <a:p>
            <a:pPr algn="l">
              <a:lnSpc>
                <a:spcPts val="3746"/>
              </a:lnSpc>
              <a:spcBef>
                <a:spcPct val="0"/>
              </a:spcBef>
            </a:pPr>
            <a:r>
              <a:rPr lang="en-US" sz="2676">
                <a:solidFill>
                  <a:srgbClr val="FFFFFF"/>
                </a:solidFill>
                <a:latin typeface="Arial MT Pro"/>
                <a:ea typeface="Arial MT Pro"/>
                <a:cs typeface="Arial MT Pro"/>
                <a:sym typeface="Arial MT Pro"/>
              </a:rPr>
              <a:t>Olist Brazilian E-Commerce - 6 Tập dữ liệu gốc</a:t>
            </a:r>
          </a:p>
        </p:txBody>
      </p:sp>
      <p:sp>
        <p:nvSpPr>
          <p:cNvPr name="TextBox 59" id="59"/>
          <p:cNvSpPr txBox="true"/>
          <p:nvPr/>
        </p:nvSpPr>
        <p:spPr>
          <a:xfrm rot="0">
            <a:off x="2720850" y="2954982"/>
            <a:ext cx="1592335"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Reviews</a:t>
            </a:r>
          </a:p>
        </p:txBody>
      </p:sp>
      <p:sp>
        <p:nvSpPr>
          <p:cNvPr name="TextBox 60" id="60"/>
          <p:cNvSpPr txBox="true"/>
          <p:nvPr/>
        </p:nvSpPr>
        <p:spPr>
          <a:xfrm rot="0">
            <a:off x="2504930" y="6767722"/>
            <a:ext cx="2024176"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Order Items</a:t>
            </a:r>
          </a:p>
        </p:txBody>
      </p:sp>
      <p:sp>
        <p:nvSpPr>
          <p:cNvPr name="TextBox 61" id="61"/>
          <p:cNvSpPr txBox="true"/>
          <p:nvPr/>
        </p:nvSpPr>
        <p:spPr>
          <a:xfrm rot="0">
            <a:off x="13456881" y="2954982"/>
            <a:ext cx="2024176"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Products</a:t>
            </a:r>
          </a:p>
        </p:txBody>
      </p:sp>
      <p:sp>
        <p:nvSpPr>
          <p:cNvPr name="TextBox 62" id="62"/>
          <p:cNvSpPr txBox="true"/>
          <p:nvPr/>
        </p:nvSpPr>
        <p:spPr>
          <a:xfrm rot="0">
            <a:off x="7953871" y="6690283"/>
            <a:ext cx="2024176"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Payments</a:t>
            </a:r>
          </a:p>
        </p:txBody>
      </p:sp>
      <p:sp>
        <p:nvSpPr>
          <p:cNvPr name="TextBox 63" id="63"/>
          <p:cNvSpPr txBox="true"/>
          <p:nvPr/>
        </p:nvSpPr>
        <p:spPr>
          <a:xfrm rot="0">
            <a:off x="1028700" y="1334539"/>
            <a:ext cx="6925171" cy="713668"/>
          </a:xfrm>
          <a:prstGeom prst="rect">
            <a:avLst/>
          </a:prstGeom>
        </p:spPr>
        <p:txBody>
          <a:bodyPr anchor="t" rtlCol="false" tIns="0" lIns="0" bIns="0" rIns="0">
            <a:spAutoFit/>
          </a:bodyPr>
          <a:lstStyle/>
          <a:p>
            <a:pPr algn="l" marL="815637" indent="-407819" lvl="1">
              <a:lnSpc>
                <a:spcPts val="5288"/>
              </a:lnSpc>
              <a:buAutoNum type="arabicPeriod" startAt="1"/>
            </a:pPr>
            <a:r>
              <a:rPr lang="en-US" b="true" sz="3777">
                <a:solidFill>
                  <a:srgbClr val="FFFFFF"/>
                </a:solidFill>
                <a:latin typeface="Arial MT Pro Bold"/>
                <a:ea typeface="Arial MT Pro Bold"/>
                <a:cs typeface="Arial MT Pro Bold"/>
                <a:sym typeface="Arial MT Pro Bold"/>
              </a:rPr>
              <a:t>Khám phá cấu trúc dữ liệu</a:t>
            </a:r>
          </a:p>
        </p:txBody>
      </p:sp>
      <p:sp>
        <p:nvSpPr>
          <p:cNvPr name="TextBox 64" id="64"/>
          <p:cNvSpPr txBox="true"/>
          <p:nvPr/>
        </p:nvSpPr>
        <p:spPr>
          <a:xfrm rot="0">
            <a:off x="13193875" y="6564077"/>
            <a:ext cx="2024176"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Customers</a:t>
            </a:r>
          </a:p>
        </p:txBody>
      </p:sp>
      <p:sp>
        <p:nvSpPr>
          <p:cNvPr name="TextBox 65" id="65"/>
          <p:cNvSpPr txBox="true"/>
          <p:nvPr/>
        </p:nvSpPr>
        <p:spPr>
          <a:xfrm rot="0">
            <a:off x="7953871" y="2954982"/>
            <a:ext cx="2024176" cy="426339"/>
          </a:xfrm>
          <a:prstGeom prst="rect">
            <a:avLst/>
          </a:prstGeom>
        </p:spPr>
        <p:txBody>
          <a:bodyPr anchor="t" rtlCol="false" tIns="0" lIns="0" bIns="0" rIns="0">
            <a:spAutoFit/>
          </a:bodyPr>
          <a:lstStyle/>
          <a:p>
            <a:pPr algn="l">
              <a:lnSpc>
                <a:spcPts val="2808"/>
              </a:lnSpc>
            </a:pPr>
            <a:r>
              <a:rPr lang="en-US" sz="2700" spc="-113" b="true">
                <a:solidFill>
                  <a:srgbClr val="FFFFFF"/>
                </a:solidFill>
                <a:latin typeface="Arial MT Pro Bold"/>
                <a:ea typeface="Arial MT Pro Bold"/>
                <a:cs typeface="Arial MT Pro Bold"/>
                <a:sym typeface="Arial MT Pro Bold"/>
              </a:rPr>
              <a:t>Orders</a:t>
            </a:r>
          </a:p>
        </p:txBody>
      </p:sp>
      <p:sp>
        <p:nvSpPr>
          <p:cNvPr name="Freeform 66" id="66"/>
          <p:cNvSpPr/>
          <p:nvPr/>
        </p:nvSpPr>
        <p:spPr>
          <a:xfrm flipH="false" flipV="false" rot="-5400000">
            <a:off x="9928291" y="5654951"/>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4" id="4"/>
          <p:cNvSpPr txBox="true"/>
          <p:nvPr/>
        </p:nvSpPr>
        <p:spPr>
          <a:xfrm rot="0">
            <a:off x="5875455" y="874373"/>
            <a:ext cx="6260505" cy="1465458"/>
          </a:xfrm>
          <a:prstGeom prst="rect">
            <a:avLst/>
          </a:prstGeom>
        </p:spPr>
        <p:txBody>
          <a:bodyPr anchor="t" rtlCol="false" tIns="0" lIns="0" bIns="0" rIns="0">
            <a:spAutoFit/>
          </a:bodyPr>
          <a:lstStyle/>
          <a:p>
            <a:pPr algn="ctr">
              <a:lnSpc>
                <a:spcPts val="3751"/>
              </a:lnSpc>
              <a:spcBef>
                <a:spcPct val="0"/>
              </a:spcBef>
            </a:pPr>
          </a:p>
          <a:p>
            <a:pPr algn="ctr">
              <a:lnSpc>
                <a:spcPts val="3751"/>
              </a:lnSpc>
              <a:spcBef>
                <a:spcPct val="0"/>
              </a:spcBef>
            </a:pPr>
            <a:r>
              <a:rPr lang="en-US" b="true" sz="2679">
                <a:solidFill>
                  <a:srgbClr val="FFFFFF"/>
                </a:solidFill>
                <a:latin typeface="Arial MT Pro Bold"/>
                <a:ea typeface="Arial MT Pro Bold"/>
                <a:cs typeface="Arial MT Pro Bold"/>
                <a:sym typeface="Arial MT Pro Bold"/>
              </a:rPr>
              <a:t>3.Đánh giá chất lượng dữ liệu đầu vào</a:t>
            </a:r>
          </a:p>
          <a:p>
            <a:pPr algn="ctr">
              <a:lnSpc>
                <a:spcPts val="3751"/>
              </a:lnSpc>
              <a:spcBef>
                <a:spcPct val="0"/>
              </a:spcBef>
            </a:pPr>
            <a:r>
              <a:rPr lang="en-US" b="true" sz="2679">
                <a:solidFill>
                  <a:srgbClr val="FFFFFF"/>
                </a:solidFill>
                <a:latin typeface="Arial MT Pro Bold"/>
                <a:ea typeface="Arial MT Pro Bold"/>
                <a:cs typeface="Arial MT Pro Bold"/>
                <a:sym typeface="Arial MT Pro Bold"/>
              </a:rPr>
              <a:t>Data Quality Assessment</a:t>
            </a:r>
          </a:p>
        </p:txBody>
      </p:sp>
      <p:sp>
        <p:nvSpPr>
          <p:cNvPr name="TextBox 5" id="5"/>
          <p:cNvSpPr txBox="true"/>
          <p:nvPr/>
        </p:nvSpPr>
        <p:spPr>
          <a:xfrm rot="0">
            <a:off x="2288045" y="3497922"/>
            <a:ext cx="5600601" cy="496538"/>
          </a:xfrm>
          <a:prstGeom prst="rect">
            <a:avLst/>
          </a:prstGeom>
        </p:spPr>
        <p:txBody>
          <a:bodyPr anchor="t" rtlCol="false" tIns="0" lIns="0" bIns="0" rIns="0">
            <a:spAutoFit/>
          </a:bodyPr>
          <a:lstStyle/>
          <a:p>
            <a:pPr algn="ctr">
              <a:lnSpc>
                <a:spcPts val="3606"/>
              </a:lnSpc>
              <a:spcBef>
                <a:spcPct val="0"/>
              </a:spcBef>
            </a:pPr>
            <a:r>
              <a:rPr lang="en-US" sz="2576">
                <a:solidFill>
                  <a:srgbClr val="FFFFFF"/>
                </a:solidFill>
                <a:latin typeface="Arial MT Pro"/>
                <a:ea typeface="Arial MT Pro"/>
                <a:cs typeface="Arial MT Pro"/>
                <a:sym typeface="Arial MT Pro"/>
              </a:rPr>
              <a:t>2. Giá trị khuyết thiếu (Missing Values)</a:t>
            </a:r>
          </a:p>
        </p:txBody>
      </p:sp>
      <p:grpSp>
        <p:nvGrpSpPr>
          <p:cNvPr name="Group 6" id="6"/>
          <p:cNvGrpSpPr/>
          <p:nvPr/>
        </p:nvGrpSpPr>
        <p:grpSpPr>
          <a:xfrm rot="0">
            <a:off x="3912387" y="4499142"/>
            <a:ext cx="9713212" cy="1545098"/>
            <a:chOff x="0" y="0"/>
            <a:chExt cx="2558212" cy="406939"/>
          </a:xfrm>
        </p:grpSpPr>
        <p:sp>
          <p:nvSpPr>
            <p:cNvPr name="Freeform 7" id="7"/>
            <p:cNvSpPr/>
            <p:nvPr/>
          </p:nvSpPr>
          <p:spPr>
            <a:xfrm flipH="false" flipV="false" rot="0">
              <a:off x="0" y="0"/>
              <a:ext cx="2558212" cy="406940"/>
            </a:xfrm>
            <a:custGeom>
              <a:avLst/>
              <a:gdLst/>
              <a:ahLst/>
              <a:cxnLst/>
              <a:rect r="r" b="b" t="t" l="l"/>
              <a:pathLst>
                <a:path h="406940" w="2558212">
                  <a:moveTo>
                    <a:pt x="22317" y="0"/>
                  </a:moveTo>
                  <a:lnTo>
                    <a:pt x="2535895" y="0"/>
                  </a:lnTo>
                  <a:cubicBezTo>
                    <a:pt x="2548220" y="0"/>
                    <a:pt x="2558212" y="9992"/>
                    <a:pt x="2558212" y="22317"/>
                  </a:cubicBezTo>
                  <a:lnTo>
                    <a:pt x="2558212" y="384622"/>
                  </a:lnTo>
                  <a:cubicBezTo>
                    <a:pt x="2558212" y="396948"/>
                    <a:pt x="2548220" y="406940"/>
                    <a:pt x="2535895" y="406940"/>
                  </a:cubicBezTo>
                  <a:lnTo>
                    <a:pt x="22317" y="406940"/>
                  </a:lnTo>
                  <a:cubicBezTo>
                    <a:pt x="9992" y="406940"/>
                    <a:pt x="0" y="396948"/>
                    <a:pt x="0" y="384622"/>
                  </a:cubicBezTo>
                  <a:lnTo>
                    <a:pt x="0" y="22317"/>
                  </a:lnTo>
                  <a:cubicBezTo>
                    <a:pt x="0" y="9992"/>
                    <a:pt x="9992" y="0"/>
                    <a:pt x="22317" y="0"/>
                  </a:cubicBezTo>
                  <a:close/>
                </a:path>
              </a:pathLst>
            </a:custGeom>
            <a:gradFill rotWithShape="true">
              <a:gsLst>
                <a:gs pos="0">
                  <a:srgbClr val="0C4A5B">
                    <a:alpha val="100000"/>
                  </a:srgbClr>
                </a:gs>
                <a:gs pos="100000">
                  <a:srgbClr val="27DDDF">
                    <a:alpha val="100000"/>
                  </a:srgbClr>
                </a:gs>
              </a:gsLst>
              <a:lin ang="2700000"/>
            </a:gradFill>
          </p:spPr>
        </p:sp>
        <p:sp>
          <p:nvSpPr>
            <p:cNvPr name="TextBox 8" id="8"/>
            <p:cNvSpPr txBox="true"/>
            <p:nvPr/>
          </p:nvSpPr>
          <p:spPr>
            <a:xfrm>
              <a:off x="0" y="19050"/>
              <a:ext cx="2558212" cy="387889"/>
            </a:xfrm>
            <a:prstGeom prst="rect">
              <a:avLst/>
            </a:prstGeom>
          </p:spPr>
          <p:txBody>
            <a:bodyPr anchor="ctr" rtlCol="false" tIns="50800" lIns="50800" bIns="50800" rIns="50800"/>
            <a:lstStyle/>
            <a:p>
              <a:pPr algn="ctr">
                <a:lnSpc>
                  <a:spcPts val="1387"/>
                </a:lnSpc>
              </a:pPr>
            </a:p>
          </p:txBody>
        </p:sp>
      </p:grpSp>
      <p:sp>
        <p:nvSpPr>
          <p:cNvPr name="TextBox 9" id="9"/>
          <p:cNvSpPr txBox="true"/>
          <p:nvPr/>
        </p:nvSpPr>
        <p:spPr>
          <a:xfrm rot="0">
            <a:off x="3912387" y="4549966"/>
            <a:ext cx="9713212" cy="1397602"/>
          </a:xfrm>
          <a:prstGeom prst="rect">
            <a:avLst/>
          </a:prstGeom>
        </p:spPr>
        <p:txBody>
          <a:bodyPr anchor="t" rtlCol="false" tIns="0" lIns="0" bIns="0" rIns="0">
            <a:spAutoFit/>
          </a:bodyPr>
          <a:lstStyle/>
          <a:p>
            <a:pPr algn="ctr">
              <a:lnSpc>
                <a:spcPts val="2766"/>
              </a:lnSpc>
              <a:spcBef>
                <a:spcPct val="0"/>
              </a:spcBef>
            </a:pPr>
            <a:r>
              <a:rPr lang="en-US" b="true" sz="1976">
                <a:solidFill>
                  <a:srgbClr val="FFFFFF"/>
                </a:solidFill>
                <a:latin typeface="Arial MT Pro Bold"/>
                <a:ea typeface="Arial MT Pro Bold"/>
                <a:cs typeface="Arial MT Pro Bold"/>
                <a:sym typeface="Arial MT Pro Bold"/>
              </a:rPr>
              <a:t>Bảng Orders</a:t>
            </a:r>
          </a:p>
          <a:p>
            <a:pPr algn="ctr">
              <a:lnSpc>
                <a:spcPts val="2766"/>
              </a:lnSpc>
              <a:spcBef>
                <a:spcPct val="0"/>
              </a:spcBef>
            </a:pPr>
            <a:r>
              <a:rPr lang="en-US" sz="1976">
                <a:solidFill>
                  <a:srgbClr val="FFFFFF"/>
                </a:solidFill>
                <a:latin typeface="Arial MT Pro"/>
                <a:ea typeface="Arial MT Pro"/>
                <a:cs typeface="Arial MT Pro"/>
                <a:sym typeface="Arial MT Pro"/>
              </a:rPr>
              <a:t>Thiếu ngày giao hàng thực tế: 2.965 dòng</a:t>
            </a:r>
          </a:p>
          <a:p>
            <a:pPr algn="ctr">
              <a:lnSpc>
                <a:spcPts val="2766"/>
              </a:lnSpc>
              <a:spcBef>
                <a:spcPct val="0"/>
              </a:spcBef>
            </a:pPr>
            <a:r>
              <a:rPr lang="en-US" sz="1976">
                <a:solidFill>
                  <a:srgbClr val="FFFFFF"/>
                </a:solidFill>
                <a:latin typeface="Arial MT Pro"/>
                <a:ea typeface="Arial MT Pro"/>
                <a:cs typeface="Arial MT Pro"/>
                <a:sym typeface="Arial MT Pro"/>
              </a:rPr>
              <a:t>Thiếu ngày chuyển hàng: 1.783 dòng</a:t>
            </a:r>
          </a:p>
          <a:p>
            <a:pPr algn="ctr">
              <a:lnSpc>
                <a:spcPts val="2766"/>
              </a:lnSpc>
              <a:spcBef>
                <a:spcPct val="0"/>
              </a:spcBef>
            </a:pPr>
            <a:r>
              <a:rPr lang="en-US" sz="1976">
                <a:solidFill>
                  <a:srgbClr val="FFFFFF"/>
                </a:solidFill>
                <a:latin typeface="Arial MT Pro"/>
                <a:ea typeface="Arial MT Pro"/>
                <a:cs typeface="Arial MT Pro"/>
                <a:sym typeface="Arial MT Pro"/>
              </a:rPr>
              <a:t>Ảnh hưởng trực tiếp đến việc tính toán đặc trưng thời gian giao hàng.</a:t>
            </a:r>
          </a:p>
        </p:txBody>
      </p:sp>
      <p:grpSp>
        <p:nvGrpSpPr>
          <p:cNvPr name="Group 10" id="10"/>
          <p:cNvGrpSpPr/>
          <p:nvPr/>
        </p:nvGrpSpPr>
        <p:grpSpPr>
          <a:xfrm rot="0">
            <a:off x="3912387" y="6339515"/>
            <a:ext cx="9713212" cy="1545098"/>
            <a:chOff x="0" y="0"/>
            <a:chExt cx="2558212" cy="406939"/>
          </a:xfrm>
        </p:grpSpPr>
        <p:sp>
          <p:nvSpPr>
            <p:cNvPr name="Freeform 11" id="11"/>
            <p:cNvSpPr/>
            <p:nvPr/>
          </p:nvSpPr>
          <p:spPr>
            <a:xfrm flipH="false" flipV="false" rot="0">
              <a:off x="0" y="0"/>
              <a:ext cx="2558212" cy="406940"/>
            </a:xfrm>
            <a:custGeom>
              <a:avLst/>
              <a:gdLst/>
              <a:ahLst/>
              <a:cxnLst/>
              <a:rect r="r" b="b" t="t" l="l"/>
              <a:pathLst>
                <a:path h="406940" w="2558212">
                  <a:moveTo>
                    <a:pt x="22317" y="0"/>
                  </a:moveTo>
                  <a:lnTo>
                    <a:pt x="2535895" y="0"/>
                  </a:lnTo>
                  <a:cubicBezTo>
                    <a:pt x="2548220" y="0"/>
                    <a:pt x="2558212" y="9992"/>
                    <a:pt x="2558212" y="22317"/>
                  </a:cubicBezTo>
                  <a:lnTo>
                    <a:pt x="2558212" y="384622"/>
                  </a:lnTo>
                  <a:cubicBezTo>
                    <a:pt x="2558212" y="396948"/>
                    <a:pt x="2548220" y="406940"/>
                    <a:pt x="2535895" y="406940"/>
                  </a:cubicBezTo>
                  <a:lnTo>
                    <a:pt x="22317" y="406940"/>
                  </a:lnTo>
                  <a:cubicBezTo>
                    <a:pt x="9992" y="406940"/>
                    <a:pt x="0" y="396948"/>
                    <a:pt x="0" y="384622"/>
                  </a:cubicBezTo>
                  <a:lnTo>
                    <a:pt x="0" y="22317"/>
                  </a:lnTo>
                  <a:cubicBezTo>
                    <a:pt x="0" y="9992"/>
                    <a:pt x="9992" y="0"/>
                    <a:pt x="22317" y="0"/>
                  </a:cubicBezTo>
                  <a:close/>
                </a:path>
              </a:pathLst>
            </a:custGeom>
            <a:gradFill rotWithShape="true">
              <a:gsLst>
                <a:gs pos="0">
                  <a:srgbClr val="0C4A5B">
                    <a:alpha val="100000"/>
                  </a:srgbClr>
                </a:gs>
                <a:gs pos="100000">
                  <a:srgbClr val="27DDDF">
                    <a:alpha val="100000"/>
                  </a:srgbClr>
                </a:gs>
              </a:gsLst>
              <a:lin ang="2700000"/>
            </a:gradFill>
          </p:spPr>
        </p:sp>
        <p:sp>
          <p:nvSpPr>
            <p:cNvPr name="TextBox 12" id="12"/>
            <p:cNvSpPr txBox="true"/>
            <p:nvPr/>
          </p:nvSpPr>
          <p:spPr>
            <a:xfrm>
              <a:off x="0" y="19050"/>
              <a:ext cx="2558212" cy="387889"/>
            </a:xfrm>
            <a:prstGeom prst="rect">
              <a:avLst/>
            </a:prstGeom>
          </p:spPr>
          <p:txBody>
            <a:bodyPr anchor="ctr" rtlCol="false" tIns="50800" lIns="50800" bIns="50800" rIns="50800"/>
            <a:lstStyle/>
            <a:p>
              <a:pPr algn="ctr">
                <a:lnSpc>
                  <a:spcPts val="1387"/>
                </a:lnSpc>
              </a:pPr>
            </a:p>
          </p:txBody>
        </p:sp>
      </p:grpSp>
      <p:sp>
        <p:nvSpPr>
          <p:cNvPr name="TextBox 13" id="13"/>
          <p:cNvSpPr txBox="true"/>
          <p:nvPr/>
        </p:nvSpPr>
        <p:spPr>
          <a:xfrm rot="0">
            <a:off x="3912387" y="6640336"/>
            <a:ext cx="9713212" cy="1118838"/>
          </a:xfrm>
          <a:prstGeom prst="rect">
            <a:avLst/>
          </a:prstGeom>
        </p:spPr>
        <p:txBody>
          <a:bodyPr anchor="t" rtlCol="false" tIns="0" lIns="0" bIns="0" rIns="0">
            <a:spAutoFit/>
          </a:bodyPr>
          <a:lstStyle/>
          <a:p>
            <a:pPr algn="ctr">
              <a:lnSpc>
                <a:spcPts val="2906"/>
              </a:lnSpc>
              <a:spcBef>
                <a:spcPct val="0"/>
              </a:spcBef>
            </a:pPr>
            <a:r>
              <a:rPr lang="en-US" b="true" sz="2076">
                <a:solidFill>
                  <a:srgbClr val="FFFFFF"/>
                </a:solidFill>
                <a:latin typeface="Arial MT Pro Bold"/>
                <a:ea typeface="Arial MT Pro Bold"/>
                <a:cs typeface="Arial MT Pro Bold"/>
                <a:sym typeface="Arial MT Pro Bold"/>
              </a:rPr>
              <a:t>Bảng Reviews</a:t>
            </a:r>
          </a:p>
          <a:p>
            <a:pPr algn="ctr">
              <a:lnSpc>
                <a:spcPts val="2906"/>
              </a:lnSpc>
              <a:spcBef>
                <a:spcPct val="0"/>
              </a:spcBef>
            </a:pPr>
            <a:r>
              <a:rPr lang="en-US" sz="2076">
                <a:solidFill>
                  <a:srgbClr val="FFFFFF"/>
                </a:solidFill>
                <a:latin typeface="Arial MT Pro"/>
                <a:ea typeface="Arial MT Pro"/>
                <a:cs typeface="Arial MT Pro"/>
                <a:sym typeface="Arial MT Pro"/>
              </a:rPr>
              <a:t>Tỷ lệ khuyết thiếu văn bản rất cao:</a:t>
            </a:r>
          </a:p>
          <a:p>
            <a:pPr algn="ctr">
              <a:lnSpc>
                <a:spcPts val="2906"/>
              </a:lnSpc>
              <a:spcBef>
                <a:spcPct val="0"/>
              </a:spcBef>
            </a:pPr>
            <a:r>
              <a:rPr lang="en-US" sz="2076">
                <a:solidFill>
                  <a:srgbClr val="FFFFFF"/>
                </a:solidFill>
                <a:latin typeface="Arial MT Pro"/>
                <a:ea typeface="Arial MT Pro"/>
                <a:cs typeface="Arial MT Pro"/>
                <a:sym typeface="Arial MT Pro"/>
              </a:rPr>
              <a:t>Tiêu đề thiếu 88%, Bình luận thiếu 59%.</a:t>
            </a:r>
          </a:p>
        </p:txBody>
      </p:sp>
      <p:grpSp>
        <p:nvGrpSpPr>
          <p:cNvPr name="Group 14" id="14"/>
          <p:cNvGrpSpPr/>
          <p:nvPr/>
        </p:nvGrpSpPr>
        <p:grpSpPr>
          <a:xfrm rot="0">
            <a:off x="3912387" y="8310441"/>
            <a:ext cx="9713212" cy="1545098"/>
            <a:chOff x="0" y="0"/>
            <a:chExt cx="2558212" cy="406939"/>
          </a:xfrm>
        </p:grpSpPr>
        <p:sp>
          <p:nvSpPr>
            <p:cNvPr name="Freeform 15" id="15"/>
            <p:cNvSpPr/>
            <p:nvPr/>
          </p:nvSpPr>
          <p:spPr>
            <a:xfrm flipH="false" flipV="false" rot="0">
              <a:off x="0" y="0"/>
              <a:ext cx="2558212" cy="406940"/>
            </a:xfrm>
            <a:custGeom>
              <a:avLst/>
              <a:gdLst/>
              <a:ahLst/>
              <a:cxnLst/>
              <a:rect r="r" b="b" t="t" l="l"/>
              <a:pathLst>
                <a:path h="406940" w="2558212">
                  <a:moveTo>
                    <a:pt x="22317" y="0"/>
                  </a:moveTo>
                  <a:lnTo>
                    <a:pt x="2535895" y="0"/>
                  </a:lnTo>
                  <a:cubicBezTo>
                    <a:pt x="2548220" y="0"/>
                    <a:pt x="2558212" y="9992"/>
                    <a:pt x="2558212" y="22317"/>
                  </a:cubicBezTo>
                  <a:lnTo>
                    <a:pt x="2558212" y="384622"/>
                  </a:lnTo>
                  <a:cubicBezTo>
                    <a:pt x="2558212" y="396948"/>
                    <a:pt x="2548220" y="406940"/>
                    <a:pt x="2535895" y="406940"/>
                  </a:cubicBezTo>
                  <a:lnTo>
                    <a:pt x="22317" y="406940"/>
                  </a:lnTo>
                  <a:cubicBezTo>
                    <a:pt x="9992" y="406940"/>
                    <a:pt x="0" y="396948"/>
                    <a:pt x="0" y="384622"/>
                  </a:cubicBezTo>
                  <a:lnTo>
                    <a:pt x="0" y="22317"/>
                  </a:lnTo>
                  <a:cubicBezTo>
                    <a:pt x="0" y="9992"/>
                    <a:pt x="9992" y="0"/>
                    <a:pt x="22317" y="0"/>
                  </a:cubicBezTo>
                  <a:close/>
                </a:path>
              </a:pathLst>
            </a:custGeom>
            <a:gradFill rotWithShape="true">
              <a:gsLst>
                <a:gs pos="0">
                  <a:srgbClr val="0C4A5B">
                    <a:alpha val="100000"/>
                  </a:srgbClr>
                </a:gs>
                <a:gs pos="100000">
                  <a:srgbClr val="27DDDF">
                    <a:alpha val="100000"/>
                  </a:srgbClr>
                </a:gs>
              </a:gsLst>
              <a:lin ang="2700000"/>
            </a:gradFill>
          </p:spPr>
        </p:sp>
        <p:sp>
          <p:nvSpPr>
            <p:cNvPr name="TextBox 16" id="16"/>
            <p:cNvSpPr txBox="true"/>
            <p:nvPr/>
          </p:nvSpPr>
          <p:spPr>
            <a:xfrm>
              <a:off x="0" y="19050"/>
              <a:ext cx="2558212" cy="387889"/>
            </a:xfrm>
            <a:prstGeom prst="rect">
              <a:avLst/>
            </a:prstGeom>
          </p:spPr>
          <p:txBody>
            <a:bodyPr anchor="ctr" rtlCol="false" tIns="50800" lIns="50800" bIns="50800" rIns="50800"/>
            <a:lstStyle/>
            <a:p>
              <a:pPr algn="ctr">
                <a:lnSpc>
                  <a:spcPts val="1387"/>
                </a:lnSpc>
              </a:pPr>
            </a:p>
          </p:txBody>
        </p:sp>
      </p:grpSp>
      <p:sp>
        <p:nvSpPr>
          <p:cNvPr name="TextBox 17" id="17"/>
          <p:cNvSpPr txBox="true"/>
          <p:nvPr/>
        </p:nvSpPr>
        <p:spPr>
          <a:xfrm rot="0">
            <a:off x="3912387" y="8402893"/>
            <a:ext cx="9713212" cy="801973"/>
          </a:xfrm>
          <a:prstGeom prst="rect">
            <a:avLst/>
          </a:prstGeom>
        </p:spPr>
        <p:txBody>
          <a:bodyPr anchor="t" rtlCol="false" tIns="0" lIns="0" bIns="0" rIns="0">
            <a:spAutoFit/>
          </a:bodyPr>
          <a:lstStyle/>
          <a:p>
            <a:pPr algn="ctr">
              <a:lnSpc>
                <a:spcPts val="3046"/>
              </a:lnSpc>
              <a:spcBef>
                <a:spcPct val="0"/>
              </a:spcBef>
            </a:pPr>
            <a:r>
              <a:rPr lang="en-US" b="true" sz="2176">
                <a:solidFill>
                  <a:srgbClr val="FFFFFF"/>
                </a:solidFill>
                <a:latin typeface="Arial MT Pro Bold"/>
                <a:ea typeface="Arial MT Pro Bold"/>
                <a:cs typeface="Arial MT Pro Bold"/>
                <a:sym typeface="Arial MT Pro Bold"/>
              </a:rPr>
              <a:t>Bảng Products</a:t>
            </a:r>
          </a:p>
          <a:p>
            <a:pPr algn="ctr">
              <a:lnSpc>
                <a:spcPts val="3046"/>
              </a:lnSpc>
              <a:spcBef>
                <a:spcPct val="0"/>
              </a:spcBef>
            </a:pPr>
            <a:r>
              <a:rPr lang="en-US" sz="2176">
                <a:solidFill>
                  <a:srgbClr val="FFFFFF"/>
                </a:solidFill>
                <a:latin typeface="Arial MT Pro"/>
                <a:ea typeface="Arial MT Pro"/>
                <a:cs typeface="Arial MT Pro"/>
                <a:sym typeface="Arial MT Pro"/>
              </a:rPr>
              <a:t>Thiếu mô tả, danh mục và ảnh đối với 610 mã sản phẩm.</a:t>
            </a:r>
          </a:p>
        </p:txBody>
      </p:sp>
      <p:sp>
        <p:nvSpPr>
          <p:cNvPr name="TextBox 18" id="18"/>
          <p:cNvSpPr txBox="true"/>
          <p:nvPr/>
        </p:nvSpPr>
        <p:spPr>
          <a:xfrm rot="0">
            <a:off x="2288045" y="2356411"/>
            <a:ext cx="14377360" cy="953550"/>
          </a:xfrm>
          <a:prstGeom prst="rect">
            <a:avLst/>
          </a:prstGeom>
        </p:spPr>
        <p:txBody>
          <a:bodyPr anchor="t" rtlCol="false" tIns="0" lIns="0" bIns="0" rIns="0">
            <a:spAutoFit/>
          </a:bodyPr>
          <a:lstStyle/>
          <a:p>
            <a:pPr algn="l">
              <a:lnSpc>
                <a:spcPts val="3617"/>
              </a:lnSpc>
              <a:spcBef>
                <a:spcPct val="0"/>
              </a:spcBef>
            </a:pPr>
            <a:r>
              <a:rPr lang="en-US" sz="2583">
                <a:solidFill>
                  <a:srgbClr val="FFFFFF"/>
                </a:solidFill>
                <a:latin typeface="Arial MT Pro"/>
                <a:ea typeface="Arial MT Pro"/>
                <a:cs typeface="Arial MT Pro"/>
                <a:sym typeface="Arial MT Pro"/>
              </a:rPr>
              <a:t>1. Dữ liệu trùng lặp (Duplicates)</a:t>
            </a:r>
          </a:p>
          <a:p>
            <a:pPr algn="l">
              <a:lnSpc>
                <a:spcPts val="3617"/>
              </a:lnSpc>
              <a:spcBef>
                <a:spcPct val="0"/>
              </a:spcBef>
            </a:pPr>
            <a:r>
              <a:rPr lang="en-US" sz="2583">
                <a:solidFill>
                  <a:srgbClr val="FFFFFF"/>
                </a:solidFill>
                <a:latin typeface="Arial MT Pro"/>
                <a:ea typeface="Arial MT Pro"/>
                <a:cs typeface="Arial MT Pro"/>
                <a:sym typeface="Arial MT Pro"/>
              </a:rPr>
              <a:t>Hoàn hảo: Phát hiện 0 dòng trùng lặp ở cả 6 bảng dữ liệu gốc.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6945" y="3778978"/>
            <a:ext cx="15932355" cy="6296777"/>
          </a:xfrm>
          <a:custGeom>
            <a:avLst/>
            <a:gdLst/>
            <a:ahLst/>
            <a:cxnLst/>
            <a:rect r="r" b="b" t="t" l="l"/>
            <a:pathLst>
              <a:path h="6296777" w="15932355">
                <a:moveTo>
                  <a:pt x="0" y="0"/>
                </a:moveTo>
                <a:lnTo>
                  <a:pt x="15932355" y="0"/>
                </a:lnTo>
                <a:lnTo>
                  <a:pt x="15932355" y="6296777"/>
                </a:lnTo>
                <a:lnTo>
                  <a:pt x="0" y="6296777"/>
                </a:lnTo>
                <a:lnTo>
                  <a:pt x="0" y="0"/>
                </a:lnTo>
                <a:close/>
              </a:path>
            </a:pathLst>
          </a:custGeom>
          <a:blipFill>
            <a:blip r:embed="rId4"/>
            <a:stretch>
              <a:fillRect l="0" t="-65591" r="-26524" b="-232182"/>
            </a:stretch>
          </a:blipFill>
        </p:spPr>
      </p:sp>
      <p:grpSp>
        <p:nvGrpSpPr>
          <p:cNvPr name="Group 4" id="4"/>
          <p:cNvGrpSpPr/>
          <p:nvPr/>
        </p:nvGrpSpPr>
        <p:grpSpPr>
          <a:xfrm rot="0">
            <a:off x="5983948" y="2622709"/>
            <a:ext cx="6007300" cy="844170"/>
            <a:chOff x="0" y="0"/>
            <a:chExt cx="2892032" cy="406400"/>
          </a:xfrm>
        </p:grpSpPr>
        <p:sp>
          <p:nvSpPr>
            <p:cNvPr name="Freeform 5" id="5"/>
            <p:cNvSpPr/>
            <p:nvPr/>
          </p:nvSpPr>
          <p:spPr>
            <a:xfrm flipH="false" flipV="false" rot="0">
              <a:off x="0" y="0"/>
              <a:ext cx="2892032" cy="406400"/>
            </a:xfrm>
            <a:custGeom>
              <a:avLst/>
              <a:gdLst/>
              <a:ahLst/>
              <a:cxnLst/>
              <a:rect r="r" b="b" t="t" l="l"/>
              <a:pathLst>
                <a:path h="406400" w="2892032">
                  <a:moveTo>
                    <a:pt x="2688832" y="0"/>
                  </a:moveTo>
                  <a:cubicBezTo>
                    <a:pt x="2801057" y="0"/>
                    <a:pt x="2892032" y="90976"/>
                    <a:pt x="2892032" y="203200"/>
                  </a:cubicBezTo>
                  <a:cubicBezTo>
                    <a:pt x="2892032" y="315424"/>
                    <a:pt x="2801057" y="406400"/>
                    <a:pt x="2688832"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2892032" cy="444500"/>
            </a:xfrm>
            <a:prstGeom prst="rect">
              <a:avLst/>
            </a:prstGeom>
          </p:spPr>
          <p:txBody>
            <a:bodyPr anchor="ctr" rtlCol="false" tIns="50800" lIns="50800" bIns="50800" rIns="50800"/>
            <a:lstStyle/>
            <a:p>
              <a:pPr algn="ctr">
                <a:lnSpc>
                  <a:spcPts val="2659"/>
                </a:lnSpc>
                <a:spcBef>
                  <a:spcPct val="0"/>
                </a:spcBef>
              </a:pPr>
              <a:r>
                <a:rPr lang="en-US" b="true" sz="1899">
                  <a:solidFill>
                    <a:srgbClr val="FFFFFF"/>
                  </a:solidFill>
                  <a:latin typeface="Canva Sans Medium"/>
                  <a:ea typeface="Canva Sans Medium"/>
                  <a:cs typeface="Canva Sans Medium"/>
                  <a:sym typeface="Canva Sans Medium"/>
                </a:rPr>
                <a:t>Chiến lược: Lấy bảng Reviews làm trọng tâm</a:t>
              </a:r>
            </a:p>
          </p:txBody>
        </p:sp>
      </p:grpSp>
      <p:sp>
        <p:nvSpPr>
          <p:cNvPr name="Freeform 7" id="7"/>
          <p:cNvSpPr/>
          <p:nvPr/>
        </p:nvSpPr>
        <p:spPr>
          <a:xfrm flipH="false" flipV="false" rot="0">
            <a:off x="1795032" y="468267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654193" y="468267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851620" y="468267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8987599" y="6524364"/>
            <a:ext cx="1521013" cy="431415"/>
          </a:xfrm>
          <a:custGeom>
            <a:avLst/>
            <a:gdLst/>
            <a:ahLst/>
            <a:cxnLst/>
            <a:rect r="r" b="b" t="t" l="l"/>
            <a:pathLst>
              <a:path h="431415" w="1521013">
                <a:moveTo>
                  <a:pt x="0" y="0"/>
                </a:moveTo>
                <a:lnTo>
                  <a:pt x="1521012" y="0"/>
                </a:lnTo>
                <a:lnTo>
                  <a:pt x="1521012" y="431415"/>
                </a:lnTo>
                <a:lnTo>
                  <a:pt x="0" y="43141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2" id="12"/>
          <p:cNvSpPr txBox="true"/>
          <p:nvPr/>
        </p:nvSpPr>
        <p:spPr>
          <a:xfrm rot="0">
            <a:off x="5162472" y="786423"/>
            <a:ext cx="7559592" cy="1573459"/>
          </a:xfrm>
          <a:prstGeom prst="rect">
            <a:avLst/>
          </a:prstGeom>
        </p:spPr>
        <p:txBody>
          <a:bodyPr anchor="t" rtlCol="false" tIns="0" lIns="0" bIns="0" rIns="0">
            <a:spAutoFit/>
          </a:bodyPr>
          <a:lstStyle/>
          <a:p>
            <a:pPr algn="ctr">
              <a:lnSpc>
                <a:spcPts val="4098"/>
              </a:lnSpc>
              <a:spcBef>
                <a:spcPct val="0"/>
              </a:spcBef>
            </a:pPr>
          </a:p>
          <a:p>
            <a:pPr algn="ctr">
              <a:lnSpc>
                <a:spcPts val="4098"/>
              </a:lnSpc>
              <a:spcBef>
                <a:spcPct val="0"/>
              </a:spcBef>
            </a:pPr>
            <a:r>
              <a:rPr lang="en-US" b="true" sz="2927">
                <a:solidFill>
                  <a:srgbClr val="FFFFFF"/>
                </a:solidFill>
                <a:latin typeface="Arial MT Pro Bold"/>
                <a:ea typeface="Arial MT Pro Bold"/>
                <a:cs typeface="Arial MT Pro Bold"/>
                <a:sym typeface="Arial MT Pro Bold"/>
              </a:rPr>
              <a:t>4.Khởi tạo bảng dữ liệu cơ sở</a:t>
            </a:r>
          </a:p>
          <a:p>
            <a:pPr algn="ctr">
              <a:lnSpc>
                <a:spcPts val="4098"/>
              </a:lnSpc>
              <a:spcBef>
                <a:spcPct val="0"/>
              </a:spcBef>
            </a:pPr>
            <a:r>
              <a:rPr lang="en-US" b="true" sz="2927">
                <a:solidFill>
                  <a:srgbClr val="FFFFFF"/>
                </a:solidFill>
                <a:latin typeface="Arial MT Pro Bold"/>
                <a:ea typeface="Arial MT Pro Bold"/>
                <a:cs typeface="Arial MT Pro Bold"/>
                <a:sym typeface="Arial MT Pro Bold"/>
              </a:rPr>
              <a:t>Base DataFrame Creation</a:t>
            </a:r>
          </a:p>
        </p:txBody>
      </p:sp>
      <p:sp>
        <p:nvSpPr>
          <p:cNvPr name="TextBox 13" id="13"/>
          <p:cNvSpPr txBox="true"/>
          <p:nvPr/>
        </p:nvSpPr>
        <p:spPr>
          <a:xfrm rot="0">
            <a:off x="1574117" y="6534472"/>
            <a:ext cx="4114800" cy="756888"/>
          </a:xfrm>
          <a:prstGeom prst="rect">
            <a:avLst/>
          </a:prstGeom>
        </p:spPr>
        <p:txBody>
          <a:bodyPr anchor="t" rtlCol="false" tIns="0" lIns="0" bIns="0" rIns="0">
            <a:spAutoFit/>
          </a:bodyPr>
          <a:lstStyle/>
          <a:p>
            <a:pPr algn="ctr">
              <a:lnSpc>
                <a:spcPts val="2906"/>
              </a:lnSpc>
              <a:spcBef>
                <a:spcPct val="0"/>
              </a:spcBef>
            </a:pPr>
            <a:r>
              <a:rPr lang="en-US" sz="2076">
                <a:solidFill>
                  <a:srgbClr val="FFFFFF"/>
                </a:solidFill>
                <a:latin typeface="Arial MT Pro"/>
                <a:ea typeface="Arial MT Pro"/>
                <a:cs typeface="Arial MT Pro"/>
                <a:sym typeface="Arial MT Pro"/>
              </a:rPr>
              <a:t>Reviews</a:t>
            </a:r>
          </a:p>
          <a:p>
            <a:pPr algn="ctr">
              <a:lnSpc>
                <a:spcPts val="2906"/>
              </a:lnSpc>
              <a:spcBef>
                <a:spcPct val="0"/>
              </a:spcBef>
            </a:pPr>
          </a:p>
        </p:txBody>
      </p:sp>
      <p:sp>
        <p:nvSpPr>
          <p:cNvPr name="TextBox 14" id="14"/>
          <p:cNvSpPr txBox="true"/>
          <p:nvPr/>
        </p:nvSpPr>
        <p:spPr>
          <a:xfrm rot="0">
            <a:off x="5029200" y="6715447"/>
            <a:ext cx="4114800" cy="394938"/>
          </a:xfrm>
          <a:prstGeom prst="rect">
            <a:avLst/>
          </a:prstGeom>
        </p:spPr>
        <p:txBody>
          <a:bodyPr anchor="t" rtlCol="false" tIns="0" lIns="0" bIns="0" rIns="0">
            <a:spAutoFit/>
          </a:bodyPr>
          <a:lstStyle/>
          <a:p>
            <a:pPr algn="ctr">
              <a:lnSpc>
                <a:spcPts val="2906"/>
              </a:lnSpc>
              <a:spcBef>
                <a:spcPct val="0"/>
              </a:spcBef>
            </a:pPr>
            <a:r>
              <a:rPr lang="en-US" sz="2076">
                <a:solidFill>
                  <a:srgbClr val="FFFFFF"/>
                </a:solidFill>
                <a:latin typeface="Arial MT Pro"/>
                <a:ea typeface="Arial MT Pro"/>
                <a:cs typeface="Arial MT Pro"/>
                <a:sym typeface="Arial MT Pro"/>
              </a:rPr>
              <a:t>Orders</a:t>
            </a:r>
          </a:p>
        </p:txBody>
      </p:sp>
      <p:sp>
        <p:nvSpPr>
          <p:cNvPr name="TextBox 15" id="15"/>
          <p:cNvSpPr txBox="true"/>
          <p:nvPr/>
        </p:nvSpPr>
        <p:spPr>
          <a:xfrm rot="0">
            <a:off x="10727686" y="6560841"/>
            <a:ext cx="4114800" cy="394938"/>
          </a:xfrm>
          <a:prstGeom prst="rect">
            <a:avLst/>
          </a:prstGeom>
        </p:spPr>
        <p:txBody>
          <a:bodyPr anchor="t" rtlCol="false" tIns="0" lIns="0" bIns="0" rIns="0">
            <a:spAutoFit/>
          </a:bodyPr>
          <a:lstStyle/>
          <a:p>
            <a:pPr algn="ctr">
              <a:lnSpc>
                <a:spcPts val="2906"/>
              </a:lnSpc>
              <a:spcBef>
                <a:spcPct val="0"/>
              </a:spcBef>
            </a:pPr>
            <a:r>
              <a:rPr lang="en-US" sz="2076">
                <a:solidFill>
                  <a:srgbClr val="FFFFFF"/>
                </a:solidFill>
                <a:latin typeface="Arial MT Pro"/>
                <a:ea typeface="Arial MT Pro"/>
                <a:cs typeface="Arial MT Pro"/>
                <a:sym typeface="Arial MT Pro"/>
              </a:rPr>
              <a:t>Customers</a:t>
            </a:r>
          </a:p>
        </p:txBody>
      </p:sp>
      <p:sp>
        <p:nvSpPr>
          <p:cNvPr name="TextBox 16" id="16"/>
          <p:cNvSpPr txBox="true"/>
          <p:nvPr/>
        </p:nvSpPr>
        <p:spPr>
          <a:xfrm rot="0">
            <a:off x="3381747" y="4019862"/>
            <a:ext cx="4114800" cy="302862"/>
          </a:xfrm>
          <a:prstGeom prst="rect">
            <a:avLst/>
          </a:prstGeom>
        </p:spPr>
        <p:txBody>
          <a:bodyPr anchor="t" rtlCol="false" tIns="0" lIns="0" bIns="0" rIns="0">
            <a:spAutoFit/>
          </a:bodyPr>
          <a:lstStyle/>
          <a:p>
            <a:pPr algn="ctr">
              <a:lnSpc>
                <a:spcPts val="2206"/>
              </a:lnSpc>
              <a:spcBef>
                <a:spcPct val="0"/>
              </a:spcBef>
            </a:pPr>
            <a:r>
              <a:rPr lang="en-US" sz="1576">
                <a:solidFill>
                  <a:srgbClr val="FFFFFF"/>
                </a:solidFill>
                <a:latin typeface="Arial MT Pro"/>
                <a:ea typeface="Arial MT Pro"/>
                <a:cs typeface="Arial MT Pro"/>
                <a:sym typeface="Arial MT Pro"/>
              </a:rPr>
              <a:t>Inner Join</a:t>
            </a:r>
          </a:p>
        </p:txBody>
      </p:sp>
      <p:sp>
        <p:nvSpPr>
          <p:cNvPr name="TextBox 17" id="17"/>
          <p:cNvSpPr txBox="true"/>
          <p:nvPr/>
        </p:nvSpPr>
        <p:spPr>
          <a:xfrm rot="0">
            <a:off x="12722064" y="4137956"/>
            <a:ext cx="750987" cy="302862"/>
          </a:xfrm>
          <a:prstGeom prst="rect">
            <a:avLst/>
          </a:prstGeom>
        </p:spPr>
        <p:txBody>
          <a:bodyPr anchor="t" rtlCol="false" tIns="0" lIns="0" bIns="0" rIns="0">
            <a:spAutoFit/>
          </a:bodyPr>
          <a:lstStyle/>
          <a:p>
            <a:pPr algn="ctr">
              <a:lnSpc>
                <a:spcPts val="2206"/>
              </a:lnSpc>
              <a:spcBef>
                <a:spcPct val="0"/>
              </a:spcBef>
            </a:pPr>
            <a:r>
              <a:rPr lang="en-US" sz="1576">
                <a:solidFill>
                  <a:srgbClr val="FFFFFF"/>
                </a:solidFill>
                <a:latin typeface="Arial MT Pro"/>
                <a:ea typeface="Arial MT Pro"/>
                <a:cs typeface="Arial MT Pro"/>
                <a:sym typeface="Arial MT Pro"/>
              </a:rPr>
              <a:t>Left Join</a:t>
            </a:r>
          </a:p>
        </p:txBody>
      </p:sp>
      <p:sp>
        <p:nvSpPr>
          <p:cNvPr name="TextBox 18" id="18"/>
          <p:cNvSpPr txBox="true"/>
          <p:nvPr/>
        </p:nvSpPr>
        <p:spPr>
          <a:xfrm rot="0">
            <a:off x="3381340" y="8959396"/>
            <a:ext cx="10524649" cy="918178"/>
          </a:xfrm>
          <a:prstGeom prst="rect">
            <a:avLst/>
          </a:prstGeom>
        </p:spPr>
        <p:txBody>
          <a:bodyPr anchor="t" rtlCol="false" tIns="0" lIns="0" bIns="0" rIns="0">
            <a:spAutoFit/>
          </a:bodyPr>
          <a:lstStyle/>
          <a:p>
            <a:pPr algn="ctr">
              <a:lnSpc>
                <a:spcPts val="3466"/>
              </a:lnSpc>
              <a:spcBef>
                <a:spcPct val="0"/>
              </a:spcBef>
            </a:pPr>
            <a:r>
              <a:rPr lang="en-US" sz="2476">
                <a:solidFill>
                  <a:srgbClr val="FFFFFF"/>
                </a:solidFill>
                <a:latin typeface="Arial MT Pro"/>
                <a:ea typeface="Arial MT Pro"/>
                <a:cs typeface="Arial MT Pro"/>
                <a:sym typeface="Arial MT Pro"/>
              </a:rPr>
              <a:t>Kết quả khởi tạo:</a:t>
            </a:r>
          </a:p>
          <a:p>
            <a:pPr algn="ctr">
              <a:lnSpc>
                <a:spcPts val="3466"/>
              </a:lnSpc>
              <a:spcBef>
                <a:spcPct val="0"/>
              </a:spcBef>
            </a:pPr>
            <a:r>
              <a:rPr lang="en-US" sz="2476">
                <a:solidFill>
                  <a:srgbClr val="FFFFFF"/>
                </a:solidFill>
                <a:latin typeface="Arial MT Pro"/>
                <a:ea typeface="Arial MT Pro"/>
                <a:cs typeface="Arial MT Pro"/>
                <a:sym typeface="Arial MT Pro"/>
              </a:rPr>
              <a:t>Thu được Base DataFrame ban đầu gồm 98.673 dòng và 18 cột thuộc tính.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4" id="4"/>
          <p:cNvSpPr txBox="true"/>
          <p:nvPr/>
        </p:nvSpPr>
        <p:spPr>
          <a:xfrm rot="0">
            <a:off x="4686993" y="712449"/>
            <a:ext cx="9172774" cy="1792451"/>
          </a:xfrm>
          <a:prstGeom prst="rect">
            <a:avLst/>
          </a:prstGeom>
        </p:spPr>
        <p:txBody>
          <a:bodyPr anchor="t" rtlCol="false" tIns="0" lIns="0" bIns="0" rIns="0">
            <a:spAutoFit/>
          </a:bodyPr>
          <a:lstStyle/>
          <a:p>
            <a:pPr algn="l" marL="713782" indent="-356891" lvl="1">
              <a:lnSpc>
                <a:spcPts val="4628"/>
              </a:lnSpc>
              <a:spcBef>
                <a:spcPct val="0"/>
              </a:spcBef>
              <a:buAutoNum type="arabicPeriod" startAt="1"/>
            </a:pPr>
            <a:r>
              <a:rPr lang="en-US" b="true" sz="3306" spc="-82">
                <a:solidFill>
                  <a:srgbClr val="FFFFFF"/>
                </a:solidFill>
                <a:latin typeface="Arial MT Pro Bold"/>
                <a:ea typeface="Arial MT Pro Bold"/>
                <a:cs typeface="Arial MT Pro Bold"/>
                <a:sym typeface="Arial MT Pro Bold"/>
              </a:rPr>
              <a:t>Trích xuất đặc trưng tài chính &amp; Vận chuyển</a:t>
            </a:r>
          </a:p>
          <a:p>
            <a:pPr algn="ctr">
              <a:lnSpc>
                <a:spcPts val="4628"/>
              </a:lnSpc>
              <a:spcBef>
                <a:spcPct val="0"/>
              </a:spcBef>
            </a:pPr>
            <a:r>
              <a:rPr lang="en-US" b="true" sz="3306">
                <a:solidFill>
                  <a:srgbClr val="FFFFFF"/>
                </a:solidFill>
                <a:latin typeface="Arial MT Pro Bold"/>
                <a:ea typeface="Arial MT Pro Bold"/>
                <a:cs typeface="Arial MT Pro Bold"/>
                <a:sym typeface="Arial MT Pro Bold"/>
              </a:rPr>
              <a:t>Item &amp; Payment Aggregations</a:t>
            </a:r>
          </a:p>
          <a:p>
            <a:pPr algn="ctr">
              <a:lnSpc>
                <a:spcPts val="4628"/>
              </a:lnSpc>
              <a:spcBef>
                <a:spcPct val="0"/>
              </a:spcBef>
            </a:pPr>
          </a:p>
        </p:txBody>
      </p:sp>
      <p:grpSp>
        <p:nvGrpSpPr>
          <p:cNvPr name="Group 5" id="5"/>
          <p:cNvGrpSpPr/>
          <p:nvPr/>
        </p:nvGrpSpPr>
        <p:grpSpPr>
          <a:xfrm rot="0">
            <a:off x="3097111" y="4017548"/>
            <a:ext cx="4958839" cy="4502188"/>
            <a:chOff x="0" y="0"/>
            <a:chExt cx="1306032" cy="1185761"/>
          </a:xfrm>
        </p:grpSpPr>
        <p:sp>
          <p:nvSpPr>
            <p:cNvPr name="Freeform 6" id="6"/>
            <p:cNvSpPr/>
            <p:nvPr/>
          </p:nvSpPr>
          <p:spPr>
            <a:xfrm flipH="false" flipV="false" rot="0">
              <a:off x="0" y="0"/>
              <a:ext cx="1306032" cy="1185761"/>
            </a:xfrm>
            <a:custGeom>
              <a:avLst/>
              <a:gdLst/>
              <a:ahLst/>
              <a:cxnLst/>
              <a:rect r="r" b="b" t="t" l="l"/>
              <a:pathLst>
                <a:path h="1185761" w="1306032">
                  <a:moveTo>
                    <a:pt x="43715" y="0"/>
                  </a:moveTo>
                  <a:lnTo>
                    <a:pt x="1262317" y="0"/>
                  </a:lnTo>
                  <a:cubicBezTo>
                    <a:pt x="1286460" y="0"/>
                    <a:pt x="1306032" y="19572"/>
                    <a:pt x="1306032" y="43715"/>
                  </a:cubicBezTo>
                  <a:lnTo>
                    <a:pt x="1306032" y="1142047"/>
                  </a:lnTo>
                  <a:cubicBezTo>
                    <a:pt x="1306032" y="1153641"/>
                    <a:pt x="1301426" y="1164760"/>
                    <a:pt x="1293228" y="1172958"/>
                  </a:cubicBezTo>
                  <a:cubicBezTo>
                    <a:pt x="1285030" y="1181156"/>
                    <a:pt x="1273911" y="1185761"/>
                    <a:pt x="1262317" y="1185761"/>
                  </a:cubicBezTo>
                  <a:lnTo>
                    <a:pt x="43715" y="1185761"/>
                  </a:lnTo>
                  <a:cubicBezTo>
                    <a:pt x="32121" y="1185761"/>
                    <a:pt x="21002" y="1181156"/>
                    <a:pt x="12804" y="1172958"/>
                  </a:cubicBezTo>
                  <a:cubicBezTo>
                    <a:pt x="4606" y="1164760"/>
                    <a:pt x="0" y="1153641"/>
                    <a:pt x="0" y="1142047"/>
                  </a:cubicBezTo>
                  <a:lnTo>
                    <a:pt x="0" y="43715"/>
                  </a:lnTo>
                  <a:cubicBezTo>
                    <a:pt x="0" y="32121"/>
                    <a:pt x="4606" y="21002"/>
                    <a:pt x="12804" y="12804"/>
                  </a:cubicBezTo>
                  <a:cubicBezTo>
                    <a:pt x="21002" y="4606"/>
                    <a:pt x="32121" y="0"/>
                    <a:pt x="43715"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1306032" cy="1166711"/>
            </a:xfrm>
            <a:prstGeom prst="rect">
              <a:avLst/>
            </a:prstGeom>
          </p:spPr>
          <p:txBody>
            <a:bodyPr anchor="ctr" rtlCol="false" tIns="50800" lIns="50800" bIns="50800" rIns="50800"/>
            <a:lstStyle/>
            <a:p>
              <a:pPr algn="ctr">
                <a:lnSpc>
                  <a:spcPts val="1387"/>
                </a:lnSpc>
              </a:pPr>
            </a:p>
          </p:txBody>
        </p:sp>
      </p:grpSp>
      <p:sp>
        <p:nvSpPr>
          <p:cNvPr name="TextBox 8" id="8"/>
          <p:cNvSpPr txBox="true"/>
          <p:nvPr/>
        </p:nvSpPr>
        <p:spPr>
          <a:xfrm rot="0">
            <a:off x="3097111" y="4268617"/>
            <a:ext cx="4802378" cy="2658752"/>
          </a:xfrm>
          <a:prstGeom prst="rect">
            <a:avLst/>
          </a:prstGeom>
        </p:spPr>
        <p:txBody>
          <a:bodyPr anchor="t" rtlCol="false" tIns="0" lIns="0" bIns="0" rIns="0">
            <a:spAutoFit/>
          </a:bodyPr>
          <a:lstStyle/>
          <a:p>
            <a:pPr algn="l">
              <a:lnSpc>
                <a:spcPts val="4129"/>
              </a:lnSpc>
              <a:spcBef>
                <a:spcPct val="0"/>
              </a:spcBef>
            </a:pPr>
            <a:r>
              <a:rPr lang="en-US" sz="2949">
                <a:solidFill>
                  <a:srgbClr val="FFFFFF"/>
                </a:solidFill>
                <a:latin typeface="Arial MT Pro"/>
                <a:ea typeface="Arial MT Pro"/>
                <a:cs typeface="Arial MT Pro"/>
                <a:sym typeface="Arial MT Pro"/>
              </a:rPr>
              <a:t>1.Tổn</a:t>
            </a:r>
            <a:r>
              <a:rPr lang="en-US" sz="2949">
                <a:solidFill>
                  <a:srgbClr val="FFFFFF"/>
                </a:solidFill>
                <a:latin typeface="Arial MT Pro"/>
                <a:ea typeface="Arial MT Pro"/>
                <a:cs typeface="Arial MT Pro"/>
                <a:sym typeface="Arial MT Pro"/>
              </a:rPr>
              <a:t>g hợp mặt hàng</a:t>
            </a:r>
          </a:p>
          <a:p>
            <a:pPr algn="l" marL="636841" indent="-318421" lvl="1">
              <a:lnSpc>
                <a:spcPts val="4129"/>
              </a:lnSpc>
              <a:buFont typeface="Arial"/>
              <a:buChar char="•"/>
            </a:pPr>
            <a:r>
              <a:rPr lang="en-US" sz="2949">
                <a:solidFill>
                  <a:srgbClr val="FFFFFF"/>
                </a:solidFill>
                <a:latin typeface="Arial MT Pro"/>
                <a:ea typeface="Arial MT Pro"/>
                <a:cs typeface="Arial MT Pro"/>
                <a:sym typeface="Arial MT Pro"/>
              </a:rPr>
              <a:t>Tổng giá trị hàng hóa - total_price</a:t>
            </a:r>
          </a:p>
          <a:p>
            <a:pPr algn="l" marL="636841" indent="-318421" lvl="1">
              <a:lnSpc>
                <a:spcPts val="4129"/>
              </a:lnSpc>
              <a:buFont typeface="Arial"/>
              <a:buChar char="•"/>
            </a:pPr>
            <a:r>
              <a:rPr lang="en-US" sz="2949">
                <a:solidFill>
                  <a:srgbClr val="FFFFFF"/>
                </a:solidFill>
                <a:latin typeface="Arial MT Pro"/>
                <a:ea typeface="Arial MT Pro"/>
                <a:cs typeface="Arial MT Pro"/>
                <a:sym typeface="Arial MT Pro"/>
              </a:rPr>
              <a:t>Tổng chi phí vận chuyển - freight_value</a:t>
            </a:r>
          </a:p>
        </p:txBody>
      </p:sp>
      <p:grpSp>
        <p:nvGrpSpPr>
          <p:cNvPr name="Group 9" id="9"/>
          <p:cNvGrpSpPr/>
          <p:nvPr/>
        </p:nvGrpSpPr>
        <p:grpSpPr>
          <a:xfrm rot="0">
            <a:off x="9144000" y="4061275"/>
            <a:ext cx="5227923" cy="4502188"/>
            <a:chOff x="0" y="0"/>
            <a:chExt cx="1376902" cy="1185761"/>
          </a:xfrm>
        </p:grpSpPr>
        <p:sp>
          <p:nvSpPr>
            <p:cNvPr name="Freeform 10" id="10"/>
            <p:cNvSpPr/>
            <p:nvPr/>
          </p:nvSpPr>
          <p:spPr>
            <a:xfrm flipH="false" flipV="false" rot="0">
              <a:off x="0" y="0"/>
              <a:ext cx="1376902" cy="1185761"/>
            </a:xfrm>
            <a:custGeom>
              <a:avLst/>
              <a:gdLst/>
              <a:ahLst/>
              <a:cxnLst/>
              <a:rect r="r" b="b" t="t" l="l"/>
              <a:pathLst>
                <a:path h="1185761" w="1376902">
                  <a:moveTo>
                    <a:pt x="41465" y="0"/>
                  </a:moveTo>
                  <a:lnTo>
                    <a:pt x="1335437" y="0"/>
                  </a:lnTo>
                  <a:cubicBezTo>
                    <a:pt x="1358337" y="0"/>
                    <a:pt x="1376902" y="18564"/>
                    <a:pt x="1376902" y="41465"/>
                  </a:cubicBezTo>
                  <a:lnTo>
                    <a:pt x="1376902" y="1144297"/>
                  </a:lnTo>
                  <a:cubicBezTo>
                    <a:pt x="1376902" y="1167197"/>
                    <a:pt x="1358337" y="1185761"/>
                    <a:pt x="1335437" y="1185761"/>
                  </a:cubicBezTo>
                  <a:lnTo>
                    <a:pt x="41465" y="1185761"/>
                  </a:lnTo>
                  <a:cubicBezTo>
                    <a:pt x="18564" y="1185761"/>
                    <a:pt x="0" y="1167197"/>
                    <a:pt x="0" y="1144297"/>
                  </a:cubicBezTo>
                  <a:lnTo>
                    <a:pt x="0" y="41465"/>
                  </a:lnTo>
                  <a:cubicBezTo>
                    <a:pt x="0" y="18564"/>
                    <a:pt x="18564" y="0"/>
                    <a:pt x="41465" y="0"/>
                  </a:cubicBezTo>
                  <a:close/>
                </a:path>
              </a:pathLst>
            </a:custGeom>
            <a:gradFill rotWithShape="true">
              <a:gsLst>
                <a:gs pos="0">
                  <a:srgbClr val="0C4A5B">
                    <a:alpha val="100000"/>
                  </a:srgbClr>
                </a:gs>
                <a:gs pos="100000">
                  <a:srgbClr val="27DDDF">
                    <a:alpha val="100000"/>
                  </a:srgbClr>
                </a:gs>
              </a:gsLst>
              <a:lin ang="2700000"/>
            </a:gradFill>
          </p:spPr>
        </p:sp>
        <p:sp>
          <p:nvSpPr>
            <p:cNvPr name="TextBox 11" id="11"/>
            <p:cNvSpPr txBox="true"/>
            <p:nvPr/>
          </p:nvSpPr>
          <p:spPr>
            <a:xfrm>
              <a:off x="0" y="19050"/>
              <a:ext cx="1376902" cy="1166711"/>
            </a:xfrm>
            <a:prstGeom prst="rect">
              <a:avLst/>
            </a:prstGeom>
          </p:spPr>
          <p:txBody>
            <a:bodyPr anchor="ctr" rtlCol="false" tIns="50800" lIns="50800" bIns="50800" rIns="50800"/>
            <a:lstStyle/>
            <a:p>
              <a:pPr algn="ctr">
                <a:lnSpc>
                  <a:spcPts val="1387"/>
                </a:lnSpc>
              </a:pPr>
            </a:p>
          </p:txBody>
        </p:sp>
      </p:grpSp>
      <p:sp>
        <p:nvSpPr>
          <p:cNvPr name="TextBox 12" id="12"/>
          <p:cNvSpPr txBox="true"/>
          <p:nvPr/>
        </p:nvSpPr>
        <p:spPr>
          <a:xfrm rot="0">
            <a:off x="9267248" y="4302820"/>
            <a:ext cx="4670879" cy="4089255"/>
          </a:xfrm>
          <a:prstGeom prst="rect">
            <a:avLst/>
          </a:prstGeom>
        </p:spPr>
        <p:txBody>
          <a:bodyPr anchor="t" rtlCol="false" tIns="0" lIns="0" bIns="0" rIns="0">
            <a:spAutoFit/>
          </a:bodyPr>
          <a:lstStyle/>
          <a:p>
            <a:pPr algn="l">
              <a:lnSpc>
                <a:spcPts val="4033"/>
              </a:lnSpc>
              <a:spcBef>
                <a:spcPct val="0"/>
              </a:spcBef>
            </a:pPr>
            <a:r>
              <a:rPr lang="en-US" sz="2880">
                <a:solidFill>
                  <a:srgbClr val="FFFFFF"/>
                </a:solidFill>
                <a:latin typeface="Arial MT Pro"/>
                <a:ea typeface="Arial MT Pro"/>
                <a:cs typeface="Arial MT Pro"/>
                <a:sym typeface="Arial MT Pro"/>
              </a:rPr>
              <a:t>2. Tổng hợp thanh toán</a:t>
            </a:r>
          </a:p>
          <a:p>
            <a:pPr algn="l" marL="621949" indent="-310975" lvl="1">
              <a:lnSpc>
                <a:spcPts val="4033"/>
              </a:lnSpc>
              <a:buFont typeface="Arial"/>
              <a:buChar char="•"/>
            </a:pPr>
            <a:r>
              <a:rPr lang="en-US" sz="2880">
                <a:solidFill>
                  <a:srgbClr val="FFFFFF"/>
                </a:solidFill>
                <a:latin typeface="Arial MT Pro"/>
                <a:ea typeface="Arial MT Pro"/>
                <a:cs typeface="Arial MT Pro"/>
                <a:sym typeface="Arial MT Pro"/>
              </a:rPr>
              <a:t>Tổng số tiền đã thanh toán - payment_value</a:t>
            </a:r>
          </a:p>
          <a:p>
            <a:pPr algn="l" marL="621949" indent="-310975" lvl="1">
              <a:lnSpc>
                <a:spcPts val="4033"/>
              </a:lnSpc>
              <a:buFont typeface="Arial"/>
              <a:buChar char="•"/>
            </a:pPr>
            <a:r>
              <a:rPr lang="en-US" sz="2880">
                <a:solidFill>
                  <a:srgbClr val="FFFFFF"/>
                </a:solidFill>
                <a:latin typeface="Arial MT Pro"/>
                <a:ea typeface="Arial MT Pro"/>
                <a:cs typeface="Arial MT Pro"/>
                <a:sym typeface="Arial MT Pro"/>
              </a:rPr>
              <a:t>Trung bình số kỳ trả góp - payment_installments</a:t>
            </a:r>
          </a:p>
          <a:p>
            <a:pPr algn="l" marL="621949" indent="-310975" lvl="1">
              <a:lnSpc>
                <a:spcPts val="4033"/>
              </a:lnSpc>
              <a:buFont typeface="Arial"/>
              <a:buChar char="•"/>
            </a:pPr>
            <a:r>
              <a:rPr lang="en-US" sz="2880">
                <a:solidFill>
                  <a:srgbClr val="FFFFFF"/>
                </a:solidFill>
                <a:latin typeface="Arial MT Pro"/>
                <a:ea typeface="Arial MT Pro"/>
                <a:cs typeface="Arial MT Pro"/>
                <a:sym typeface="Arial MT Pro"/>
              </a:rPr>
              <a:t>Phương thức thanh toán chủ đạo - payment_type (Mode)</a:t>
            </a:r>
          </a:p>
        </p:txBody>
      </p:sp>
      <p:sp>
        <p:nvSpPr>
          <p:cNvPr name="TextBox 13" id="13"/>
          <p:cNvSpPr txBox="true"/>
          <p:nvPr/>
        </p:nvSpPr>
        <p:spPr>
          <a:xfrm rot="0">
            <a:off x="2335072" y="2763709"/>
            <a:ext cx="12892683" cy="935616"/>
          </a:xfrm>
          <a:prstGeom prst="rect">
            <a:avLst/>
          </a:prstGeom>
        </p:spPr>
        <p:txBody>
          <a:bodyPr anchor="t" rtlCol="false" tIns="0" lIns="0" bIns="0" rIns="0">
            <a:spAutoFit/>
          </a:bodyPr>
          <a:lstStyle/>
          <a:p>
            <a:pPr algn="ctr">
              <a:lnSpc>
                <a:spcPts val="3555"/>
              </a:lnSpc>
              <a:spcBef>
                <a:spcPct val="0"/>
              </a:spcBef>
            </a:pPr>
            <a:r>
              <a:rPr lang="en-US" sz="2539">
                <a:solidFill>
                  <a:srgbClr val="FFFFFF"/>
                </a:solidFill>
                <a:latin typeface="Arial MT Pro"/>
                <a:ea typeface="Arial MT Pro"/>
                <a:cs typeface="Arial MT Pro"/>
                <a:sym typeface="Arial MT Pro"/>
              </a:rPr>
              <a:t>Vấn đề: Một đơn hàng (order_id) có thể chứa nhiều mặt hàng và thanh toán qua nhiều lần</a:t>
            </a:r>
          </a:p>
          <a:p>
            <a:pPr algn="ctr">
              <a:lnSpc>
                <a:spcPts val="3555"/>
              </a:lnSpc>
              <a:spcBef>
                <a:spcPct val="0"/>
              </a:spcBef>
            </a:pPr>
            <a:r>
              <a:rPr lang="en-US" sz="2539">
                <a:solidFill>
                  <a:srgbClr val="FFFFFF"/>
                </a:solidFill>
                <a:latin typeface="Arial MT Pro"/>
                <a:ea typeface="Arial MT Pro"/>
                <a:cs typeface="Arial MT Pro"/>
                <a:sym typeface="Arial MT Pro"/>
              </a:rPr>
              <a:t> → Cần gom nhóm thành tỷ lệ 1-1.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4" id="4"/>
          <p:cNvSpPr txBox="true"/>
          <p:nvPr/>
        </p:nvSpPr>
        <p:spPr>
          <a:xfrm rot="0">
            <a:off x="4958708" y="759002"/>
            <a:ext cx="8854778" cy="1380720"/>
          </a:xfrm>
          <a:prstGeom prst="rect">
            <a:avLst/>
          </a:prstGeom>
        </p:spPr>
        <p:txBody>
          <a:bodyPr anchor="t" rtlCol="false" tIns="0" lIns="0" bIns="0" rIns="0">
            <a:spAutoFit/>
          </a:bodyPr>
          <a:lstStyle/>
          <a:p>
            <a:pPr algn="ctr">
              <a:lnSpc>
                <a:spcPts val="5272"/>
              </a:lnSpc>
              <a:spcBef>
                <a:spcPct val="0"/>
              </a:spcBef>
            </a:pPr>
            <a:r>
              <a:rPr lang="en-US" b="true" sz="3765">
                <a:solidFill>
                  <a:srgbClr val="FFFFFF"/>
                </a:solidFill>
                <a:latin typeface="Arial MT Pro Bold"/>
                <a:ea typeface="Arial MT Pro Bold"/>
                <a:cs typeface="Arial MT Pro Bold"/>
                <a:sym typeface="Arial MT Pro Bold"/>
              </a:rPr>
              <a:t>6.</a:t>
            </a:r>
            <a:r>
              <a:rPr lang="en-US" b="true" sz="3765">
                <a:solidFill>
                  <a:srgbClr val="FFFFFF"/>
                </a:solidFill>
                <a:latin typeface="Arial MT Pro Bold"/>
                <a:ea typeface="Arial MT Pro Bold"/>
                <a:cs typeface="Arial MT Pro Bold"/>
                <a:sym typeface="Arial MT Pro Bold"/>
              </a:rPr>
              <a:t>Trích xuất đặc trưng vật lý sản phẩm</a:t>
            </a:r>
          </a:p>
          <a:p>
            <a:pPr algn="ctr">
              <a:lnSpc>
                <a:spcPts val="5272"/>
              </a:lnSpc>
              <a:spcBef>
                <a:spcPct val="0"/>
              </a:spcBef>
            </a:pPr>
            <a:r>
              <a:rPr lang="en-US" b="true" sz="3765">
                <a:solidFill>
                  <a:srgbClr val="FFFFFF"/>
                </a:solidFill>
                <a:latin typeface="Arial MT Pro Bold"/>
                <a:ea typeface="Arial MT Pro Bold"/>
                <a:cs typeface="Arial MT Pro Bold"/>
                <a:sym typeface="Arial MT Pro Bold"/>
              </a:rPr>
              <a:t>Product Aggregations</a:t>
            </a:r>
          </a:p>
        </p:txBody>
      </p:sp>
      <p:grpSp>
        <p:nvGrpSpPr>
          <p:cNvPr name="Group 5" id="5"/>
          <p:cNvGrpSpPr/>
          <p:nvPr/>
        </p:nvGrpSpPr>
        <p:grpSpPr>
          <a:xfrm rot="0">
            <a:off x="1028700" y="6720925"/>
            <a:ext cx="6222463" cy="2147638"/>
            <a:chOff x="0" y="0"/>
            <a:chExt cx="1638838" cy="565633"/>
          </a:xfrm>
        </p:grpSpPr>
        <p:sp>
          <p:nvSpPr>
            <p:cNvPr name="Freeform 6" id="6"/>
            <p:cNvSpPr/>
            <p:nvPr/>
          </p:nvSpPr>
          <p:spPr>
            <a:xfrm flipH="false" flipV="false" rot="0">
              <a:off x="0" y="0"/>
              <a:ext cx="1638838" cy="565633"/>
            </a:xfrm>
            <a:custGeom>
              <a:avLst/>
              <a:gdLst/>
              <a:ahLst/>
              <a:cxnLst/>
              <a:rect r="r" b="b" t="t" l="l"/>
              <a:pathLst>
                <a:path h="565633" w="1638838">
                  <a:moveTo>
                    <a:pt x="34837" y="0"/>
                  </a:moveTo>
                  <a:lnTo>
                    <a:pt x="1604001" y="0"/>
                  </a:lnTo>
                  <a:cubicBezTo>
                    <a:pt x="1613240" y="0"/>
                    <a:pt x="1622101" y="3670"/>
                    <a:pt x="1628634" y="10204"/>
                  </a:cubicBezTo>
                  <a:cubicBezTo>
                    <a:pt x="1635168" y="16737"/>
                    <a:pt x="1638838" y="25598"/>
                    <a:pt x="1638838" y="34837"/>
                  </a:cubicBezTo>
                  <a:lnTo>
                    <a:pt x="1638838" y="530796"/>
                  </a:lnTo>
                  <a:cubicBezTo>
                    <a:pt x="1638838" y="540035"/>
                    <a:pt x="1635168" y="548896"/>
                    <a:pt x="1628634" y="555430"/>
                  </a:cubicBezTo>
                  <a:cubicBezTo>
                    <a:pt x="1622101" y="561963"/>
                    <a:pt x="1613240" y="565633"/>
                    <a:pt x="1604001" y="565633"/>
                  </a:cubicBezTo>
                  <a:lnTo>
                    <a:pt x="34837" y="565633"/>
                  </a:lnTo>
                  <a:cubicBezTo>
                    <a:pt x="25598" y="565633"/>
                    <a:pt x="16737" y="561963"/>
                    <a:pt x="10204" y="555430"/>
                  </a:cubicBezTo>
                  <a:cubicBezTo>
                    <a:pt x="3670" y="548896"/>
                    <a:pt x="0" y="540035"/>
                    <a:pt x="0" y="530796"/>
                  </a:cubicBezTo>
                  <a:lnTo>
                    <a:pt x="0" y="34837"/>
                  </a:lnTo>
                  <a:cubicBezTo>
                    <a:pt x="0" y="25598"/>
                    <a:pt x="3670" y="16737"/>
                    <a:pt x="10204" y="10204"/>
                  </a:cubicBezTo>
                  <a:cubicBezTo>
                    <a:pt x="16737" y="3670"/>
                    <a:pt x="25598" y="0"/>
                    <a:pt x="34837"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1638838" cy="546583"/>
            </a:xfrm>
            <a:prstGeom prst="rect">
              <a:avLst/>
            </a:prstGeom>
          </p:spPr>
          <p:txBody>
            <a:bodyPr anchor="ctr" rtlCol="false" tIns="50800" lIns="50800" bIns="50800" rIns="50800"/>
            <a:lstStyle/>
            <a:p>
              <a:pPr algn="ctr">
                <a:lnSpc>
                  <a:spcPts val="1387"/>
                </a:lnSpc>
              </a:pPr>
            </a:p>
          </p:txBody>
        </p:sp>
      </p:grpSp>
      <p:grpSp>
        <p:nvGrpSpPr>
          <p:cNvPr name="Group 8" id="8"/>
          <p:cNvGrpSpPr/>
          <p:nvPr/>
        </p:nvGrpSpPr>
        <p:grpSpPr>
          <a:xfrm rot="0">
            <a:off x="1028700" y="4180553"/>
            <a:ext cx="6222463" cy="2279251"/>
            <a:chOff x="0" y="0"/>
            <a:chExt cx="1638838" cy="600297"/>
          </a:xfrm>
        </p:grpSpPr>
        <p:sp>
          <p:nvSpPr>
            <p:cNvPr name="Freeform 9" id="9"/>
            <p:cNvSpPr/>
            <p:nvPr/>
          </p:nvSpPr>
          <p:spPr>
            <a:xfrm flipH="false" flipV="false" rot="0">
              <a:off x="0" y="0"/>
              <a:ext cx="1638838" cy="600297"/>
            </a:xfrm>
            <a:custGeom>
              <a:avLst/>
              <a:gdLst/>
              <a:ahLst/>
              <a:cxnLst/>
              <a:rect r="r" b="b" t="t" l="l"/>
              <a:pathLst>
                <a:path h="600297" w="1638838">
                  <a:moveTo>
                    <a:pt x="34837" y="0"/>
                  </a:moveTo>
                  <a:lnTo>
                    <a:pt x="1604001" y="0"/>
                  </a:lnTo>
                  <a:cubicBezTo>
                    <a:pt x="1613240" y="0"/>
                    <a:pt x="1622101" y="3670"/>
                    <a:pt x="1628634" y="10204"/>
                  </a:cubicBezTo>
                  <a:cubicBezTo>
                    <a:pt x="1635168" y="16737"/>
                    <a:pt x="1638838" y="25598"/>
                    <a:pt x="1638838" y="34837"/>
                  </a:cubicBezTo>
                  <a:lnTo>
                    <a:pt x="1638838" y="565459"/>
                  </a:lnTo>
                  <a:cubicBezTo>
                    <a:pt x="1638838" y="574699"/>
                    <a:pt x="1635168" y="583560"/>
                    <a:pt x="1628634" y="590093"/>
                  </a:cubicBezTo>
                  <a:cubicBezTo>
                    <a:pt x="1622101" y="596626"/>
                    <a:pt x="1613240" y="600297"/>
                    <a:pt x="1604001" y="600297"/>
                  </a:cubicBezTo>
                  <a:lnTo>
                    <a:pt x="34837" y="600297"/>
                  </a:lnTo>
                  <a:cubicBezTo>
                    <a:pt x="25598" y="600297"/>
                    <a:pt x="16737" y="596626"/>
                    <a:pt x="10204" y="590093"/>
                  </a:cubicBezTo>
                  <a:cubicBezTo>
                    <a:pt x="3670" y="583560"/>
                    <a:pt x="0" y="574699"/>
                    <a:pt x="0" y="565459"/>
                  </a:cubicBezTo>
                  <a:lnTo>
                    <a:pt x="0" y="34837"/>
                  </a:lnTo>
                  <a:cubicBezTo>
                    <a:pt x="0" y="25598"/>
                    <a:pt x="3670" y="16737"/>
                    <a:pt x="10204" y="10204"/>
                  </a:cubicBezTo>
                  <a:cubicBezTo>
                    <a:pt x="16737" y="3670"/>
                    <a:pt x="25598" y="0"/>
                    <a:pt x="34837" y="0"/>
                  </a:cubicBezTo>
                  <a:close/>
                </a:path>
              </a:pathLst>
            </a:custGeom>
            <a:gradFill rotWithShape="true">
              <a:gsLst>
                <a:gs pos="0">
                  <a:srgbClr val="0C4A5B">
                    <a:alpha val="100000"/>
                  </a:srgbClr>
                </a:gs>
                <a:gs pos="100000">
                  <a:srgbClr val="27DDDF">
                    <a:alpha val="100000"/>
                  </a:srgbClr>
                </a:gs>
              </a:gsLst>
              <a:lin ang="2700000"/>
            </a:gradFill>
          </p:spPr>
        </p:sp>
        <p:sp>
          <p:nvSpPr>
            <p:cNvPr name="TextBox 10" id="10"/>
            <p:cNvSpPr txBox="true"/>
            <p:nvPr/>
          </p:nvSpPr>
          <p:spPr>
            <a:xfrm>
              <a:off x="0" y="19050"/>
              <a:ext cx="1638838" cy="581247"/>
            </a:xfrm>
            <a:prstGeom prst="rect">
              <a:avLst/>
            </a:prstGeom>
          </p:spPr>
          <p:txBody>
            <a:bodyPr anchor="ctr" rtlCol="false" tIns="50800" lIns="50800" bIns="50800" rIns="50800"/>
            <a:lstStyle/>
            <a:p>
              <a:pPr algn="ctr">
                <a:lnSpc>
                  <a:spcPts val="1387"/>
                </a:lnSpc>
              </a:pPr>
            </a:p>
          </p:txBody>
        </p:sp>
      </p:grpSp>
      <p:sp>
        <p:nvSpPr>
          <p:cNvPr name="TextBox 11" id="11"/>
          <p:cNvSpPr txBox="true"/>
          <p:nvPr/>
        </p:nvSpPr>
        <p:spPr>
          <a:xfrm rot="0">
            <a:off x="1422127" y="4388000"/>
            <a:ext cx="5499300" cy="1334666"/>
          </a:xfrm>
          <a:prstGeom prst="rect">
            <a:avLst/>
          </a:prstGeom>
        </p:spPr>
        <p:txBody>
          <a:bodyPr anchor="t" rtlCol="false" tIns="0" lIns="0" bIns="0" rIns="0">
            <a:spAutoFit/>
          </a:bodyPr>
          <a:lstStyle/>
          <a:p>
            <a:pPr algn="l">
              <a:lnSpc>
                <a:spcPts val="4170"/>
              </a:lnSpc>
              <a:spcBef>
                <a:spcPct val="0"/>
              </a:spcBef>
            </a:pPr>
            <a:r>
              <a:rPr lang="en-US" b="true" sz="2979">
                <a:solidFill>
                  <a:srgbClr val="FFFFFF"/>
                </a:solidFill>
                <a:latin typeface="Arial MT Pro Bold"/>
                <a:ea typeface="Arial MT Pro Bold"/>
                <a:cs typeface="Arial MT Pro Bold"/>
                <a:sym typeface="Arial MT Pro Bold"/>
              </a:rPr>
              <a:t>1. Liên kết dữ liệu</a:t>
            </a:r>
          </a:p>
          <a:p>
            <a:pPr algn="ctr">
              <a:lnSpc>
                <a:spcPts val="3050"/>
              </a:lnSpc>
              <a:spcBef>
                <a:spcPct val="0"/>
              </a:spcBef>
            </a:pPr>
            <a:r>
              <a:rPr lang="en-US" sz="2179">
                <a:solidFill>
                  <a:srgbClr val="FFFFFF"/>
                </a:solidFill>
                <a:latin typeface="Arial MT Pro"/>
                <a:ea typeface="Arial MT Pro"/>
                <a:cs typeface="Arial MT Pro"/>
                <a:sym typeface="Arial MT Pro"/>
              </a:rPr>
              <a:t>Thực hiện Left Merge bảng chi tiết đơn hàng với thông tin sản phẩm.</a:t>
            </a:r>
          </a:p>
        </p:txBody>
      </p:sp>
      <p:sp>
        <p:nvSpPr>
          <p:cNvPr name="TextBox 12" id="12"/>
          <p:cNvSpPr txBox="true"/>
          <p:nvPr/>
        </p:nvSpPr>
        <p:spPr>
          <a:xfrm rot="0">
            <a:off x="1324347" y="6793643"/>
            <a:ext cx="5829035" cy="926412"/>
          </a:xfrm>
          <a:prstGeom prst="rect">
            <a:avLst/>
          </a:prstGeom>
        </p:spPr>
        <p:txBody>
          <a:bodyPr anchor="t" rtlCol="false" tIns="0" lIns="0" bIns="0" rIns="0">
            <a:spAutoFit/>
          </a:bodyPr>
          <a:lstStyle/>
          <a:p>
            <a:pPr algn="l">
              <a:lnSpc>
                <a:spcPts val="4097"/>
              </a:lnSpc>
              <a:spcBef>
                <a:spcPct val="0"/>
              </a:spcBef>
            </a:pPr>
            <a:r>
              <a:rPr lang="en-US" b="true" sz="2927">
                <a:solidFill>
                  <a:srgbClr val="FFFFFF"/>
                </a:solidFill>
                <a:latin typeface="Arial MT Pro Bold"/>
                <a:ea typeface="Arial MT Pro Bold"/>
                <a:cs typeface="Arial MT Pro Bold"/>
                <a:sym typeface="Arial MT Pro Bold"/>
              </a:rPr>
              <a:t>2. Kiến tạo đặc trưng mới</a:t>
            </a:r>
          </a:p>
          <a:p>
            <a:pPr algn="l">
              <a:lnSpc>
                <a:spcPts val="2977"/>
              </a:lnSpc>
              <a:spcBef>
                <a:spcPct val="0"/>
              </a:spcBef>
            </a:pPr>
            <a:r>
              <a:rPr lang="en-US" b="true" sz="2127">
                <a:solidFill>
                  <a:srgbClr val="FFFFFF"/>
                </a:solidFill>
                <a:latin typeface="Arial MT Pro Bold"/>
                <a:ea typeface="Arial MT Pro Bold"/>
                <a:cs typeface="Arial MT Pro Bold"/>
                <a:sym typeface="Arial MT Pro Bold"/>
              </a:rPr>
              <a:t>Tính toán thể tích vật lý cho từng sản phẩm:</a:t>
            </a:r>
          </a:p>
        </p:txBody>
      </p:sp>
      <p:sp>
        <p:nvSpPr>
          <p:cNvPr name="TextBox 13" id="13"/>
          <p:cNvSpPr txBox="true"/>
          <p:nvPr/>
        </p:nvSpPr>
        <p:spPr>
          <a:xfrm rot="0">
            <a:off x="1225414" y="7863591"/>
            <a:ext cx="5829035" cy="420973"/>
          </a:xfrm>
          <a:prstGeom prst="rect">
            <a:avLst/>
          </a:prstGeom>
        </p:spPr>
        <p:txBody>
          <a:bodyPr anchor="t" rtlCol="false" tIns="0" lIns="0" bIns="0" rIns="0">
            <a:spAutoFit/>
          </a:bodyPr>
          <a:lstStyle/>
          <a:p>
            <a:pPr algn="ctr">
              <a:lnSpc>
                <a:spcPts val="3046"/>
              </a:lnSpc>
              <a:spcBef>
                <a:spcPct val="0"/>
              </a:spcBef>
            </a:pPr>
            <a:r>
              <a:rPr lang="en-US" sz="2176">
                <a:solidFill>
                  <a:srgbClr val="FFFFFF"/>
                </a:solidFill>
                <a:latin typeface="Arial MT Pro"/>
                <a:ea typeface="Arial MT Pro"/>
                <a:cs typeface="Arial MT Pro"/>
                <a:sym typeface="Arial MT Pro"/>
              </a:rPr>
              <a:t>Volume (cm3) = Length × Height × Width</a:t>
            </a:r>
          </a:p>
        </p:txBody>
      </p:sp>
      <p:grpSp>
        <p:nvGrpSpPr>
          <p:cNvPr name="Group 14" id="14"/>
          <p:cNvGrpSpPr/>
          <p:nvPr/>
        </p:nvGrpSpPr>
        <p:grpSpPr>
          <a:xfrm rot="0">
            <a:off x="7755355" y="4051046"/>
            <a:ext cx="10262573" cy="4817518"/>
            <a:chOff x="0" y="0"/>
            <a:chExt cx="2702900" cy="1268811"/>
          </a:xfrm>
        </p:grpSpPr>
        <p:sp>
          <p:nvSpPr>
            <p:cNvPr name="Freeform 15" id="15"/>
            <p:cNvSpPr/>
            <p:nvPr/>
          </p:nvSpPr>
          <p:spPr>
            <a:xfrm flipH="false" flipV="false" rot="0">
              <a:off x="0" y="0"/>
              <a:ext cx="2702900" cy="1268811"/>
            </a:xfrm>
            <a:custGeom>
              <a:avLst/>
              <a:gdLst/>
              <a:ahLst/>
              <a:cxnLst/>
              <a:rect r="r" b="b" t="t" l="l"/>
              <a:pathLst>
                <a:path h="1268811" w="2702900">
                  <a:moveTo>
                    <a:pt x="21123" y="0"/>
                  </a:moveTo>
                  <a:lnTo>
                    <a:pt x="2681777" y="0"/>
                  </a:lnTo>
                  <a:cubicBezTo>
                    <a:pt x="2687379" y="0"/>
                    <a:pt x="2692752" y="2225"/>
                    <a:pt x="2696713" y="6187"/>
                  </a:cubicBezTo>
                  <a:cubicBezTo>
                    <a:pt x="2700674" y="10148"/>
                    <a:pt x="2702900" y="15521"/>
                    <a:pt x="2702900" y="21123"/>
                  </a:cubicBezTo>
                  <a:lnTo>
                    <a:pt x="2702900" y="1247689"/>
                  </a:lnTo>
                  <a:cubicBezTo>
                    <a:pt x="2702900" y="1259354"/>
                    <a:pt x="2693443" y="1268811"/>
                    <a:pt x="2681777" y="1268811"/>
                  </a:cubicBezTo>
                  <a:lnTo>
                    <a:pt x="21123" y="1268811"/>
                  </a:lnTo>
                  <a:cubicBezTo>
                    <a:pt x="9457" y="1268811"/>
                    <a:pt x="0" y="1259354"/>
                    <a:pt x="0" y="1247689"/>
                  </a:cubicBezTo>
                  <a:lnTo>
                    <a:pt x="0" y="21123"/>
                  </a:lnTo>
                  <a:cubicBezTo>
                    <a:pt x="0" y="9457"/>
                    <a:pt x="9457" y="0"/>
                    <a:pt x="21123" y="0"/>
                  </a:cubicBezTo>
                  <a:close/>
                </a:path>
              </a:pathLst>
            </a:custGeom>
            <a:gradFill rotWithShape="true">
              <a:gsLst>
                <a:gs pos="0">
                  <a:srgbClr val="0C4A5B">
                    <a:alpha val="100000"/>
                  </a:srgbClr>
                </a:gs>
                <a:gs pos="100000">
                  <a:srgbClr val="27DDDF">
                    <a:alpha val="100000"/>
                  </a:srgbClr>
                </a:gs>
              </a:gsLst>
              <a:lin ang="2700000"/>
            </a:gradFill>
          </p:spPr>
        </p:sp>
        <p:sp>
          <p:nvSpPr>
            <p:cNvPr name="TextBox 16" id="16"/>
            <p:cNvSpPr txBox="true"/>
            <p:nvPr/>
          </p:nvSpPr>
          <p:spPr>
            <a:xfrm>
              <a:off x="0" y="19050"/>
              <a:ext cx="2702900" cy="1249761"/>
            </a:xfrm>
            <a:prstGeom prst="rect">
              <a:avLst/>
            </a:prstGeom>
          </p:spPr>
          <p:txBody>
            <a:bodyPr anchor="ctr" rtlCol="false" tIns="50800" lIns="50800" bIns="50800" rIns="50800"/>
            <a:lstStyle/>
            <a:p>
              <a:pPr algn="ctr">
                <a:lnSpc>
                  <a:spcPts val="1387"/>
                </a:lnSpc>
              </a:pPr>
            </a:p>
          </p:txBody>
        </p:sp>
      </p:grpSp>
      <p:sp>
        <p:nvSpPr>
          <p:cNvPr name="TextBox 17" id="17"/>
          <p:cNvSpPr txBox="true"/>
          <p:nvPr/>
        </p:nvSpPr>
        <p:spPr>
          <a:xfrm rot="0">
            <a:off x="8230217" y="5008380"/>
            <a:ext cx="9787712" cy="3646725"/>
          </a:xfrm>
          <a:prstGeom prst="rect">
            <a:avLst/>
          </a:prstGeom>
        </p:spPr>
        <p:txBody>
          <a:bodyPr anchor="t" rtlCol="false" tIns="0" lIns="0" bIns="0" rIns="0">
            <a:spAutoFit/>
          </a:bodyPr>
          <a:lstStyle/>
          <a:p>
            <a:pPr algn="l">
              <a:lnSpc>
                <a:spcPts val="4799"/>
              </a:lnSpc>
            </a:pPr>
            <a:r>
              <a:rPr lang="en-US" sz="3428">
                <a:solidFill>
                  <a:srgbClr val="FFFFFF"/>
                </a:solidFill>
                <a:latin typeface="Arial MT Pro"/>
                <a:ea typeface="Arial MT Pro"/>
                <a:cs typeface="Arial MT Pro"/>
                <a:sym typeface="Arial MT Pro"/>
              </a:rPr>
              <a:t>.groupby('order_id').mean()</a:t>
            </a:r>
          </a:p>
          <a:p>
            <a:pPr algn="l">
              <a:lnSpc>
                <a:spcPts val="4799"/>
              </a:lnSpc>
            </a:pPr>
          </a:p>
          <a:p>
            <a:pPr algn="just">
              <a:lnSpc>
                <a:spcPts val="4799"/>
              </a:lnSpc>
            </a:pPr>
            <a:r>
              <a:rPr lang="en-US" sz="3428">
                <a:solidFill>
                  <a:srgbClr val="FFFFFF"/>
                </a:solidFill>
                <a:latin typeface="Arial MT Pro"/>
                <a:ea typeface="Arial MT Pro"/>
                <a:cs typeface="Arial MT Pro"/>
                <a:sym typeface="Arial MT Pro"/>
              </a:rPr>
              <a:t>Khối lượngTB              product_weight_g</a:t>
            </a:r>
          </a:p>
          <a:p>
            <a:pPr algn="l">
              <a:lnSpc>
                <a:spcPts val="4799"/>
              </a:lnSpc>
            </a:pPr>
            <a:r>
              <a:rPr lang="en-US" sz="3428">
                <a:solidFill>
                  <a:srgbClr val="FFFFFF"/>
                </a:solidFill>
                <a:latin typeface="Arial MT Pro"/>
                <a:ea typeface="Arial MT Pro"/>
                <a:cs typeface="Arial MT Pro"/>
                <a:sym typeface="Arial MT Pro"/>
              </a:rPr>
              <a:t>Số lượng ảnhTB          product_photos_qty</a:t>
            </a:r>
          </a:p>
          <a:p>
            <a:pPr algn="l">
              <a:lnSpc>
                <a:spcPts val="4799"/>
              </a:lnSpc>
            </a:pPr>
            <a:r>
              <a:rPr lang="en-US" sz="3428">
                <a:solidFill>
                  <a:srgbClr val="FFFFFF"/>
                </a:solidFill>
                <a:latin typeface="Arial MT Pro"/>
                <a:ea typeface="Arial MT Pro"/>
                <a:cs typeface="Arial MT Pro"/>
                <a:sym typeface="Arial MT Pro"/>
              </a:rPr>
              <a:t>Độ dài mô tảTB            product_description_lenght</a:t>
            </a:r>
          </a:p>
          <a:p>
            <a:pPr algn="l">
              <a:lnSpc>
                <a:spcPts val="4799"/>
              </a:lnSpc>
            </a:pPr>
            <a:r>
              <a:rPr lang="en-US" sz="3428">
                <a:solidFill>
                  <a:srgbClr val="FFFFFF"/>
                </a:solidFill>
                <a:latin typeface="Arial MT Pro"/>
                <a:ea typeface="Arial MT Pro"/>
                <a:cs typeface="Arial MT Pro"/>
                <a:sym typeface="Arial MT Pro"/>
              </a:rPr>
              <a:t>Thể tích trung bình       product_volume</a:t>
            </a:r>
          </a:p>
        </p:txBody>
      </p:sp>
      <p:sp>
        <p:nvSpPr>
          <p:cNvPr name="TextBox 18" id="18"/>
          <p:cNvSpPr txBox="true"/>
          <p:nvPr/>
        </p:nvSpPr>
        <p:spPr>
          <a:xfrm rot="0">
            <a:off x="9943761" y="4056728"/>
            <a:ext cx="6616599" cy="574360"/>
          </a:xfrm>
          <a:prstGeom prst="rect">
            <a:avLst/>
          </a:prstGeom>
        </p:spPr>
        <p:txBody>
          <a:bodyPr anchor="t" rtlCol="false" tIns="0" lIns="0" bIns="0" rIns="0">
            <a:spAutoFit/>
          </a:bodyPr>
          <a:lstStyle/>
          <a:p>
            <a:pPr algn="ctr">
              <a:lnSpc>
                <a:spcPts val="4214"/>
              </a:lnSpc>
              <a:spcBef>
                <a:spcPct val="0"/>
              </a:spcBef>
            </a:pPr>
            <a:r>
              <a:rPr lang="en-US" sz="3010">
                <a:solidFill>
                  <a:srgbClr val="FFFFFF"/>
                </a:solidFill>
                <a:latin typeface="Arial MT Pro"/>
                <a:ea typeface="Arial MT Pro"/>
                <a:cs typeface="Arial MT Pro"/>
                <a:sym typeface="Arial MT Pro"/>
              </a:rPr>
              <a:t>T</a:t>
            </a:r>
            <a:r>
              <a:rPr lang="en-US" sz="3010">
                <a:solidFill>
                  <a:srgbClr val="FFFFFF"/>
                </a:solidFill>
                <a:latin typeface="Arial MT Pro"/>
                <a:ea typeface="Arial MT Pro"/>
                <a:cs typeface="Arial MT Pro"/>
                <a:sym typeface="Arial MT Pro"/>
              </a:rPr>
              <a:t>ổng hợp theo đơn hàng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95032" y="3275430"/>
            <a:ext cx="7243416" cy="2149467"/>
            <a:chOff x="0" y="0"/>
            <a:chExt cx="1907731" cy="566115"/>
          </a:xfrm>
        </p:grpSpPr>
        <p:sp>
          <p:nvSpPr>
            <p:cNvPr name="Freeform 4" id="4"/>
            <p:cNvSpPr/>
            <p:nvPr/>
          </p:nvSpPr>
          <p:spPr>
            <a:xfrm flipH="false" flipV="false" rot="0">
              <a:off x="0" y="0"/>
              <a:ext cx="1907731" cy="566115"/>
            </a:xfrm>
            <a:custGeom>
              <a:avLst/>
              <a:gdLst/>
              <a:ahLst/>
              <a:cxnLst/>
              <a:rect r="r" b="b" t="t" l="l"/>
              <a:pathLst>
                <a:path h="566115" w="1907731">
                  <a:moveTo>
                    <a:pt x="29927" y="0"/>
                  </a:moveTo>
                  <a:lnTo>
                    <a:pt x="1877804" y="0"/>
                  </a:lnTo>
                  <a:cubicBezTo>
                    <a:pt x="1894332" y="0"/>
                    <a:pt x="1907731" y="13399"/>
                    <a:pt x="1907731" y="29927"/>
                  </a:cubicBezTo>
                  <a:lnTo>
                    <a:pt x="1907731" y="536188"/>
                  </a:lnTo>
                  <a:cubicBezTo>
                    <a:pt x="1907731" y="552716"/>
                    <a:pt x="1894332" y="566115"/>
                    <a:pt x="1877804" y="566115"/>
                  </a:cubicBezTo>
                  <a:lnTo>
                    <a:pt x="29927" y="566115"/>
                  </a:lnTo>
                  <a:cubicBezTo>
                    <a:pt x="13399" y="566115"/>
                    <a:pt x="0" y="552716"/>
                    <a:pt x="0" y="536188"/>
                  </a:cubicBezTo>
                  <a:lnTo>
                    <a:pt x="0" y="29927"/>
                  </a:lnTo>
                  <a:cubicBezTo>
                    <a:pt x="0" y="13399"/>
                    <a:pt x="13399" y="0"/>
                    <a:pt x="29927" y="0"/>
                  </a:cubicBezTo>
                  <a:close/>
                </a:path>
              </a:pathLst>
            </a:custGeom>
            <a:gradFill rotWithShape="true">
              <a:gsLst>
                <a:gs pos="0">
                  <a:srgbClr val="0C4A5B">
                    <a:alpha val="100000"/>
                  </a:srgbClr>
                </a:gs>
                <a:gs pos="100000">
                  <a:srgbClr val="27DDDF">
                    <a:alpha val="100000"/>
                  </a:srgbClr>
                </a:gs>
              </a:gsLst>
              <a:lin ang="2700000"/>
            </a:gradFill>
          </p:spPr>
        </p:sp>
        <p:sp>
          <p:nvSpPr>
            <p:cNvPr name="TextBox 5" id="5"/>
            <p:cNvSpPr txBox="true"/>
            <p:nvPr/>
          </p:nvSpPr>
          <p:spPr>
            <a:xfrm>
              <a:off x="0" y="19050"/>
              <a:ext cx="1907731" cy="547065"/>
            </a:xfrm>
            <a:prstGeom prst="rect">
              <a:avLst/>
            </a:prstGeom>
          </p:spPr>
          <p:txBody>
            <a:bodyPr anchor="ctr" rtlCol="false" tIns="50800" lIns="50800" bIns="50800" rIns="50800"/>
            <a:lstStyle/>
            <a:p>
              <a:pPr algn="ctr">
                <a:lnSpc>
                  <a:spcPts val="1387"/>
                </a:lnSpc>
              </a:pPr>
            </a:p>
          </p:txBody>
        </p:sp>
      </p:grpSp>
      <p:grpSp>
        <p:nvGrpSpPr>
          <p:cNvPr name="Group 6" id="6"/>
          <p:cNvGrpSpPr/>
          <p:nvPr/>
        </p:nvGrpSpPr>
        <p:grpSpPr>
          <a:xfrm rot="0">
            <a:off x="9352032" y="3297861"/>
            <a:ext cx="7538468" cy="2149467"/>
            <a:chOff x="0" y="0"/>
            <a:chExt cx="1985440" cy="566115"/>
          </a:xfrm>
        </p:grpSpPr>
        <p:sp>
          <p:nvSpPr>
            <p:cNvPr name="Freeform 7" id="7"/>
            <p:cNvSpPr/>
            <p:nvPr/>
          </p:nvSpPr>
          <p:spPr>
            <a:xfrm flipH="false" flipV="false" rot="0">
              <a:off x="0" y="0"/>
              <a:ext cx="1985440" cy="566115"/>
            </a:xfrm>
            <a:custGeom>
              <a:avLst/>
              <a:gdLst/>
              <a:ahLst/>
              <a:cxnLst/>
              <a:rect r="r" b="b" t="t" l="l"/>
              <a:pathLst>
                <a:path h="566115" w="1985440">
                  <a:moveTo>
                    <a:pt x="28756" y="0"/>
                  </a:moveTo>
                  <a:lnTo>
                    <a:pt x="1956684" y="0"/>
                  </a:lnTo>
                  <a:cubicBezTo>
                    <a:pt x="1972566" y="0"/>
                    <a:pt x="1985440" y="12874"/>
                    <a:pt x="1985440" y="28756"/>
                  </a:cubicBezTo>
                  <a:lnTo>
                    <a:pt x="1985440" y="537359"/>
                  </a:lnTo>
                  <a:cubicBezTo>
                    <a:pt x="1985440" y="553240"/>
                    <a:pt x="1972566" y="566115"/>
                    <a:pt x="1956684" y="566115"/>
                  </a:cubicBezTo>
                  <a:lnTo>
                    <a:pt x="28756" y="566115"/>
                  </a:lnTo>
                  <a:cubicBezTo>
                    <a:pt x="12874" y="566115"/>
                    <a:pt x="0" y="553240"/>
                    <a:pt x="0" y="537359"/>
                  </a:cubicBezTo>
                  <a:lnTo>
                    <a:pt x="0" y="28756"/>
                  </a:lnTo>
                  <a:cubicBezTo>
                    <a:pt x="0" y="12874"/>
                    <a:pt x="12874" y="0"/>
                    <a:pt x="28756" y="0"/>
                  </a:cubicBezTo>
                  <a:close/>
                </a:path>
              </a:pathLst>
            </a:custGeom>
            <a:gradFill rotWithShape="true">
              <a:gsLst>
                <a:gs pos="0">
                  <a:srgbClr val="0C4A5B">
                    <a:alpha val="100000"/>
                  </a:srgbClr>
                </a:gs>
                <a:gs pos="100000">
                  <a:srgbClr val="27DDDF">
                    <a:alpha val="100000"/>
                  </a:srgbClr>
                </a:gs>
              </a:gsLst>
              <a:lin ang="2700000"/>
            </a:gradFill>
          </p:spPr>
        </p:sp>
        <p:sp>
          <p:nvSpPr>
            <p:cNvPr name="TextBox 8" id="8"/>
            <p:cNvSpPr txBox="true"/>
            <p:nvPr/>
          </p:nvSpPr>
          <p:spPr>
            <a:xfrm>
              <a:off x="0" y="19050"/>
              <a:ext cx="1985440" cy="547065"/>
            </a:xfrm>
            <a:prstGeom prst="rect">
              <a:avLst/>
            </a:prstGeom>
          </p:spPr>
          <p:txBody>
            <a:bodyPr anchor="ctr" rtlCol="false" tIns="50800" lIns="50800" bIns="50800" rIns="50800"/>
            <a:lstStyle/>
            <a:p>
              <a:pPr algn="ctr">
                <a:lnSpc>
                  <a:spcPts val="1387"/>
                </a:lnSpc>
              </a:pPr>
            </a:p>
          </p:txBody>
        </p:sp>
      </p:grpSp>
      <p:sp>
        <p:nvSpPr>
          <p:cNvPr name="TextBox 9" id="9"/>
          <p:cNvSpPr txBox="true"/>
          <p:nvPr/>
        </p:nvSpPr>
        <p:spPr>
          <a:xfrm rot="0">
            <a:off x="2263651" y="3520588"/>
            <a:ext cx="6306179" cy="1563901"/>
          </a:xfrm>
          <a:prstGeom prst="rect">
            <a:avLst/>
          </a:prstGeom>
        </p:spPr>
        <p:txBody>
          <a:bodyPr anchor="t" rtlCol="false" tIns="0" lIns="0" bIns="0" rIns="0">
            <a:spAutoFit/>
          </a:bodyPr>
          <a:lstStyle/>
          <a:p>
            <a:pPr algn="l">
              <a:lnSpc>
                <a:spcPts val="3050"/>
              </a:lnSpc>
              <a:spcBef>
                <a:spcPct val="0"/>
              </a:spcBef>
            </a:pPr>
            <a:r>
              <a:rPr lang="en-US" b="true" sz="2179">
                <a:solidFill>
                  <a:srgbClr val="FFFFFF"/>
                </a:solidFill>
                <a:latin typeface="Arial MT Pro Bold"/>
                <a:ea typeface="Arial MT Pro Bold"/>
                <a:cs typeface="Arial MT Pro Bold"/>
                <a:sym typeface="Arial MT Pro Bold"/>
              </a:rPr>
              <a:t>1. Hợp nhất cuối cùng</a:t>
            </a:r>
          </a:p>
          <a:p>
            <a:pPr algn="l">
              <a:lnSpc>
                <a:spcPts val="3050"/>
              </a:lnSpc>
              <a:spcBef>
                <a:spcPct val="0"/>
              </a:spcBef>
            </a:pPr>
            <a:r>
              <a:rPr lang="en-US" sz="2179">
                <a:solidFill>
                  <a:srgbClr val="FFFFFF"/>
                </a:solidFill>
                <a:latin typeface="Arial MT Pro"/>
                <a:ea typeface="Arial MT Pro"/>
                <a:cs typeface="Arial MT Pro"/>
                <a:sym typeface="Arial MT Pro"/>
              </a:rPr>
              <a:t>Ghép Base DataFrame với 3 nhóm thuộc tính vừa trích xuất thông qua khóa chung order_id.</a:t>
            </a:r>
          </a:p>
          <a:p>
            <a:pPr algn="l">
              <a:lnSpc>
                <a:spcPts val="3050"/>
              </a:lnSpc>
              <a:spcBef>
                <a:spcPct val="0"/>
              </a:spcBef>
            </a:pPr>
          </a:p>
        </p:txBody>
      </p:sp>
      <p:sp>
        <p:nvSpPr>
          <p:cNvPr name="TextBox 10" id="10"/>
          <p:cNvSpPr txBox="true"/>
          <p:nvPr/>
        </p:nvSpPr>
        <p:spPr>
          <a:xfrm rot="0">
            <a:off x="9581689" y="3556814"/>
            <a:ext cx="7125181" cy="1591256"/>
          </a:xfrm>
          <a:prstGeom prst="rect">
            <a:avLst/>
          </a:prstGeom>
        </p:spPr>
        <p:txBody>
          <a:bodyPr anchor="t" rtlCol="false" tIns="0" lIns="0" bIns="0" rIns="0">
            <a:spAutoFit/>
          </a:bodyPr>
          <a:lstStyle/>
          <a:p>
            <a:pPr algn="l">
              <a:lnSpc>
                <a:spcPts val="3117"/>
              </a:lnSpc>
              <a:spcBef>
                <a:spcPct val="0"/>
              </a:spcBef>
            </a:pPr>
            <a:r>
              <a:rPr lang="en-US" b="true" sz="2227">
                <a:solidFill>
                  <a:srgbClr val="FFFFFF"/>
                </a:solidFill>
                <a:latin typeface="Arial MT Pro Bold"/>
                <a:ea typeface="Arial MT Pro Bold"/>
                <a:cs typeface="Arial MT Pro Bold"/>
                <a:sym typeface="Arial MT Pro Bold"/>
              </a:rPr>
              <a:t>2. Làm sạch trùng lặp</a:t>
            </a:r>
          </a:p>
          <a:p>
            <a:pPr algn="l">
              <a:lnSpc>
                <a:spcPts val="3117"/>
              </a:lnSpc>
              <a:spcBef>
                <a:spcPct val="0"/>
              </a:spcBef>
            </a:pPr>
            <a:r>
              <a:rPr lang="en-US" sz="2227">
                <a:solidFill>
                  <a:srgbClr val="FFFFFF"/>
                </a:solidFill>
                <a:latin typeface="Arial MT Pro"/>
                <a:ea typeface="Arial MT Pro"/>
                <a:cs typeface="Arial MT Pro"/>
                <a:sym typeface="Arial MT Pro"/>
              </a:rPr>
              <a:t>Sử dụng drop_duplicates() loại bỏ toàn bộ đơn hàng lặp để tránh nhiễu mô hình.</a:t>
            </a:r>
          </a:p>
          <a:p>
            <a:pPr algn="l">
              <a:lnSpc>
                <a:spcPts val="3117"/>
              </a:lnSpc>
              <a:spcBef>
                <a:spcPct val="0"/>
              </a:spcBef>
            </a:pPr>
          </a:p>
        </p:txBody>
      </p:sp>
      <p:grpSp>
        <p:nvGrpSpPr>
          <p:cNvPr name="Group 11" id="11"/>
          <p:cNvGrpSpPr/>
          <p:nvPr/>
        </p:nvGrpSpPr>
        <p:grpSpPr>
          <a:xfrm rot="0">
            <a:off x="1795032" y="5794692"/>
            <a:ext cx="15095467" cy="3463608"/>
            <a:chOff x="0" y="0"/>
            <a:chExt cx="3975761" cy="912226"/>
          </a:xfrm>
        </p:grpSpPr>
        <p:sp>
          <p:nvSpPr>
            <p:cNvPr name="Freeform 12" id="12"/>
            <p:cNvSpPr/>
            <p:nvPr/>
          </p:nvSpPr>
          <p:spPr>
            <a:xfrm flipH="false" flipV="false" rot="0">
              <a:off x="0" y="0"/>
              <a:ext cx="3975761" cy="912226"/>
            </a:xfrm>
            <a:custGeom>
              <a:avLst/>
              <a:gdLst/>
              <a:ahLst/>
              <a:cxnLst/>
              <a:rect r="r" b="b" t="t" l="l"/>
              <a:pathLst>
                <a:path h="912226" w="3975761">
                  <a:moveTo>
                    <a:pt x="14360" y="0"/>
                  </a:moveTo>
                  <a:lnTo>
                    <a:pt x="3961400" y="0"/>
                  </a:lnTo>
                  <a:cubicBezTo>
                    <a:pt x="3969331" y="0"/>
                    <a:pt x="3975761" y="6429"/>
                    <a:pt x="3975761" y="14360"/>
                  </a:cubicBezTo>
                  <a:lnTo>
                    <a:pt x="3975761" y="897866"/>
                  </a:lnTo>
                  <a:cubicBezTo>
                    <a:pt x="3975761" y="905797"/>
                    <a:pt x="3969331" y="912226"/>
                    <a:pt x="3961400" y="912226"/>
                  </a:cubicBezTo>
                  <a:lnTo>
                    <a:pt x="14360" y="912226"/>
                  </a:lnTo>
                  <a:cubicBezTo>
                    <a:pt x="6429" y="912226"/>
                    <a:pt x="0" y="905797"/>
                    <a:pt x="0" y="897866"/>
                  </a:cubicBezTo>
                  <a:lnTo>
                    <a:pt x="0" y="14360"/>
                  </a:lnTo>
                  <a:cubicBezTo>
                    <a:pt x="0" y="6429"/>
                    <a:pt x="6429" y="0"/>
                    <a:pt x="14360" y="0"/>
                  </a:cubicBezTo>
                  <a:close/>
                </a:path>
              </a:pathLst>
            </a:custGeom>
            <a:gradFill rotWithShape="true">
              <a:gsLst>
                <a:gs pos="0">
                  <a:srgbClr val="0C4A5B">
                    <a:alpha val="100000"/>
                  </a:srgbClr>
                </a:gs>
                <a:gs pos="100000">
                  <a:srgbClr val="27DDDF">
                    <a:alpha val="100000"/>
                  </a:srgbClr>
                </a:gs>
              </a:gsLst>
              <a:lin ang="2700000"/>
            </a:gradFill>
          </p:spPr>
        </p:sp>
        <p:sp>
          <p:nvSpPr>
            <p:cNvPr name="TextBox 13" id="13"/>
            <p:cNvSpPr txBox="true"/>
            <p:nvPr/>
          </p:nvSpPr>
          <p:spPr>
            <a:xfrm>
              <a:off x="0" y="19050"/>
              <a:ext cx="3975761" cy="893176"/>
            </a:xfrm>
            <a:prstGeom prst="rect">
              <a:avLst/>
            </a:prstGeom>
          </p:spPr>
          <p:txBody>
            <a:bodyPr anchor="ctr" rtlCol="false" tIns="50800" lIns="50800" bIns="50800" rIns="50800"/>
            <a:lstStyle/>
            <a:p>
              <a:pPr algn="ctr">
                <a:lnSpc>
                  <a:spcPts val="1387"/>
                </a:lnSpc>
              </a:pPr>
            </a:p>
          </p:txBody>
        </p:sp>
      </p:gr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6101735" y="885825"/>
            <a:ext cx="6845498" cy="1938953"/>
          </a:xfrm>
          <a:prstGeom prst="rect">
            <a:avLst/>
          </a:prstGeom>
        </p:spPr>
        <p:txBody>
          <a:bodyPr anchor="t" rtlCol="false" tIns="0" lIns="0" bIns="0" rIns="0">
            <a:spAutoFit/>
          </a:bodyPr>
          <a:lstStyle/>
          <a:p>
            <a:pPr algn="l" marL="763909" indent="-381954" lvl="1">
              <a:lnSpc>
                <a:spcPts val="4953"/>
              </a:lnSpc>
              <a:spcBef>
                <a:spcPct val="0"/>
              </a:spcBef>
              <a:buAutoNum type="arabicPeriod" startAt="1"/>
            </a:pPr>
            <a:r>
              <a:rPr lang="en-US" b="true" sz="3538" spc="-88">
                <a:solidFill>
                  <a:srgbClr val="FFFFFF"/>
                </a:solidFill>
                <a:latin typeface="Arial MT Pro Bold"/>
                <a:ea typeface="Arial MT Pro Bold"/>
                <a:cs typeface="Arial MT Pro Bold"/>
                <a:sym typeface="Arial MT Pro Bold"/>
              </a:rPr>
              <a:t>Hợp</a:t>
            </a:r>
            <a:r>
              <a:rPr lang="en-US" b="true" sz="3538" spc="-88">
                <a:solidFill>
                  <a:srgbClr val="FFFFFF"/>
                </a:solidFill>
                <a:latin typeface="Arial MT Pro Bold"/>
                <a:ea typeface="Arial MT Pro Bold"/>
                <a:cs typeface="Arial MT Pro Bold"/>
                <a:sym typeface="Arial MT Pro Bold"/>
              </a:rPr>
              <a:t> nhất toàn diện &amp; Kết quả</a:t>
            </a:r>
          </a:p>
          <a:p>
            <a:pPr algn="ctr">
              <a:lnSpc>
                <a:spcPts val="4953"/>
              </a:lnSpc>
              <a:spcBef>
                <a:spcPct val="0"/>
              </a:spcBef>
            </a:pPr>
            <a:r>
              <a:rPr lang="en-US" b="true" sz="3538">
                <a:solidFill>
                  <a:srgbClr val="FFFFFF"/>
                </a:solidFill>
                <a:latin typeface="Arial MT Pro Bold"/>
                <a:ea typeface="Arial MT Pro Bold"/>
                <a:cs typeface="Arial MT Pro Bold"/>
                <a:sym typeface="Arial MT Pro Bold"/>
              </a:rPr>
              <a:t>Final Merge &amp; Deduplication</a:t>
            </a:r>
          </a:p>
          <a:p>
            <a:pPr algn="ctr">
              <a:lnSpc>
                <a:spcPts val="4953"/>
              </a:lnSpc>
              <a:spcBef>
                <a:spcPct val="0"/>
              </a:spcBef>
            </a:pPr>
          </a:p>
        </p:txBody>
      </p:sp>
      <p:sp>
        <p:nvSpPr>
          <p:cNvPr name="TextBox 16" id="16"/>
          <p:cNvSpPr txBox="true"/>
          <p:nvPr/>
        </p:nvSpPr>
        <p:spPr>
          <a:xfrm rot="0">
            <a:off x="5389824" y="5859373"/>
            <a:ext cx="6616599" cy="646806"/>
          </a:xfrm>
          <a:prstGeom prst="rect">
            <a:avLst/>
          </a:prstGeom>
        </p:spPr>
        <p:txBody>
          <a:bodyPr anchor="t" rtlCol="false" tIns="0" lIns="0" bIns="0" rIns="0">
            <a:spAutoFit/>
          </a:bodyPr>
          <a:lstStyle/>
          <a:p>
            <a:pPr algn="ctr">
              <a:lnSpc>
                <a:spcPts val="4774"/>
              </a:lnSpc>
              <a:spcBef>
                <a:spcPct val="0"/>
              </a:spcBef>
            </a:pPr>
            <a:r>
              <a:rPr lang="en-US" b="true" sz="3410">
                <a:solidFill>
                  <a:srgbClr val="FFFFFF"/>
                </a:solidFill>
                <a:latin typeface="Arial MT Pro Bold"/>
                <a:ea typeface="Arial MT Pro Bold"/>
                <a:cs typeface="Arial MT Pro Bold"/>
                <a:sym typeface="Arial MT Pro Bold"/>
              </a:rPr>
              <a:t>Kết Quả Tiề</a:t>
            </a:r>
            <a:r>
              <a:rPr lang="en-US" b="true" sz="3410">
                <a:solidFill>
                  <a:srgbClr val="FFFFFF"/>
                </a:solidFill>
                <a:latin typeface="Arial MT Pro Bold"/>
                <a:ea typeface="Arial MT Pro Bold"/>
                <a:cs typeface="Arial MT Pro Bold"/>
                <a:sym typeface="Arial MT Pro Bold"/>
              </a:rPr>
              <a:t>n Xử Lý Sẵn Sàng</a:t>
            </a:r>
          </a:p>
        </p:txBody>
      </p:sp>
      <p:grpSp>
        <p:nvGrpSpPr>
          <p:cNvPr name="Group 17" id="17"/>
          <p:cNvGrpSpPr/>
          <p:nvPr/>
        </p:nvGrpSpPr>
        <p:grpSpPr>
          <a:xfrm rot="0">
            <a:off x="2546649" y="6861348"/>
            <a:ext cx="2843174" cy="1786277"/>
            <a:chOff x="0" y="0"/>
            <a:chExt cx="748820" cy="470460"/>
          </a:xfrm>
        </p:grpSpPr>
        <p:sp>
          <p:nvSpPr>
            <p:cNvPr name="Freeform 18" id="18"/>
            <p:cNvSpPr/>
            <p:nvPr/>
          </p:nvSpPr>
          <p:spPr>
            <a:xfrm flipH="false" flipV="false" rot="0">
              <a:off x="0" y="0"/>
              <a:ext cx="748820" cy="470460"/>
            </a:xfrm>
            <a:custGeom>
              <a:avLst/>
              <a:gdLst/>
              <a:ahLst/>
              <a:cxnLst/>
              <a:rect r="r" b="b" t="t" l="l"/>
              <a:pathLst>
                <a:path h="470460" w="748820">
                  <a:moveTo>
                    <a:pt x="76244" y="0"/>
                  </a:moveTo>
                  <a:lnTo>
                    <a:pt x="672576" y="0"/>
                  </a:lnTo>
                  <a:cubicBezTo>
                    <a:pt x="714684" y="0"/>
                    <a:pt x="748820" y="34135"/>
                    <a:pt x="748820" y="76244"/>
                  </a:cubicBezTo>
                  <a:lnTo>
                    <a:pt x="748820" y="394216"/>
                  </a:lnTo>
                  <a:cubicBezTo>
                    <a:pt x="748820" y="436324"/>
                    <a:pt x="714684" y="470460"/>
                    <a:pt x="672576" y="470460"/>
                  </a:cubicBezTo>
                  <a:lnTo>
                    <a:pt x="76244" y="470460"/>
                  </a:lnTo>
                  <a:cubicBezTo>
                    <a:pt x="34135" y="470460"/>
                    <a:pt x="0" y="436324"/>
                    <a:pt x="0" y="394216"/>
                  </a:cubicBezTo>
                  <a:lnTo>
                    <a:pt x="0" y="76244"/>
                  </a:lnTo>
                  <a:cubicBezTo>
                    <a:pt x="0" y="34135"/>
                    <a:pt x="34135" y="0"/>
                    <a:pt x="76244" y="0"/>
                  </a:cubicBezTo>
                  <a:close/>
                </a:path>
              </a:pathLst>
            </a:custGeom>
            <a:gradFill rotWithShape="true">
              <a:gsLst>
                <a:gs pos="0">
                  <a:srgbClr val="D0D9EF">
                    <a:alpha val="38000"/>
                  </a:srgbClr>
                </a:gs>
                <a:gs pos="100000">
                  <a:srgbClr val="AFB1B6">
                    <a:alpha val="41500"/>
                  </a:srgbClr>
                </a:gs>
              </a:gsLst>
              <a:lin ang="5400000"/>
            </a:gradFill>
          </p:spPr>
        </p:sp>
        <p:sp>
          <p:nvSpPr>
            <p:cNvPr name="TextBox 19" id="19"/>
            <p:cNvSpPr txBox="true"/>
            <p:nvPr/>
          </p:nvSpPr>
          <p:spPr>
            <a:xfrm>
              <a:off x="0" y="19050"/>
              <a:ext cx="748820" cy="451410"/>
            </a:xfrm>
            <a:prstGeom prst="rect">
              <a:avLst/>
            </a:prstGeom>
          </p:spPr>
          <p:txBody>
            <a:bodyPr anchor="ctr" rtlCol="false" tIns="50800" lIns="50800" bIns="50800" rIns="50800"/>
            <a:lstStyle/>
            <a:p>
              <a:pPr algn="ctr">
                <a:lnSpc>
                  <a:spcPts val="1827"/>
                </a:lnSpc>
              </a:pPr>
              <a:r>
                <a:rPr lang="en-US" sz="2076">
                  <a:solidFill>
                    <a:srgbClr val="FFFFFF"/>
                  </a:solidFill>
                  <a:latin typeface="Arial MT Pro"/>
                  <a:ea typeface="Arial MT Pro"/>
                  <a:cs typeface="Arial MT Pro"/>
                  <a:sym typeface="Arial MT Pro"/>
                </a:rPr>
                <a:t>Kích thước dữ liệu</a:t>
              </a:r>
            </a:p>
            <a:p>
              <a:pPr algn="ctr">
                <a:lnSpc>
                  <a:spcPts val="1827"/>
                </a:lnSpc>
              </a:pPr>
            </a:p>
            <a:p>
              <a:pPr algn="ctr">
                <a:lnSpc>
                  <a:spcPts val="2003"/>
                </a:lnSpc>
              </a:pPr>
              <a:r>
                <a:rPr lang="en-US" sz="2276">
                  <a:solidFill>
                    <a:srgbClr val="FFFFFF"/>
                  </a:solidFill>
                  <a:latin typeface="Arial MT Pro"/>
                  <a:ea typeface="Arial MT Pro"/>
                  <a:cs typeface="Arial MT Pro"/>
                  <a:sym typeface="Arial MT Pro"/>
                </a:rPr>
                <a:t>94.504 Dòng</a:t>
              </a:r>
            </a:p>
            <a:p>
              <a:pPr algn="ctr">
                <a:lnSpc>
                  <a:spcPts val="2003"/>
                </a:lnSpc>
              </a:pPr>
            </a:p>
            <a:p>
              <a:pPr algn="ctr">
                <a:lnSpc>
                  <a:spcPts val="1563"/>
                </a:lnSpc>
              </a:pPr>
              <a:r>
                <a:rPr lang="en-US" sz="1776">
                  <a:solidFill>
                    <a:srgbClr val="FFFFFF"/>
                  </a:solidFill>
                  <a:latin typeface="Arial MT Pro"/>
                  <a:ea typeface="Arial MT Pro"/>
                  <a:cs typeface="Arial MT Pro"/>
                  <a:sym typeface="Arial MT Pro"/>
                </a:rPr>
                <a:t>Sau drop NaN từ</a:t>
              </a:r>
            </a:p>
            <a:p>
              <a:pPr algn="ctr">
                <a:lnSpc>
                  <a:spcPts val="1563"/>
                </a:lnSpc>
              </a:pPr>
              <a:r>
                <a:rPr lang="en-US" sz="1776">
                  <a:solidFill>
                    <a:srgbClr val="FFFFFF"/>
                  </a:solidFill>
                  <a:latin typeface="Arial MT Pro"/>
                  <a:ea typeface="Arial MT Pro"/>
                  <a:cs typeface="Arial MT Pro"/>
                  <a:sym typeface="Arial MT Pro"/>
                </a:rPr>
                <a:t>98.673 dòng gốc</a:t>
              </a:r>
            </a:p>
            <a:p>
              <a:pPr algn="ctr">
                <a:lnSpc>
                  <a:spcPts val="1563"/>
                </a:lnSpc>
              </a:pPr>
            </a:p>
          </p:txBody>
        </p:sp>
      </p:grpSp>
      <p:grpSp>
        <p:nvGrpSpPr>
          <p:cNvPr name="Group 20" id="20"/>
          <p:cNvGrpSpPr/>
          <p:nvPr/>
        </p:nvGrpSpPr>
        <p:grpSpPr>
          <a:xfrm rot="0">
            <a:off x="6198507" y="6861348"/>
            <a:ext cx="2843174" cy="1786277"/>
            <a:chOff x="0" y="0"/>
            <a:chExt cx="748820" cy="470460"/>
          </a:xfrm>
        </p:grpSpPr>
        <p:sp>
          <p:nvSpPr>
            <p:cNvPr name="Freeform 21" id="21"/>
            <p:cNvSpPr/>
            <p:nvPr/>
          </p:nvSpPr>
          <p:spPr>
            <a:xfrm flipH="false" flipV="false" rot="0">
              <a:off x="0" y="0"/>
              <a:ext cx="748820" cy="470460"/>
            </a:xfrm>
            <a:custGeom>
              <a:avLst/>
              <a:gdLst/>
              <a:ahLst/>
              <a:cxnLst/>
              <a:rect r="r" b="b" t="t" l="l"/>
              <a:pathLst>
                <a:path h="470460" w="748820">
                  <a:moveTo>
                    <a:pt x="76244" y="0"/>
                  </a:moveTo>
                  <a:lnTo>
                    <a:pt x="672576" y="0"/>
                  </a:lnTo>
                  <a:cubicBezTo>
                    <a:pt x="714684" y="0"/>
                    <a:pt x="748820" y="34135"/>
                    <a:pt x="748820" y="76244"/>
                  </a:cubicBezTo>
                  <a:lnTo>
                    <a:pt x="748820" y="394216"/>
                  </a:lnTo>
                  <a:cubicBezTo>
                    <a:pt x="748820" y="436324"/>
                    <a:pt x="714684" y="470460"/>
                    <a:pt x="672576" y="470460"/>
                  </a:cubicBezTo>
                  <a:lnTo>
                    <a:pt x="76244" y="470460"/>
                  </a:lnTo>
                  <a:cubicBezTo>
                    <a:pt x="34135" y="470460"/>
                    <a:pt x="0" y="436324"/>
                    <a:pt x="0" y="394216"/>
                  </a:cubicBezTo>
                  <a:lnTo>
                    <a:pt x="0" y="76244"/>
                  </a:lnTo>
                  <a:cubicBezTo>
                    <a:pt x="0" y="34135"/>
                    <a:pt x="34135" y="0"/>
                    <a:pt x="76244" y="0"/>
                  </a:cubicBezTo>
                  <a:close/>
                </a:path>
              </a:pathLst>
            </a:custGeom>
            <a:gradFill rotWithShape="true">
              <a:gsLst>
                <a:gs pos="0">
                  <a:srgbClr val="D0D9EF">
                    <a:alpha val="35500"/>
                  </a:srgbClr>
                </a:gs>
                <a:gs pos="100000">
                  <a:srgbClr val="AFB1B6">
                    <a:alpha val="36000"/>
                  </a:srgbClr>
                </a:gs>
              </a:gsLst>
              <a:lin ang="5400000"/>
            </a:gradFill>
          </p:spPr>
        </p:sp>
        <p:sp>
          <p:nvSpPr>
            <p:cNvPr name="TextBox 22" id="22"/>
            <p:cNvSpPr txBox="true"/>
            <p:nvPr/>
          </p:nvSpPr>
          <p:spPr>
            <a:xfrm>
              <a:off x="0" y="19050"/>
              <a:ext cx="748820" cy="451410"/>
            </a:xfrm>
            <a:prstGeom prst="rect">
              <a:avLst/>
            </a:prstGeom>
          </p:spPr>
          <p:txBody>
            <a:bodyPr anchor="ctr" rtlCol="false" tIns="50800" lIns="50800" bIns="50800" rIns="50800"/>
            <a:lstStyle/>
            <a:p>
              <a:pPr algn="ctr">
                <a:lnSpc>
                  <a:spcPts val="1827"/>
                </a:lnSpc>
              </a:pPr>
              <a:r>
                <a:rPr lang="en-US" sz="2076">
                  <a:solidFill>
                    <a:srgbClr val="FFFFFF"/>
                  </a:solidFill>
                  <a:latin typeface="Arial MT Pro"/>
                  <a:ea typeface="Arial MT Pro"/>
                  <a:cs typeface="Arial MT Pro"/>
                  <a:sym typeface="Arial MT Pro"/>
                </a:rPr>
                <a:t>Số features</a:t>
              </a:r>
            </a:p>
            <a:p>
              <a:pPr algn="ctr">
                <a:lnSpc>
                  <a:spcPts val="1827"/>
                </a:lnSpc>
              </a:pPr>
            </a:p>
            <a:p>
              <a:pPr algn="ctr">
                <a:lnSpc>
                  <a:spcPts val="2003"/>
                </a:lnSpc>
              </a:pPr>
              <a:r>
                <a:rPr lang="en-US" sz="2276">
                  <a:solidFill>
                    <a:srgbClr val="FFFFFF"/>
                  </a:solidFill>
                  <a:latin typeface="Arial MT Pro"/>
                  <a:ea typeface="Arial MT Pro"/>
                  <a:cs typeface="Arial MT Pro"/>
                  <a:sym typeface="Arial MT Pro"/>
                </a:rPr>
                <a:t>1</a:t>
              </a:r>
              <a:r>
                <a:rPr lang="en-US" sz="2276">
                  <a:solidFill>
                    <a:srgbClr val="FFFFFF"/>
                  </a:solidFill>
                  <a:latin typeface="Arial MT Pro"/>
                  <a:ea typeface="Arial MT Pro"/>
                  <a:cs typeface="Arial MT Pro"/>
                  <a:sym typeface="Arial MT Pro"/>
                </a:rPr>
                <a:t>4</a:t>
              </a:r>
            </a:p>
            <a:p>
              <a:pPr algn="ctr">
                <a:lnSpc>
                  <a:spcPts val="2003"/>
                </a:lnSpc>
              </a:pPr>
            </a:p>
            <a:p>
              <a:pPr algn="ctr">
                <a:lnSpc>
                  <a:spcPts val="1563"/>
                </a:lnSpc>
              </a:pPr>
              <a:r>
                <a:rPr lang="en-US" sz="1776">
                  <a:solidFill>
                    <a:srgbClr val="FFFFFF"/>
                  </a:solidFill>
                  <a:latin typeface="Arial MT Pro"/>
                  <a:ea typeface="Arial MT Pro"/>
                  <a:cs typeface="Arial MT Pro"/>
                  <a:sym typeface="Arial MT Pro"/>
                </a:rPr>
                <a:t>Chọn</a:t>
              </a:r>
              <a:r>
                <a:rPr lang="en-US" sz="1776">
                  <a:solidFill>
                    <a:srgbClr val="FFFFFF"/>
                  </a:solidFill>
                  <a:latin typeface="Arial MT Pro"/>
                  <a:ea typeface="Arial MT Pro"/>
                  <a:cs typeface="Arial MT Pro"/>
                  <a:sym typeface="Arial MT Pro"/>
                </a:rPr>
                <a:t> lọc từ 27 thuộc tính</a:t>
              </a:r>
            </a:p>
            <a:p>
              <a:pPr algn="ctr">
                <a:lnSpc>
                  <a:spcPts val="1563"/>
                </a:lnSpc>
              </a:pPr>
              <a:r>
                <a:rPr lang="en-US" sz="1776">
                  <a:solidFill>
                    <a:srgbClr val="FFFFFF"/>
                  </a:solidFill>
                  <a:latin typeface="Arial MT Pro"/>
                  <a:ea typeface="Arial MT Pro"/>
                  <a:cs typeface="Arial MT Pro"/>
                  <a:sym typeface="Arial MT Pro"/>
                </a:rPr>
                <a:t>gốc của 6 bảng</a:t>
              </a:r>
            </a:p>
            <a:p>
              <a:pPr algn="ctr">
                <a:lnSpc>
                  <a:spcPts val="1563"/>
                </a:lnSpc>
              </a:pPr>
            </a:p>
          </p:txBody>
        </p:sp>
      </p:grpSp>
      <p:grpSp>
        <p:nvGrpSpPr>
          <p:cNvPr name="Group 23" id="23"/>
          <p:cNvGrpSpPr/>
          <p:nvPr/>
        </p:nvGrpSpPr>
        <p:grpSpPr>
          <a:xfrm rot="0">
            <a:off x="9850365" y="6868544"/>
            <a:ext cx="2843174" cy="1786277"/>
            <a:chOff x="0" y="0"/>
            <a:chExt cx="748820" cy="470460"/>
          </a:xfrm>
        </p:grpSpPr>
        <p:sp>
          <p:nvSpPr>
            <p:cNvPr name="Freeform 24" id="24"/>
            <p:cNvSpPr/>
            <p:nvPr/>
          </p:nvSpPr>
          <p:spPr>
            <a:xfrm flipH="false" flipV="false" rot="0">
              <a:off x="0" y="0"/>
              <a:ext cx="748820" cy="470460"/>
            </a:xfrm>
            <a:custGeom>
              <a:avLst/>
              <a:gdLst/>
              <a:ahLst/>
              <a:cxnLst/>
              <a:rect r="r" b="b" t="t" l="l"/>
              <a:pathLst>
                <a:path h="470460" w="748820">
                  <a:moveTo>
                    <a:pt x="76244" y="0"/>
                  </a:moveTo>
                  <a:lnTo>
                    <a:pt x="672576" y="0"/>
                  </a:lnTo>
                  <a:cubicBezTo>
                    <a:pt x="714684" y="0"/>
                    <a:pt x="748820" y="34135"/>
                    <a:pt x="748820" y="76244"/>
                  </a:cubicBezTo>
                  <a:lnTo>
                    <a:pt x="748820" y="394216"/>
                  </a:lnTo>
                  <a:cubicBezTo>
                    <a:pt x="748820" y="436324"/>
                    <a:pt x="714684" y="470460"/>
                    <a:pt x="672576" y="470460"/>
                  </a:cubicBezTo>
                  <a:lnTo>
                    <a:pt x="76244" y="470460"/>
                  </a:lnTo>
                  <a:cubicBezTo>
                    <a:pt x="34135" y="470460"/>
                    <a:pt x="0" y="436324"/>
                    <a:pt x="0" y="394216"/>
                  </a:cubicBezTo>
                  <a:lnTo>
                    <a:pt x="0" y="76244"/>
                  </a:lnTo>
                  <a:cubicBezTo>
                    <a:pt x="0" y="34135"/>
                    <a:pt x="34135" y="0"/>
                    <a:pt x="76244" y="0"/>
                  </a:cubicBezTo>
                  <a:close/>
                </a:path>
              </a:pathLst>
            </a:custGeom>
            <a:gradFill rotWithShape="true">
              <a:gsLst>
                <a:gs pos="0">
                  <a:srgbClr val="D0D9EF">
                    <a:alpha val="37000"/>
                  </a:srgbClr>
                </a:gs>
                <a:gs pos="100000">
                  <a:srgbClr val="AFB1B6">
                    <a:alpha val="39500"/>
                  </a:srgbClr>
                </a:gs>
              </a:gsLst>
              <a:lin ang="5400000"/>
            </a:gradFill>
          </p:spPr>
        </p:sp>
        <p:sp>
          <p:nvSpPr>
            <p:cNvPr name="TextBox 25" id="25"/>
            <p:cNvSpPr txBox="true"/>
            <p:nvPr/>
          </p:nvSpPr>
          <p:spPr>
            <a:xfrm>
              <a:off x="0" y="19050"/>
              <a:ext cx="748820" cy="451410"/>
            </a:xfrm>
            <a:prstGeom prst="rect">
              <a:avLst/>
            </a:prstGeom>
          </p:spPr>
          <p:txBody>
            <a:bodyPr anchor="ctr" rtlCol="false" tIns="50800" lIns="50800" bIns="50800" rIns="50800"/>
            <a:lstStyle/>
            <a:p>
              <a:pPr algn="ctr">
                <a:lnSpc>
                  <a:spcPts val="1827"/>
                </a:lnSpc>
              </a:pPr>
              <a:r>
                <a:rPr lang="en-US" sz="2076">
                  <a:solidFill>
                    <a:srgbClr val="FFFFFF"/>
                  </a:solidFill>
                  <a:latin typeface="Arial MT Pro"/>
                  <a:ea typeface="Arial MT Pro"/>
                  <a:cs typeface="Arial MT Pro"/>
                  <a:sym typeface="Arial MT Pro"/>
                </a:rPr>
                <a:t>Train Set (80%)</a:t>
              </a:r>
            </a:p>
            <a:p>
              <a:pPr algn="ctr">
                <a:lnSpc>
                  <a:spcPts val="1827"/>
                </a:lnSpc>
              </a:pPr>
            </a:p>
            <a:p>
              <a:pPr algn="ctr">
                <a:lnSpc>
                  <a:spcPts val="2003"/>
                </a:lnSpc>
              </a:pPr>
              <a:r>
                <a:rPr lang="en-US" sz="2276">
                  <a:solidFill>
                    <a:srgbClr val="FFFFFF"/>
                  </a:solidFill>
                  <a:latin typeface="Arial MT Pro"/>
                  <a:ea typeface="Arial MT Pro"/>
                  <a:cs typeface="Arial MT Pro"/>
                  <a:sym typeface="Arial MT Pro"/>
                </a:rPr>
                <a:t>75</a:t>
              </a:r>
              <a:r>
                <a:rPr lang="en-US" sz="2276">
                  <a:solidFill>
                    <a:srgbClr val="FFFFFF"/>
                  </a:solidFill>
                  <a:latin typeface="Arial MT Pro"/>
                  <a:ea typeface="Arial MT Pro"/>
                  <a:cs typeface="Arial MT Pro"/>
                  <a:sym typeface="Arial MT Pro"/>
                </a:rPr>
                <a:t>.603 Mẫu</a:t>
              </a:r>
            </a:p>
            <a:p>
              <a:pPr algn="ctr">
                <a:lnSpc>
                  <a:spcPts val="2003"/>
                </a:lnSpc>
              </a:pPr>
            </a:p>
            <a:p>
              <a:pPr algn="ctr">
                <a:lnSpc>
                  <a:spcPts val="1563"/>
                </a:lnSpc>
              </a:pPr>
              <a:r>
                <a:rPr lang="en-US" sz="1776">
                  <a:solidFill>
                    <a:srgbClr val="FFFFFF"/>
                  </a:solidFill>
                  <a:latin typeface="Arial MT Pro"/>
                  <a:ea typeface="Arial MT Pro"/>
                  <a:cs typeface="Arial MT Pro"/>
                  <a:sym typeface="Arial MT Pro"/>
                </a:rPr>
                <a:t>Stratified split</a:t>
              </a:r>
            </a:p>
            <a:p>
              <a:pPr algn="ctr">
                <a:lnSpc>
                  <a:spcPts val="1563"/>
                </a:lnSpc>
              </a:pPr>
              <a:r>
                <a:rPr lang="en-US" sz="1776">
                  <a:solidFill>
                    <a:srgbClr val="FFFFFF"/>
                  </a:solidFill>
                  <a:latin typeface="Arial MT Pro"/>
                  <a:ea typeface="Arial MT Pro"/>
                  <a:cs typeface="Arial MT Pro"/>
                  <a:sym typeface="Arial MT Pro"/>
                </a:rPr>
                <a:t>random_state = 42</a:t>
              </a:r>
            </a:p>
            <a:p>
              <a:pPr algn="ctr">
                <a:lnSpc>
                  <a:spcPts val="1563"/>
                </a:lnSpc>
              </a:pPr>
            </a:p>
          </p:txBody>
        </p:sp>
      </p:grpSp>
      <p:grpSp>
        <p:nvGrpSpPr>
          <p:cNvPr name="Group 26" id="26"/>
          <p:cNvGrpSpPr/>
          <p:nvPr/>
        </p:nvGrpSpPr>
        <p:grpSpPr>
          <a:xfrm rot="0">
            <a:off x="13503164" y="6861348"/>
            <a:ext cx="2843174" cy="1786277"/>
            <a:chOff x="0" y="0"/>
            <a:chExt cx="748820" cy="470460"/>
          </a:xfrm>
        </p:grpSpPr>
        <p:sp>
          <p:nvSpPr>
            <p:cNvPr name="Freeform 27" id="27"/>
            <p:cNvSpPr/>
            <p:nvPr/>
          </p:nvSpPr>
          <p:spPr>
            <a:xfrm flipH="false" flipV="false" rot="0">
              <a:off x="0" y="0"/>
              <a:ext cx="748820" cy="470460"/>
            </a:xfrm>
            <a:custGeom>
              <a:avLst/>
              <a:gdLst/>
              <a:ahLst/>
              <a:cxnLst/>
              <a:rect r="r" b="b" t="t" l="l"/>
              <a:pathLst>
                <a:path h="470460" w="748820">
                  <a:moveTo>
                    <a:pt x="76244" y="0"/>
                  </a:moveTo>
                  <a:lnTo>
                    <a:pt x="672576" y="0"/>
                  </a:lnTo>
                  <a:cubicBezTo>
                    <a:pt x="714684" y="0"/>
                    <a:pt x="748820" y="34135"/>
                    <a:pt x="748820" y="76244"/>
                  </a:cubicBezTo>
                  <a:lnTo>
                    <a:pt x="748820" y="394216"/>
                  </a:lnTo>
                  <a:cubicBezTo>
                    <a:pt x="748820" y="436324"/>
                    <a:pt x="714684" y="470460"/>
                    <a:pt x="672576" y="470460"/>
                  </a:cubicBezTo>
                  <a:lnTo>
                    <a:pt x="76244" y="470460"/>
                  </a:lnTo>
                  <a:cubicBezTo>
                    <a:pt x="34135" y="470460"/>
                    <a:pt x="0" y="436324"/>
                    <a:pt x="0" y="394216"/>
                  </a:cubicBezTo>
                  <a:lnTo>
                    <a:pt x="0" y="76244"/>
                  </a:lnTo>
                  <a:cubicBezTo>
                    <a:pt x="0" y="34135"/>
                    <a:pt x="34135" y="0"/>
                    <a:pt x="76244" y="0"/>
                  </a:cubicBezTo>
                  <a:close/>
                </a:path>
              </a:pathLst>
            </a:custGeom>
            <a:gradFill rotWithShape="true">
              <a:gsLst>
                <a:gs pos="0">
                  <a:srgbClr val="D0D9EF">
                    <a:alpha val="45500"/>
                  </a:srgbClr>
                </a:gs>
                <a:gs pos="100000">
                  <a:srgbClr val="AFB1B6">
                    <a:alpha val="39000"/>
                  </a:srgbClr>
                </a:gs>
              </a:gsLst>
              <a:lin ang="5400000"/>
            </a:gradFill>
          </p:spPr>
        </p:sp>
        <p:sp>
          <p:nvSpPr>
            <p:cNvPr name="TextBox 28" id="28"/>
            <p:cNvSpPr txBox="true"/>
            <p:nvPr/>
          </p:nvSpPr>
          <p:spPr>
            <a:xfrm>
              <a:off x="0" y="19050"/>
              <a:ext cx="748820" cy="451410"/>
            </a:xfrm>
            <a:prstGeom prst="rect">
              <a:avLst/>
            </a:prstGeom>
          </p:spPr>
          <p:txBody>
            <a:bodyPr anchor="ctr" rtlCol="false" tIns="50800" lIns="50800" bIns="50800" rIns="50800"/>
            <a:lstStyle/>
            <a:p>
              <a:pPr algn="ctr">
                <a:lnSpc>
                  <a:spcPts val="1827"/>
                </a:lnSpc>
              </a:pPr>
              <a:r>
                <a:rPr lang="en-US" sz="2076">
                  <a:solidFill>
                    <a:srgbClr val="FFFFFF"/>
                  </a:solidFill>
                  <a:latin typeface="Arial MT Pro"/>
                  <a:ea typeface="Arial MT Pro"/>
                  <a:cs typeface="Arial MT Pro"/>
                  <a:sym typeface="Arial MT Pro"/>
                </a:rPr>
                <a:t>Test Set (20%)</a:t>
              </a:r>
            </a:p>
            <a:p>
              <a:pPr algn="ctr">
                <a:lnSpc>
                  <a:spcPts val="1827"/>
                </a:lnSpc>
              </a:pPr>
            </a:p>
            <a:p>
              <a:pPr algn="ctr">
                <a:lnSpc>
                  <a:spcPts val="2003"/>
                </a:lnSpc>
              </a:pPr>
              <a:r>
                <a:rPr lang="en-US" sz="2276" b="true">
                  <a:solidFill>
                    <a:srgbClr val="FFFFFF"/>
                  </a:solidFill>
                  <a:latin typeface="Arial MT Pro Bold"/>
                  <a:ea typeface="Arial MT Pro Bold"/>
                  <a:cs typeface="Arial MT Pro Bold"/>
                  <a:sym typeface="Arial MT Pro Bold"/>
                </a:rPr>
                <a:t>18.901 Mẫu</a:t>
              </a:r>
            </a:p>
            <a:p>
              <a:pPr algn="ctr">
                <a:lnSpc>
                  <a:spcPts val="2003"/>
                </a:lnSpc>
              </a:pPr>
            </a:p>
            <a:p>
              <a:pPr algn="ctr">
                <a:lnSpc>
                  <a:spcPts val="1563"/>
                </a:lnSpc>
              </a:pPr>
              <a:r>
                <a:rPr lang="en-US" sz="1776">
                  <a:solidFill>
                    <a:srgbClr val="FFFFFF"/>
                  </a:solidFill>
                  <a:latin typeface="Arial MT Pro"/>
                  <a:ea typeface="Arial MT Pro"/>
                  <a:cs typeface="Arial MT Pro"/>
                  <a:sym typeface="Arial MT Pro"/>
                </a:rPr>
                <a:t>Dùng</a:t>
              </a:r>
              <a:r>
                <a:rPr lang="en-US" sz="1776">
                  <a:solidFill>
                    <a:srgbClr val="FFFFFF"/>
                  </a:solidFill>
                  <a:latin typeface="Arial MT Pro"/>
                  <a:ea typeface="Arial MT Pro"/>
                  <a:cs typeface="Arial MT Pro"/>
                  <a:sym typeface="Arial MT Pro"/>
                </a:rPr>
                <a:t> đánh giá</a:t>
              </a:r>
            </a:p>
            <a:p>
              <a:pPr algn="ctr">
                <a:lnSpc>
                  <a:spcPts val="1563"/>
                </a:lnSpc>
              </a:pPr>
              <a:r>
                <a:rPr lang="en-US" sz="1776">
                  <a:solidFill>
                    <a:srgbClr val="FFFFFF"/>
                  </a:solidFill>
                  <a:latin typeface="Arial MT Pro"/>
                  <a:ea typeface="Arial MT Pro"/>
                  <a:cs typeface="Arial MT Pro"/>
                  <a:sym typeface="Arial MT Pro"/>
                </a:rPr>
                <a:t>hiệu suất mô hình</a:t>
              </a:r>
            </a:p>
            <a:p>
              <a:pPr algn="ctr">
                <a:lnSpc>
                  <a:spcPts val="1563"/>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83774">
            <a:off x="7565571" y="197405"/>
            <a:ext cx="11226909" cy="14341591"/>
            <a:chOff x="0" y="0"/>
            <a:chExt cx="2956881" cy="3777209"/>
          </a:xfrm>
        </p:grpSpPr>
        <p:sp>
          <p:nvSpPr>
            <p:cNvPr name="Freeform 5" id="5"/>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6" id="6"/>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7" id="7"/>
          <p:cNvGrpSpPr/>
          <p:nvPr/>
        </p:nvGrpSpPr>
        <p:grpSpPr>
          <a:xfrm rot="1383774">
            <a:off x="7012072" y="108644"/>
            <a:ext cx="10773748" cy="14341591"/>
            <a:chOff x="0" y="0"/>
            <a:chExt cx="2837530" cy="3777209"/>
          </a:xfrm>
        </p:grpSpPr>
        <p:sp>
          <p:nvSpPr>
            <p:cNvPr name="Freeform 8" id="8"/>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grpSp>
        <p:nvGrpSpPr>
          <p:cNvPr name="Group 11" id="11"/>
          <p:cNvGrpSpPr/>
          <p:nvPr/>
        </p:nvGrpSpPr>
        <p:grpSpPr>
          <a:xfrm rot="0">
            <a:off x="1028700" y="3407292"/>
            <a:ext cx="12501724" cy="5529907"/>
            <a:chOff x="0" y="0"/>
            <a:chExt cx="16668965" cy="7373209"/>
          </a:xfrm>
        </p:grpSpPr>
        <p:sp>
          <p:nvSpPr>
            <p:cNvPr name="TextBox 12" id="12"/>
            <p:cNvSpPr txBox="true"/>
            <p:nvPr/>
          </p:nvSpPr>
          <p:spPr>
            <a:xfrm rot="0">
              <a:off x="0" y="133350"/>
              <a:ext cx="16668965" cy="4135802"/>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Logistic Regression</a:t>
              </a:r>
            </a:p>
          </p:txBody>
        </p:sp>
        <p:sp>
          <p:nvSpPr>
            <p:cNvPr name="TextBox 13" id="13"/>
            <p:cNvSpPr txBox="true"/>
            <p:nvPr/>
          </p:nvSpPr>
          <p:spPr>
            <a:xfrm rot="0">
              <a:off x="690646" y="6878759"/>
              <a:ext cx="4403664" cy="494450"/>
            </a:xfrm>
            <a:prstGeom prst="rect">
              <a:avLst/>
            </a:prstGeom>
          </p:spPr>
          <p:txBody>
            <a:bodyPr anchor="t" rtlCol="false" tIns="0" lIns="0" bIns="0" rIns="0">
              <a:spAutoFit/>
            </a:bodyPr>
            <a:lstStyle/>
            <a:p>
              <a:pPr algn="l">
                <a:lnSpc>
                  <a:spcPts val="2306"/>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927663"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5204152" cy="998829"/>
            <a:chOff x="0" y="0"/>
            <a:chExt cx="3620172" cy="694817"/>
          </a:xfrm>
        </p:grpSpPr>
        <p:sp>
          <p:nvSpPr>
            <p:cNvPr name="Freeform 8" id="8"/>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4522583" y="5603359"/>
            <a:ext cx="2530832" cy="937345"/>
          </a:xfrm>
          <a:custGeom>
            <a:avLst/>
            <a:gdLst/>
            <a:ahLst/>
            <a:cxnLst/>
            <a:rect r="r" b="b" t="t" l="l"/>
            <a:pathLst>
              <a:path h="937345" w="2530832">
                <a:moveTo>
                  <a:pt x="0" y="0"/>
                </a:moveTo>
                <a:lnTo>
                  <a:pt x="2530832" y="0"/>
                </a:lnTo>
                <a:lnTo>
                  <a:pt x="2530832" y="937345"/>
                </a:lnTo>
                <a:lnTo>
                  <a:pt x="0" y="937345"/>
                </a:lnTo>
                <a:lnTo>
                  <a:pt x="0" y="0"/>
                </a:lnTo>
                <a:close/>
              </a:path>
            </a:pathLst>
          </a:custGeom>
          <a:blipFill>
            <a:blip r:embed="rId4"/>
            <a:stretch>
              <a:fillRect l="0" t="0" r="0" b="0"/>
            </a:stretch>
          </a:blipFill>
        </p:spPr>
      </p:sp>
      <p:sp>
        <p:nvSpPr>
          <p:cNvPr name="Freeform 11" id="11"/>
          <p:cNvSpPr/>
          <p:nvPr/>
        </p:nvSpPr>
        <p:spPr>
          <a:xfrm flipH="false" flipV="false" rot="0">
            <a:off x="9546102" y="2914176"/>
            <a:ext cx="7514456" cy="2689183"/>
          </a:xfrm>
          <a:custGeom>
            <a:avLst/>
            <a:gdLst/>
            <a:ahLst/>
            <a:cxnLst/>
            <a:rect r="r" b="b" t="t" l="l"/>
            <a:pathLst>
              <a:path h="2689183" w="7514456">
                <a:moveTo>
                  <a:pt x="0" y="0"/>
                </a:moveTo>
                <a:lnTo>
                  <a:pt x="7514455" y="0"/>
                </a:lnTo>
                <a:lnTo>
                  <a:pt x="7514455" y="2689183"/>
                </a:lnTo>
                <a:lnTo>
                  <a:pt x="0" y="2689183"/>
                </a:lnTo>
                <a:lnTo>
                  <a:pt x="0" y="0"/>
                </a:lnTo>
                <a:close/>
              </a:path>
            </a:pathLst>
          </a:custGeom>
          <a:blipFill>
            <a:blip r:embed="rId5"/>
            <a:stretch>
              <a:fillRect l="0" t="0" r="0" b="0"/>
            </a:stretch>
          </a:blipFill>
        </p:spPr>
      </p:sp>
      <p:sp>
        <p:nvSpPr>
          <p:cNvPr name="Freeform 12" id="12"/>
          <p:cNvSpPr/>
          <p:nvPr/>
        </p:nvSpPr>
        <p:spPr>
          <a:xfrm flipH="false" flipV="false" rot="0">
            <a:off x="4522583" y="7179749"/>
            <a:ext cx="2530832" cy="993843"/>
          </a:xfrm>
          <a:custGeom>
            <a:avLst/>
            <a:gdLst/>
            <a:ahLst/>
            <a:cxnLst/>
            <a:rect r="r" b="b" t="t" l="l"/>
            <a:pathLst>
              <a:path h="993843" w="2530832">
                <a:moveTo>
                  <a:pt x="0" y="0"/>
                </a:moveTo>
                <a:lnTo>
                  <a:pt x="2530832" y="0"/>
                </a:lnTo>
                <a:lnTo>
                  <a:pt x="2530832" y="993843"/>
                </a:lnTo>
                <a:lnTo>
                  <a:pt x="0" y="993843"/>
                </a:lnTo>
                <a:lnTo>
                  <a:pt x="0" y="0"/>
                </a:lnTo>
                <a:close/>
              </a:path>
            </a:pathLst>
          </a:custGeom>
          <a:blipFill>
            <a:blip r:embed="rId6"/>
            <a:stretch>
              <a:fillRect l="0" t="0" r="0" b="0"/>
            </a:stretch>
          </a:blipFill>
        </p:spPr>
      </p:sp>
      <p:sp>
        <p:nvSpPr>
          <p:cNvPr name="TextBox 13" id="13"/>
          <p:cNvSpPr txBox="true"/>
          <p:nvPr/>
        </p:nvSpPr>
        <p:spPr>
          <a:xfrm rot="0">
            <a:off x="1324347" y="2325878"/>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 Nguyên lý hoạt động</a:t>
            </a:r>
          </a:p>
        </p:txBody>
      </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956216" y="3112599"/>
            <a:ext cx="8202525" cy="2011714"/>
          </a:xfrm>
          <a:prstGeom prst="rect">
            <a:avLst/>
          </a:prstGeom>
        </p:spPr>
        <p:txBody>
          <a:bodyPr anchor="t" rtlCol="false" tIns="0" lIns="0" bIns="0" rIns="0">
            <a:spAutoFit/>
          </a:bodyPr>
          <a:lstStyle/>
          <a:p>
            <a:pPr algn="l">
              <a:lnSpc>
                <a:spcPts val="4686"/>
              </a:lnSpc>
            </a:pPr>
            <a:r>
              <a:rPr lang="en-US" sz="3347">
                <a:solidFill>
                  <a:srgbClr val="FFFFFF"/>
                </a:solidFill>
                <a:latin typeface="Arial MT Pro"/>
                <a:ea typeface="Arial MT Pro"/>
                <a:cs typeface="Arial MT Pro"/>
                <a:sym typeface="Arial MT Pro"/>
              </a:rPr>
              <a:t>Phương trình tuyến tính: dựa trên các đặc trưng đầu vào (x), trọng số (w) và độ lệch chuẩn (b): </a:t>
            </a:r>
          </a:p>
          <a:p>
            <a:pPr algn="l">
              <a:lnSpc>
                <a:spcPts val="1399"/>
              </a:lnSpc>
            </a:pPr>
          </a:p>
        </p:txBody>
      </p:sp>
      <p:sp>
        <p:nvSpPr>
          <p:cNvPr name="TextBox 16" id="16"/>
          <p:cNvSpPr txBox="true"/>
          <p:nvPr/>
        </p:nvSpPr>
        <p:spPr>
          <a:xfrm rot="0">
            <a:off x="941475" y="6561353"/>
            <a:ext cx="8202525" cy="830614"/>
          </a:xfrm>
          <a:prstGeom prst="rect">
            <a:avLst/>
          </a:prstGeom>
        </p:spPr>
        <p:txBody>
          <a:bodyPr anchor="t" rtlCol="false" tIns="0" lIns="0" bIns="0" rIns="0">
            <a:spAutoFit/>
          </a:bodyPr>
          <a:lstStyle/>
          <a:p>
            <a:pPr algn="l">
              <a:lnSpc>
                <a:spcPts val="4686"/>
              </a:lnSpc>
            </a:pPr>
            <a:r>
              <a:rPr lang="en-US" sz="3347">
                <a:solidFill>
                  <a:srgbClr val="FFFFFF"/>
                </a:solidFill>
                <a:latin typeface="Arial MT Pro"/>
                <a:ea typeface="Arial MT Pro"/>
                <a:cs typeface="Arial MT Pro"/>
                <a:sym typeface="Arial MT Pro"/>
              </a:rPr>
              <a:t>Hàm Sigmoid: </a:t>
            </a:r>
          </a:p>
          <a:p>
            <a:pPr algn="l">
              <a:lnSpc>
                <a:spcPts val="139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6216" y="2067085"/>
            <a:ext cx="5204152" cy="998829"/>
            <a:chOff x="0" y="0"/>
            <a:chExt cx="3620172" cy="694817"/>
          </a:xfrm>
        </p:grpSpPr>
        <p:sp>
          <p:nvSpPr>
            <p:cNvPr name="Freeform 5" id="5"/>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TextBox 7" id="7"/>
          <p:cNvSpPr txBox="true"/>
          <p:nvPr/>
        </p:nvSpPr>
        <p:spPr>
          <a:xfrm rot="0">
            <a:off x="1324347" y="2325878"/>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Chuẩn hóa dữ liệu</a:t>
            </a:r>
          </a:p>
        </p:txBody>
      </p:sp>
      <p:sp>
        <p:nvSpPr>
          <p:cNvPr name="TextBox 8" id="8"/>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9" id="9"/>
          <p:cNvSpPr txBox="true"/>
          <p:nvPr/>
        </p:nvSpPr>
        <p:spPr>
          <a:xfrm rot="0">
            <a:off x="4635824" y="3843667"/>
            <a:ext cx="8202525" cy="2011714"/>
          </a:xfrm>
          <a:prstGeom prst="rect">
            <a:avLst/>
          </a:prstGeom>
        </p:spPr>
        <p:txBody>
          <a:bodyPr anchor="t" rtlCol="false" tIns="0" lIns="0" bIns="0" rIns="0">
            <a:spAutoFit/>
          </a:bodyPr>
          <a:lstStyle/>
          <a:p>
            <a:pPr algn="l" marL="722694" indent="-361347" lvl="1">
              <a:lnSpc>
                <a:spcPts val="4686"/>
              </a:lnSpc>
              <a:buFont typeface="Arial"/>
              <a:buChar char="•"/>
            </a:pPr>
            <a:r>
              <a:rPr lang="en-US" sz="3347">
                <a:solidFill>
                  <a:srgbClr val="FFFFFF"/>
                </a:solidFill>
                <a:latin typeface="Arial MT Pro"/>
                <a:ea typeface="Arial MT Pro"/>
                <a:cs typeface="Arial MT Pro"/>
                <a:sym typeface="Arial MT Pro"/>
              </a:rPr>
              <a:t>Nhà 1: 50m^2, 1 phòng ngủ.</a:t>
            </a:r>
          </a:p>
          <a:p>
            <a:pPr algn="l" marL="722694" indent="-361347" lvl="1">
              <a:lnSpc>
                <a:spcPts val="4686"/>
              </a:lnSpc>
              <a:buFont typeface="Arial"/>
              <a:buChar char="•"/>
            </a:pPr>
            <a:r>
              <a:rPr lang="en-US" sz="3347">
                <a:solidFill>
                  <a:srgbClr val="FFFFFF"/>
                </a:solidFill>
                <a:latin typeface="Arial MT Pro"/>
                <a:ea typeface="Arial MT Pro"/>
                <a:cs typeface="Arial MT Pro"/>
                <a:sym typeface="Arial MT Pro"/>
              </a:rPr>
              <a:t>Nhà 2: 100m^2, 2 phòng ngủ.</a:t>
            </a:r>
          </a:p>
          <a:p>
            <a:pPr algn="l" marL="722694" indent="-361347" lvl="1">
              <a:lnSpc>
                <a:spcPts val="4686"/>
              </a:lnSpc>
              <a:buFont typeface="Arial"/>
              <a:buChar char="•"/>
            </a:pPr>
            <a:r>
              <a:rPr lang="en-US" sz="3347">
                <a:solidFill>
                  <a:srgbClr val="FFFFFF"/>
                </a:solidFill>
                <a:latin typeface="Arial MT Pro"/>
                <a:ea typeface="Arial MT Pro"/>
                <a:cs typeface="Arial MT Pro"/>
                <a:sym typeface="Arial MT Pro"/>
              </a:rPr>
              <a:t>Nhà 3: 150m^2, 3 phòng ngủ.</a:t>
            </a:r>
          </a:p>
          <a:p>
            <a:pPr algn="l">
              <a:lnSpc>
                <a:spcPts val="1399"/>
              </a:lnSpc>
            </a:pPr>
          </a:p>
        </p:txBody>
      </p:sp>
      <p:sp>
        <p:nvSpPr>
          <p:cNvPr name="TextBox 10" id="10"/>
          <p:cNvSpPr txBox="true"/>
          <p:nvPr/>
        </p:nvSpPr>
        <p:spPr>
          <a:xfrm rot="0">
            <a:off x="1028700" y="6316104"/>
            <a:ext cx="5947281" cy="1219835"/>
          </a:xfrm>
          <a:prstGeom prst="rect">
            <a:avLst/>
          </a:prstGeom>
        </p:spPr>
        <p:txBody>
          <a:bodyPr anchor="t" rtlCol="false" tIns="0" lIns="0" bIns="0" rIns="0">
            <a:spAutoFit/>
          </a:bodyPr>
          <a:lstStyle/>
          <a:p>
            <a:pPr algn="l">
              <a:lnSpc>
                <a:spcPts val="4690"/>
              </a:lnSpc>
            </a:pPr>
            <a:r>
              <a:rPr lang="en-US" sz="3350">
                <a:solidFill>
                  <a:srgbClr val="FFFFFF"/>
                </a:solidFill>
                <a:latin typeface="Arial MT Pro"/>
                <a:ea typeface="Arial MT Pro"/>
                <a:cs typeface="Arial MT Pro"/>
                <a:sym typeface="Arial MT Pro"/>
              </a:rPr>
              <a:t>Cột “Diện tích”:</a:t>
            </a:r>
          </a:p>
          <a:p>
            <a:pPr algn="l">
              <a:lnSpc>
                <a:spcPts val="4690"/>
              </a:lnSpc>
            </a:pPr>
            <a:r>
              <a:rPr lang="en-US" sz="3350">
                <a:solidFill>
                  <a:srgbClr val="FFFFFF"/>
                </a:solidFill>
                <a:latin typeface="Arial MT Pro"/>
                <a:ea typeface="Arial MT Pro"/>
                <a:cs typeface="Arial MT Pro"/>
                <a:sym typeface="Arial MT Pro"/>
              </a:rPr>
              <a:t>Dữ liệu gốc (X): [50, 100, 150]</a:t>
            </a:r>
          </a:p>
        </p:txBody>
      </p:sp>
      <p:sp>
        <p:nvSpPr>
          <p:cNvPr name="TextBox 11" id="11"/>
          <p:cNvSpPr txBox="true"/>
          <p:nvPr/>
        </p:nvSpPr>
        <p:spPr>
          <a:xfrm rot="0">
            <a:off x="9231225" y="6316104"/>
            <a:ext cx="8202525" cy="1219835"/>
          </a:xfrm>
          <a:prstGeom prst="rect">
            <a:avLst/>
          </a:prstGeom>
        </p:spPr>
        <p:txBody>
          <a:bodyPr anchor="t" rtlCol="false" tIns="0" lIns="0" bIns="0" rIns="0">
            <a:spAutoFit/>
          </a:bodyPr>
          <a:lstStyle/>
          <a:p>
            <a:pPr algn="l">
              <a:lnSpc>
                <a:spcPts val="4690"/>
              </a:lnSpc>
            </a:pPr>
            <a:r>
              <a:rPr lang="en-US" sz="3350">
                <a:solidFill>
                  <a:srgbClr val="FFFFFF"/>
                </a:solidFill>
                <a:latin typeface="Arial MT Pro"/>
                <a:ea typeface="Arial MT Pro"/>
                <a:cs typeface="Arial MT Pro"/>
                <a:sym typeface="Arial MT Pro"/>
              </a:rPr>
              <a:t>Cột “Diện tích”:</a:t>
            </a:r>
          </a:p>
          <a:p>
            <a:pPr algn="l">
              <a:lnSpc>
                <a:spcPts val="4690"/>
              </a:lnSpc>
            </a:pPr>
            <a:r>
              <a:rPr lang="en-US" sz="3350">
                <a:solidFill>
                  <a:srgbClr val="FFFFFF"/>
                </a:solidFill>
                <a:latin typeface="Arial MT Pro"/>
                <a:ea typeface="Arial MT Pro"/>
                <a:cs typeface="Arial MT Pro"/>
                <a:sym typeface="Arial MT Pro"/>
              </a:rPr>
              <a:t>Sau chuẩn hóa: [-1.22, 0, 1.22]</a:t>
            </a:r>
          </a:p>
        </p:txBody>
      </p:sp>
      <p:sp>
        <p:nvSpPr>
          <p:cNvPr name="TextBox 12" id="12"/>
          <p:cNvSpPr txBox="true"/>
          <p:nvPr/>
        </p:nvSpPr>
        <p:spPr>
          <a:xfrm rot="0">
            <a:off x="1028700" y="7576343"/>
            <a:ext cx="5947281" cy="1219835"/>
          </a:xfrm>
          <a:prstGeom prst="rect">
            <a:avLst/>
          </a:prstGeom>
        </p:spPr>
        <p:txBody>
          <a:bodyPr anchor="t" rtlCol="false" tIns="0" lIns="0" bIns="0" rIns="0">
            <a:spAutoFit/>
          </a:bodyPr>
          <a:lstStyle/>
          <a:p>
            <a:pPr algn="l">
              <a:lnSpc>
                <a:spcPts val="4690"/>
              </a:lnSpc>
            </a:pPr>
            <a:r>
              <a:rPr lang="en-US" sz="3350">
                <a:solidFill>
                  <a:srgbClr val="FFFFFF"/>
                </a:solidFill>
                <a:latin typeface="Arial MT Pro"/>
                <a:ea typeface="Arial MT Pro"/>
                <a:cs typeface="Arial MT Pro"/>
                <a:sym typeface="Arial MT Pro"/>
              </a:rPr>
              <a:t>Cột “Phòng ngủ”:</a:t>
            </a:r>
          </a:p>
          <a:p>
            <a:pPr algn="l">
              <a:lnSpc>
                <a:spcPts val="4690"/>
              </a:lnSpc>
            </a:pPr>
            <a:r>
              <a:rPr lang="en-US" sz="3350">
                <a:solidFill>
                  <a:srgbClr val="FFFFFF"/>
                </a:solidFill>
                <a:latin typeface="Arial MT Pro"/>
                <a:ea typeface="Arial MT Pro"/>
                <a:cs typeface="Arial MT Pro"/>
                <a:sym typeface="Arial MT Pro"/>
              </a:rPr>
              <a:t>Dữ liệu gốc (X): [1, 2, 3]</a:t>
            </a:r>
          </a:p>
        </p:txBody>
      </p:sp>
      <p:sp>
        <p:nvSpPr>
          <p:cNvPr name="TextBox 13" id="13"/>
          <p:cNvSpPr txBox="true"/>
          <p:nvPr/>
        </p:nvSpPr>
        <p:spPr>
          <a:xfrm rot="0">
            <a:off x="9231225" y="7576343"/>
            <a:ext cx="8202525" cy="1219835"/>
          </a:xfrm>
          <a:prstGeom prst="rect">
            <a:avLst/>
          </a:prstGeom>
        </p:spPr>
        <p:txBody>
          <a:bodyPr anchor="t" rtlCol="false" tIns="0" lIns="0" bIns="0" rIns="0">
            <a:spAutoFit/>
          </a:bodyPr>
          <a:lstStyle/>
          <a:p>
            <a:pPr algn="l">
              <a:lnSpc>
                <a:spcPts val="4690"/>
              </a:lnSpc>
            </a:pPr>
            <a:r>
              <a:rPr lang="en-US" sz="3350">
                <a:solidFill>
                  <a:srgbClr val="FFFFFF"/>
                </a:solidFill>
                <a:latin typeface="Arial MT Pro"/>
                <a:ea typeface="Arial MT Pro"/>
                <a:cs typeface="Arial MT Pro"/>
                <a:sym typeface="Arial MT Pro"/>
              </a:rPr>
              <a:t>Cột “Phòng ngủ”:</a:t>
            </a:r>
          </a:p>
          <a:p>
            <a:pPr algn="l">
              <a:lnSpc>
                <a:spcPts val="4690"/>
              </a:lnSpc>
            </a:pPr>
            <a:r>
              <a:rPr lang="en-US" sz="3350">
                <a:solidFill>
                  <a:srgbClr val="FFFFFF"/>
                </a:solidFill>
                <a:latin typeface="Arial MT Pro"/>
                <a:ea typeface="Arial MT Pro"/>
                <a:cs typeface="Arial MT Pro"/>
                <a:sym typeface="Arial MT Pro"/>
              </a:rPr>
              <a:t>Dữ liệu gốc (X): [-1.22, 0, 1.22]</a:t>
            </a:r>
          </a:p>
        </p:txBody>
      </p:sp>
      <p:sp>
        <p:nvSpPr>
          <p:cNvPr name="AutoShape 14" id="14"/>
          <p:cNvSpPr/>
          <p:nvPr/>
        </p:nvSpPr>
        <p:spPr>
          <a:xfrm>
            <a:off x="7579374" y="7618054"/>
            <a:ext cx="1032359" cy="0"/>
          </a:xfrm>
          <a:prstGeom prst="line">
            <a:avLst/>
          </a:prstGeom>
          <a:ln cap="flat" w="38100">
            <a:solidFill>
              <a:srgbClr val="FFFFFF"/>
            </a:solidFill>
            <a:prstDash val="solid"/>
            <a:headEnd type="none" len="sm" w="sm"/>
            <a:tailEnd type="triangle" len="med" w="lg"/>
          </a:ln>
        </p:spPr>
      </p:sp>
      <p:sp>
        <p:nvSpPr>
          <p:cNvPr name="TextBox 15" id="15"/>
          <p:cNvSpPr txBox="true"/>
          <p:nvPr/>
        </p:nvSpPr>
        <p:spPr>
          <a:xfrm rot="0">
            <a:off x="1074577" y="3338207"/>
            <a:ext cx="1476359" cy="629285"/>
          </a:xfrm>
          <a:prstGeom prst="rect">
            <a:avLst/>
          </a:prstGeom>
        </p:spPr>
        <p:txBody>
          <a:bodyPr anchor="t" rtlCol="false" tIns="0" lIns="0" bIns="0" rIns="0">
            <a:spAutoFit/>
          </a:bodyPr>
          <a:lstStyle/>
          <a:p>
            <a:pPr algn="l">
              <a:lnSpc>
                <a:spcPts val="4690"/>
              </a:lnSpc>
            </a:pPr>
            <a:r>
              <a:rPr lang="en-US" sz="3350">
                <a:solidFill>
                  <a:srgbClr val="FFFFFF"/>
                </a:solidFill>
                <a:latin typeface="Arial MT Pro"/>
                <a:ea typeface="Arial MT Pro"/>
                <a:cs typeface="Arial MT Pro"/>
                <a:sym typeface="Arial MT Pro"/>
              </a:rPr>
              <a:t>Ví dụ:</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6216" y="2067085"/>
            <a:ext cx="5204152" cy="998829"/>
            <a:chOff x="0" y="0"/>
            <a:chExt cx="3620172" cy="694817"/>
          </a:xfrm>
        </p:grpSpPr>
        <p:sp>
          <p:nvSpPr>
            <p:cNvPr name="Freeform 5" id="5"/>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TextBox 7" id="7"/>
          <p:cNvSpPr txBox="true"/>
          <p:nvPr/>
        </p:nvSpPr>
        <p:spPr>
          <a:xfrm rot="0">
            <a:off x="1324347" y="2325878"/>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Huấn luyện model</a:t>
            </a:r>
          </a:p>
        </p:txBody>
      </p:sp>
      <p:sp>
        <p:nvSpPr>
          <p:cNvPr name="TextBox 8" id="8"/>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Freeform 9" id="9"/>
          <p:cNvSpPr/>
          <p:nvPr/>
        </p:nvSpPr>
        <p:spPr>
          <a:xfrm flipH="false" flipV="false" rot="0">
            <a:off x="7014395" y="6750764"/>
            <a:ext cx="2530832" cy="937345"/>
          </a:xfrm>
          <a:custGeom>
            <a:avLst/>
            <a:gdLst/>
            <a:ahLst/>
            <a:cxnLst/>
            <a:rect r="r" b="b" t="t" l="l"/>
            <a:pathLst>
              <a:path h="937345" w="2530832">
                <a:moveTo>
                  <a:pt x="0" y="0"/>
                </a:moveTo>
                <a:lnTo>
                  <a:pt x="2530832" y="0"/>
                </a:lnTo>
                <a:lnTo>
                  <a:pt x="2530832" y="937345"/>
                </a:lnTo>
                <a:lnTo>
                  <a:pt x="0" y="937345"/>
                </a:lnTo>
                <a:lnTo>
                  <a:pt x="0" y="0"/>
                </a:lnTo>
                <a:close/>
              </a:path>
            </a:pathLst>
          </a:custGeom>
          <a:blipFill>
            <a:blip r:embed="rId4"/>
            <a:stretch>
              <a:fillRect l="0" t="0" r="0" b="0"/>
            </a:stretch>
          </a:blipFill>
        </p:spPr>
      </p:sp>
      <p:sp>
        <p:nvSpPr>
          <p:cNvPr name="Freeform 10" id="10"/>
          <p:cNvSpPr/>
          <p:nvPr/>
        </p:nvSpPr>
        <p:spPr>
          <a:xfrm flipH="false" flipV="false" rot="0">
            <a:off x="4522583" y="3719156"/>
            <a:ext cx="7514456" cy="2689183"/>
          </a:xfrm>
          <a:custGeom>
            <a:avLst/>
            <a:gdLst/>
            <a:ahLst/>
            <a:cxnLst/>
            <a:rect r="r" b="b" t="t" l="l"/>
            <a:pathLst>
              <a:path h="2689183" w="7514456">
                <a:moveTo>
                  <a:pt x="0" y="0"/>
                </a:moveTo>
                <a:lnTo>
                  <a:pt x="7514455" y="0"/>
                </a:lnTo>
                <a:lnTo>
                  <a:pt x="7514455" y="2689184"/>
                </a:lnTo>
                <a:lnTo>
                  <a:pt x="0" y="2689184"/>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6216" y="2067085"/>
            <a:ext cx="5204152" cy="998829"/>
            <a:chOff x="0" y="0"/>
            <a:chExt cx="3620172" cy="694817"/>
          </a:xfrm>
        </p:grpSpPr>
        <p:sp>
          <p:nvSpPr>
            <p:cNvPr name="Freeform 5" id="5"/>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Freeform 7" id="7"/>
          <p:cNvSpPr/>
          <p:nvPr/>
        </p:nvSpPr>
        <p:spPr>
          <a:xfrm flipH="false" flipV="false" rot="0">
            <a:off x="8162816" y="3065915"/>
            <a:ext cx="7481781" cy="5926061"/>
          </a:xfrm>
          <a:custGeom>
            <a:avLst/>
            <a:gdLst/>
            <a:ahLst/>
            <a:cxnLst/>
            <a:rect r="r" b="b" t="t" l="l"/>
            <a:pathLst>
              <a:path h="5926061" w="7481781">
                <a:moveTo>
                  <a:pt x="0" y="0"/>
                </a:moveTo>
                <a:lnTo>
                  <a:pt x="7481781" y="0"/>
                </a:lnTo>
                <a:lnTo>
                  <a:pt x="7481781" y="5926061"/>
                </a:lnTo>
                <a:lnTo>
                  <a:pt x="0" y="5926061"/>
                </a:lnTo>
                <a:lnTo>
                  <a:pt x="0" y="0"/>
                </a:lnTo>
                <a:close/>
              </a:path>
            </a:pathLst>
          </a:custGeom>
          <a:blipFill>
            <a:blip r:embed="rId4"/>
            <a:stretch>
              <a:fillRect l="0" t="0" r="0" b="0"/>
            </a:stretch>
          </a:blipFill>
        </p:spPr>
      </p:sp>
      <p:sp>
        <p:nvSpPr>
          <p:cNvPr name="Freeform 8" id="8"/>
          <p:cNvSpPr/>
          <p:nvPr/>
        </p:nvSpPr>
        <p:spPr>
          <a:xfrm flipH="false" flipV="false" rot="0">
            <a:off x="1215541" y="5380894"/>
            <a:ext cx="5308425" cy="1564319"/>
          </a:xfrm>
          <a:custGeom>
            <a:avLst/>
            <a:gdLst/>
            <a:ahLst/>
            <a:cxnLst/>
            <a:rect r="r" b="b" t="t" l="l"/>
            <a:pathLst>
              <a:path h="1564319" w="5308425">
                <a:moveTo>
                  <a:pt x="0" y="0"/>
                </a:moveTo>
                <a:lnTo>
                  <a:pt x="5308426" y="0"/>
                </a:lnTo>
                <a:lnTo>
                  <a:pt x="5308426" y="1564319"/>
                </a:lnTo>
                <a:lnTo>
                  <a:pt x="0" y="1564319"/>
                </a:lnTo>
                <a:lnTo>
                  <a:pt x="0" y="0"/>
                </a:lnTo>
                <a:close/>
              </a:path>
            </a:pathLst>
          </a:custGeom>
          <a:blipFill>
            <a:blip r:embed="rId5"/>
            <a:stretch>
              <a:fillRect l="0" t="0" r="0" b="0"/>
            </a:stretch>
          </a:blipFill>
        </p:spPr>
      </p:sp>
      <p:sp>
        <p:nvSpPr>
          <p:cNvPr name="TextBox 9" id="9"/>
          <p:cNvSpPr txBox="true"/>
          <p:nvPr/>
        </p:nvSpPr>
        <p:spPr>
          <a:xfrm rot="0">
            <a:off x="1324347" y="2325878"/>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Kết quả</a:t>
            </a:r>
          </a:p>
        </p:txBody>
      </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6216" y="2067085"/>
            <a:ext cx="6480145" cy="998829"/>
            <a:chOff x="0" y="0"/>
            <a:chExt cx="4507793" cy="694817"/>
          </a:xfrm>
        </p:grpSpPr>
        <p:sp>
          <p:nvSpPr>
            <p:cNvPr name="Freeform 5" id="5"/>
            <p:cNvSpPr/>
            <p:nvPr/>
          </p:nvSpPr>
          <p:spPr>
            <a:xfrm flipH="false" flipV="false" rot="0">
              <a:off x="0" y="0"/>
              <a:ext cx="4507793" cy="694817"/>
            </a:xfrm>
            <a:custGeom>
              <a:avLst/>
              <a:gdLst/>
              <a:ahLst/>
              <a:cxnLst/>
              <a:rect r="r" b="b" t="t" l="l"/>
              <a:pathLst>
                <a:path h="694817" w="4507793">
                  <a:moveTo>
                    <a:pt x="41815" y="0"/>
                  </a:moveTo>
                  <a:lnTo>
                    <a:pt x="4465978" y="0"/>
                  </a:lnTo>
                  <a:cubicBezTo>
                    <a:pt x="4489071" y="0"/>
                    <a:pt x="4507793" y="18721"/>
                    <a:pt x="4507793" y="41815"/>
                  </a:cubicBezTo>
                  <a:lnTo>
                    <a:pt x="4507793" y="653002"/>
                  </a:lnTo>
                  <a:cubicBezTo>
                    <a:pt x="4507793" y="676096"/>
                    <a:pt x="4489071" y="694817"/>
                    <a:pt x="4465978" y="694817"/>
                  </a:cubicBezTo>
                  <a:lnTo>
                    <a:pt x="41815" y="694817"/>
                  </a:lnTo>
                  <a:cubicBezTo>
                    <a:pt x="18721" y="694817"/>
                    <a:pt x="0" y="676096"/>
                    <a:pt x="0" y="653002"/>
                  </a:cubicBezTo>
                  <a:lnTo>
                    <a:pt x="0" y="41815"/>
                  </a:lnTo>
                  <a:cubicBezTo>
                    <a:pt x="0" y="18721"/>
                    <a:pt x="18721" y="0"/>
                    <a:pt x="41815"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4507793" cy="675767"/>
            </a:xfrm>
            <a:prstGeom prst="rect">
              <a:avLst/>
            </a:prstGeom>
          </p:spPr>
          <p:txBody>
            <a:bodyPr anchor="ctr" rtlCol="false" tIns="19233" lIns="19233" bIns="19233" rIns="19233"/>
            <a:lstStyle/>
            <a:p>
              <a:pPr algn="l">
                <a:lnSpc>
                  <a:spcPts val="1387"/>
                </a:lnSpc>
              </a:pPr>
            </a:p>
          </p:txBody>
        </p:sp>
      </p:grpSp>
      <p:sp>
        <p:nvSpPr>
          <p:cNvPr name="Freeform 7" id="7"/>
          <p:cNvSpPr/>
          <p:nvPr/>
        </p:nvSpPr>
        <p:spPr>
          <a:xfrm flipH="false" flipV="false" rot="0">
            <a:off x="8343361" y="3235919"/>
            <a:ext cx="7773524" cy="5854268"/>
          </a:xfrm>
          <a:custGeom>
            <a:avLst/>
            <a:gdLst/>
            <a:ahLst/>
            <a:cxnLst/>
            <a:rect r="r" b="b" t="t" l="l"/>
            <a:pathLst>
              <a:path h="5854268" w="7773524">
                <a:moveTo>
                  <a:pt x="0" y="0"/>
                </a:moveTo>
                <a:lnTo>
                  <a:pt x="7773524" y="0"/>
                </a:lnTo>
                <a:lnTo>
                  <a:pt x="7773524" y="5854268"/>
                </a:lnTo>
                <a:lnTo>
                  <a:pt x="0" y="5854268"/>
                </a:lnTo>
                <a:lnTo>
                  <a:pt x="0" y="0"/>
                </a:lnTo>
                <a:close/>
              </a:path>
            </a:pathLst>
          </a:custGeom>
          <a:blipFill>
            <a:blip r:embed="rId4"/>
            <a:stretch>
              <a:fillRect l="0" t="0" r="0" b="0"/>
            </a:stretch>
          </a:blipFill>
        </p:spPr>
      </p:sp>
      <p:sp>
        <p:nvSpPr>
          <p:cNvPr name="Freeform 8" id="8"/>
          <p:cNvSpPr/>
          <p:nvPr/>
        </p:nvSpPr>
        <p:spPr>
          <a:xfrm flipH="false" flipV="false" rot="0">
            <a:off x="1532877" y="5267686"/>
            <a:ext cx="5753293" cy="1237534"/>
          </a:xfrm>
          <a:custGeom>
            <a:avLst/>
            <a:gdLst/>
            <a:ahLst/>
            <a:cxnLst/>
            <a:rect r="r" b="b" t="t" l="l"/>
            <a:pathLst>
              <a:path h="1237534" w="5753293">
                <a:moveTo>
                  <a:pt x="0" y="0"/>
                </a:moveTo>
                <a:lnTo>
                  <a:pt x="5753293" y="0"/>
                </a:lnTo>
                <a:lnTo>
                  <a:pt x="5753293" y="1237535"/>
                </a:lnTo>
                <a:lnTo>
                  <a:pt x="0" y="1237535"/>
                </a:lnTo>
                <a:lnTo>
                  <a:pt x="0" y="0"/>
                </a:lnTo>
                <a:close/>
              </a:path>
            </a:pathLst>
          </a:custGeom>
          <a:blipFill>
            <a:blip r:embed="rId5"/>
            <a:stretch>
              <a:fillRect l="0" t="0" r="0" b="-79497"/>
            </a:stretch>
          </a:blipFill>
        </p:spPr>
      </p:sp>
      <p:sp>
        <p:nvSpPr>
          <p:cNvPr name="TextBox 9" id="9"/>
          <p:cNvSpPr txBox="true"/>
          <p:nvPr/>
        </p:nvSpPr>
        <p:spPr>
          <a:xfrm rot="0">
            <a:off x="1324347" y="2325878"/>
            <a:ext cx="6055485" cy="87177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Tối ưu: SMOTE + threshold tuning</a:t>
            </a:r>
          </a:p>
          <a:p>
            <a:pPr algn="l">
              <a:lnSpc>
                <a:spcPts val="3180"/>
              </a:lnSpc>
            </a:pPr>
          </a:p>
        </p:txBody>
      </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6216" y="2067085"/>
            <a:ext cx="5204152" cy="998829"/>
            <a:chOff x="0" y="0"/>
            <a:chExt cx="3620172" cy="694817"/>
          </a:xfrm>
        </p:grpSpPr>
        <p:sp>
          <p:nvSpPr>
            <p:cNvPr name="Freeform 5" id="5"/>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6" id="6"/>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TextBox 7" id="7"/>
          <p:cNvSpPr txBox="true"/>
          <p:nvPr/>
        </p:nvSpPr>
        <p:spPr>
          <a:xfrm rot="0">
            <a:off x="1324347" y="2325878"/>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Kết luận</a:t>
            </a:r>
          </a:p>
        </p:txBody>
      </p:sp>
      <p:sp>
        <p:nvSpPr>
          <p:cNvPr name="TextBox 8" id="8"/>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9" id="9"/>
          <p:cNvSpPr txBox="true"/>
          <p:nvPr/>
        </p:nvSpPr>
        <p:spPr>
          <a:xfrm rot="0">
            <a:off x="831976" y="3742190"/>
            <a:ext cx="15283389" cy="5057946"/>
          </a:xfrm>
          <a:prstGeom prst="rect">
            <a:avLst/>
          </a:prstGeom>
        </p:spPr>
        <p:txBody>
          <a:bodyPr anchor="t" rtlCol="false" tIns="0" lIns="0" bIns="0" rIns="0">
            <a:spAutoFit/>
          </a:bodyPr>
          <a:lstStyle/>
          <a:p>
            <a:pPr algn="l" marL="565282" indent="-282641" lvl="1">
              <a:lnSpc>
                <a:spcPts val="3665"/>
              </a:lnSpc>
              <a:buFont typeface="Arial"/>
              <a:buChar char="•"/>
            </a:pPr>
            <a:r>
              <a:rPr lang="en-US" sz="2618">
                <a:solidFill>
                  <a:srgbClr val="FFFFFF"/>
                </a:solidFill>
                <a:latin typeface="Arial MT Pro"/>
                <a:ea typeface="Arial MT Pro"/>
                <a:cs typeface="Arial MT Pro"/>
                <a:sym typeface="Arial MT Pro"/>
              </a:rPr>
              <a:t>Vấn đề ban đầu: Mô hình đạt độ chính xác (Accuracy) khá cao </a:t>
            </a:r>
            <a:r>
              <a:rPr lang="en-US" b="true" sz="2618">
                <a:solidFill>
                  <a:srgbClr val="FFFFFF"/>
                </a:solidFill>
                <a:latin typeface="Arial MT Pro Bold"/>
                <a:ea typeface="Arial MT Pro Bold"/>
                <a:cs typeface="Arial MT Pro Bold"/>
                <a:sym typeface="Arial MT Pro Bold"/>
              </a:rPr>
              <a:t>(74.5%)</a:t>
            </a:r>
            <a:r>
              <a:rPr lang="en-US" sz="2618">
                <a:solidFill>
                  <a:srgbClr val="FFFFFF"/>
                </a:solidFill>
                <a:latin typeface="Arial MT Pro"/>
                <a:ea typeface="Arial MT Pro"/>
                <a:cs typeface="Arial MT Pro"/>
                <a:sym typeface="Arial MT Pro"/>
              </a:rPr>
              <a:t>, n</a:t>
            </a:r>
            <a:r>
              <a:rPr lang="en-US" sz="2618">
                <a:solidFill>
                  <a:srgbClr val="FFFFFF"/>
                </a:solidFill>
                <a:latin typeface="Arial MT Pro"/>
                <a:ea typeface="Arial MT Pro"/>
                <a:cs typeface="Arial MT Pro"/>
                <a:sym typeface="Arial MT Pro"/>
              </a:rPr>
              <a:t>hưng bị ảnh hưởng bởi dữ liệu mất cân bằng (nhóm "Vui vẻ" chiếm đa số).</a:t>
            </a:r>
          </a:p>
          <a:p>
            <a:pPr algn="l">
              <a:lnSpc>
                <a:spcPts val="3665"/>
              </a:lnSpc>
            </a:pPr>
          </a:p>
          <a:p>
            <a:pPr algn="l" marL="565282" indent="-282641" lvl="1">
              <a:lnSpc>
                <a:spcPts val="3665"/>
              </a:lnSpc>
              <a:buFont typeface="Arial"/>
              <a:buChar char="•"/>
            </a:pPr>
            <a:r>
              <a:rPr lang="en-US" sz="2618">
                <a:solidFill>
                  <a:srgbClr val="FFFFFF"/>
                </a:solidFill>
                <a:latin typeface="Arial MT Pro"/>
                <a:ea typeface="Arial MT Pro"/>
                <a:cs typeface="Arial MT Pro"/>
                <a:sym typeface="Arial MT Pro"/>
              </a:rPr>
              <a:t>Việc nhận diện nhóm khách hàng "Tức giận" (Recall Nhãn 0) bị hạn chế, ban đầu chỉ đạt </a:t>
            </a:r>
            <a:r>
              <a:rPr lang="en-US" sz="2618">
                <a:solidFill>
                  <a:srgbClr val="FFFFFF"/>
                </a:solidFill>
                <a:latin typeface="Arial MT Pro"/>
                <a:ea typeface="Arial MT Pro"/>
                <a:cs typeface="Arial MT Pro"/>
                <a:sym typeface="Arial MT Pro"/>
              </a:rPr>
              <a:t>42%</a:t>
            </a:r>
            <a:r>
              <a:rPr lang="en-US" sz="2618">
                <a:solidFill>
                  <a:srgbClr val="FFFFFF"/>
                </a:solidFill>
                <a:latin typeface="Arial MT Pro"/>
                <a:ea typeface="Arial MT Pro"/>
                <a:cs typeface="Arial MT Pro"/>
                <a:sym typeface="Arial MT Pro"/>
              </a:rPr>
              <a:t>.</a:t>
            </a:r>
          </a:p>
          <a:p>
            <a:pPr algn="l">
              <a:lnSpc>
                <a:spcPts val="3665"/>
              </a:lnSpc>
            </a:pPr>
          </a:p>
          <a:p>
            <a:pPr algn="l" marL="565282" indent="-282641" lvl="1">
              <a:lnSpc>
                <a:spcPts val="3665"/>
              </a:lnSpc>
              <a:buFont typeface="Arial"/>
              <a:buChar char="•"/>
            </a:pPr>
            <a:r>
              <a:rPr lang="en-US" sz="2618">
                <a:solidFill>
                  <a:srgbClr val="FFFFFF"/>
                </a:solidFill>
                <a:latin typeface="Arial MT Pro"/>
                <a:ea typeface="Arial MT Pro"/>
                <a:cs typeface="Arial MT Pro"/>
                <a:sym typeface="Arial MT Pro"/>
              </a:rPr>
              <a:t>Phương pháp tối ưu: Áp dụng kỹ thuật sinh dữ liệu SMOTE kết hợp tinh chỉnh ngưỡng Threshold Tuning (</a:t>
            </a:r>
            <a:r>
              <a:rPr lang="en-US" b="true" sz="2618">
                <a:solidFill>
                  <a:srgbClr val="FFFFFF"/>
                </a:solidFill>
                <a:latin typeface="Arial MT Pro Bold"/>
                <a:ea typeface="Arial MT Pro Bold"/>
                <a:cs typeface="Arial MT Pro Bold"/>
                <a:sym typeface="Arial MT Pro Bold"/>
              </a:rPr>
              <a:t>0.55</a:t>
            </a:r>
            <a:r>
              <a:rPr lang="en-US" sz="2618">
                <a:solidFill>
                  <a:srgbClr val="FFFFFF"/>
                </a:solidFill>
                <a:latin typeface="Arial MT Pro"/>
                <a:ea typeface="Arial MT Pro"/>
                <a:cs typeface="Arial MT Pro"/>
                <a:sym typeface="Arial MT Pro"/>
              </a:rPr>
              <a:t>) để tập trung giải quyết bài toán thực tế của dự án.</a:t>
            </a:r>
          </a:p>
          <a:p>
            <a:pPr algn="l">
              <a:lnSpc>
                <a:spcPts val="3665"/>
              </a:lnSpc>
            </a:pPr>
          </a:p>
          <a:p>
            <a:pPr algn="l" marL="565282" indent="-282641" lvl="1">
              <a:lnSpc>
                <a:spcPts val="3665"/>
              </a:lnSpc>
              <a:buFont typeface="Arial"/>
              <a:buChar char="•"/>
            </a:pPr>
            <a:r>
              <a:rPr lang="en-US" sz="2618">
                <a:solidFill>
                  <a:srgbClr val="FFFFFF"/>
                </a:solidFill>
                <a:latin typeface="Arial MT Pro"/>
                <a:ea typeface="Arial MT Pro"/>
                <a:cs typeface="Arial MT Pro"/>
                <a:sym typeface="Arial MT Pro"/>
              </a:rPr>
              <a:t>Kết quả đạt được: Tỷ lệ Recall Nhãn 0 đã tăng đáng kể từ </a:t>
            </a:r>
            <a:r>
              <a:rPr lang="en-US" b="true" sz="2618">
                <a:solidFill>
                  <a:srgbClr val="FFFFFF"/>
                </a:solidFill>
                <a:latin typeface="Arial MT Pro Bold"/>
                <a:ea typeface="Arial MT Pro Bold"/>
                <a:cs typeface="Arial MT Pro Bold"/>
                <a:sym typeface="Arial MT Pro Bold"/>
              </a:rPr>
              <a:t>42%</a:t>
            </a:r>
            <a:r>
              <a:rPr lang="en-US" sz="2618">
                <a:solidFill>
                  <a:srgbClr val="FFFFFF"/>
                </a:solidFill>
                <a:latin typeface="Arial MT Pro"/>
                <a:ea typeface="Arial MT Pro"/>
                <a:cs typeface="Arial MT Pro"/>
                <a:sym typeface="Arial MT Pro"/>
              </a:rPr>
              <a:t> lên </a:t>
            </a:r>
            <a:r>
              <a:rPr lang="en-US" b="true" sz="2618">
                <a:solidFill>
                  <a:srgbClr val="FFFFFF"/>
                </a:solidFill>
                <a:latin typeface="Arial MT Pro Bold"/>
                <a:ea typeface="Arial MT Pro Bold"/>
                <a:cs typeface="Arial MT Pro Bold"/>
                <a:sym typeface="Arial MT Pro Bold"/>
              </a:rPr>
              <a:t>57%</a:t>
            </a:r>
            <a:r>
              <a:rPr lang="en-US" sz="2618">
                <a:solidFill>
                  <a:srgbClr val="FFFFFF"/>
                </a:solidFill>
                <a:latin typeface="Arial MT Pro"/>
                <a:ea typeface="Arial MT Pro"/>
                <a:cs typeface="Arial MT Pro"/>
                <a:sym typeface="Arial MT Pro"/>
              </a:rPr>
              <a:t>, giúp doanh nghiệp giảm thiểu tối đa rủi ro bỏ lọt các trải nghiệm tồi tệ của khách hàng.</a:t>
            </a:r>
          </a:p>
          <a:p>
            <a:pPr algn="l">
              <a:lnSpc>
                <a:spcPts val="3665"/>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83774">
            <a:off x="7565571" y="197405"/>
            <a:ext cx="11226909" cy="14341591"/>
            <a:chOff x="0" y="0"/>
            <a:chExt cx="2956881" cy="3777209"/>
          </a:xfrm>
        </p:grpSpPr>
        <p:sp>
          <p:nvSpPr>
            <p:cNvPr name="Freeform 5" id="5"/>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6" id="6"/>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7" id="7"/>
          <p:cNvGrpSpPr/>
          <p:nvPr/>
        </p:nvGrpSpPr>
        <p:grpSpPr>
          <a:xfrm rot="1383774">
            <a:off x="7012072" y="108644"/>
            <a:ext cx="10773748" cy="14341591"/>
            <a:chOff x="0" y="0"/>
            <a:chExt cx="2837530" cy="3777209"/>
          </a:xfrm>
        </p:grpSpPr>
        <p:sp>
          <p:nvSpPr>
            <p:cNvPr name="Freeform 8" id="8"/>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grpSp>
        <p:nvGrpSpPr>
          <p:cNvPr name="Group 11" id="11"/>
          <p:cNvGrpSpPr/>
          <p:nvPr/>
        </p:nvGrpSpPr>
        <p:grpSpPr>
          <a:xfrm rot="0">
            <a:off x="1028700" y="3407292"/>
            <a:ext cx="11383993" cy="4176422"/>
            <a:chOff x="0" y="0"/>
            <a:chExt cx="15178658" cy="5568563"/>
          </a:xfrm>
        </p:grpSpPr>
        <p:sp>
          <p:nvSpPr>
            <p:cNvPr name="TextBox 12" id="12"/>
            <p:cNvSpPr txBox="true"/>
            <p:nvPr/>
          </p:nvSpPr>
          <p:spPr>
            <a:xfrm rot="0">
              <a:off x="0" y="133350"/>
              <a:ext cx="15178658" cy="4135802"/>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Decision Tree</a:t>
              </a:r>
            </a:p>
            <a:p>
              <a:pPr algn="l">
                <a:lnSpc>
                  <a:spcPts val="10716"/>
                </a:lnSpc>
              </a:pPr>
              <a:r>
                <a:rPr lang="en-US" sz="12177" spc="-194" b="true">
                  <a:solidFill>
                    <a:srgbClr val="FFFFFF"/>
                  </a:solidFill>
                  <a:latin typeface="Arial MT Pro Bold"/>
                  <a:ea typeface="Arial MT Pro Bold"/>
                  <a:cs typeface="Arial MT Pro Bold"/>
                  <a:sym typeface="Arial MT Pro Bold"/>
                </a:rPr>
                <a:t>Model</a:t>
              </a:r>
            </a:p>
          </p:txBody>
        </p:sp>
        <p:sp>
          <p:nvSpPr>
            <p:cNvPr name="TextBox 13" id="13"/>
            <p:cNvSpPr txBox="true"/>
            <p:nvPr/>
          </p:nvSpPr>
          <p:spPr>
            <a:xfrm rot="0">
              <a:off x="828896" y="5074113"/>
              <a:ext cx="5285167" cy="494450"/>
            </a:xfrm>
            <a:prstGeom prst="rect">
              <a:avLst/>
            </a:prstGeom>
          </p:spPr>
          <p:txBody>
            <a:bodyPr anchor="t" rtlCol="false" tIns="0" lIns="0" bIns="0" rIns="0">
              <a:spAutoFit/>
            </a:bodyPr>
            <a:lstStyle/>
            <a:p>
              <a:pPr algn="l">
                <a:lnSpc>
                  <a:spcPts val="2306"/>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5204152" cy="998829"/>
            <a:chOff x="0" y="0"/>
            <a:chExt cx="3620172" cy="694817"/>
          </a:xfrm>
        </p:grpSpPr>
        <p:sp>
          <p:nvSpPr>
            <p:cNvPr name="Freeform 8" id="8"/>
            <p:cNvSpPr/>
            <p:nvPr/>
          </p:nvSpPr>
          <p:spPr>
            <a:xfrm flipH="false" flipV="false" rot="0">
              <a:off x="0" y="0"/>
              <a:ext cx="3620172" cy="694817"/>
            </a:xfrm>
            <a:custGeom>
              <a:avLst/>
              <a:gdLst/>
              <a:ahLst/>
              <a:cxnLst/>
              <a:rect r="r" b="b" t="t" l="l"/>
              <a:pathLst>
                <a:path h="694817" w="3620172">
                  <a:moveTo>
                    <a:pt x="52068" y="0"/>
                  </a:moveTo>
                  <a:lnTo>
                    <a:pt x="3568104" y="0"/>
                  </a:lnTo>
                  <a:cubicBezTo>
                    <a:pt x="3596860" y="0"/>
                    <a:pt x="3620172" y="23311"/>
                    <a:pt x="3620172" y="52068"/>
                  </a:cubicBezTo>
                  <a:lnTo>
                    <a:pt x="3620172" y="642750"/>
                  </a:lnTo>
                  <a:cubicBezTo>
                    <a:pt x="3620172" y="671506"/>
                    <a:pt x="3596860" y="694817"/>
                    <a:pt x="3568104" y="694817"/>
                  </a:cubicBezTo>
                  <a:lnTo>
                    <a:pt x="52068" y="694817"/>
                  </a:lnTo>
                  <a:cubicBezTo>
                    <a:pt x="23311" y="694817"/>
                    <a:pt x="0" y="671506"/>
                    <a:pt x="0" y="642750"/>
                  </a:cubicBezTo>
                  <a:lnTo>
                    <a:pt x="0" y="52068"/>
                  </a:lnTo>
                  <a:cubicBezTo>
                    <a:pt x="0" y="23311"/>
                    <a:pt x="23311" y="0"/>
                    <a:pt x="52068"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3620172"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9277102" y="3065915"/>
            <a:ext cx="8554093" cy="4277046"/>
          </a:xfrm>
          <a:custGeom>
            <a:avLst/>
            <a:gdLst/>
            <a:ahLst/>
            <a:cxnLst/>
            <a:rect r="r" b="b" t="t" l="l"/>
            <a:pathLst>
              <a:path h="4277046" w="8554093">
                <a:moveTo>
                  <a:pt x="0" y="0"/>
                </a:moveTo>
                <a:lnTo>
                  <a:pt x="8554093" y="0"/>
                </a:lnTo>
                <a:lnTo>
                  <a:pt x="8554093" y="4277046"/>
                </a:lnTo>
                <a:lnTo>
                  <a:pt x="0" y="4277046"/>
                </a:lnTo>
                <a:lnTo>
                  <a:pt x="0" y="0"/>
                </a:lnTo>
                <a:close/>
              </a:path>
            </a:pathLst>
          </a:custGeom>
          <a:blipFill>
            <a:blip r:embed="rId4"/>
            <a:stretch>
              <a:fillRect l="0" t="0" r="0" b="0"/>
            </a:stretch>
          </a:blipFill>
        </p:spPr>
      </p:sp>
      <p:sp>
        <p:nvSpPr>
          <p:cNvPr name="TextBox 11" id="11"/>
          <p:cNvSpPr txBox="true"/>
          <p:nvPr/>
        </p:nvSpPr>
        <p:spPr>
          <a:xfrm rot="0">
            <a:off x="1074577" y="2389773"/>
            <a:ext cx="4967428"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 Principles of Decision Tree</a:t>
            </a: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3" id="13"/>
          <p:cNvSpPr txBox="true"/>
          <p:nvPr/>
        </p:nvSpPr>
        <p:spPr>
          <a:xfrm rot="0">
            <a:off x="1074577" y="3417444"/>
            <a:ext cx="8202525" cy="6545614"/>
          </a:xfrm>
          <a:prstGeom prst="rect">
            <a:avLst/>
          </a:prstGeom>
        </p:spPr>
        <p:txBody>
          <a:bodyPr anchor="t" rtlCol="false" tIns="0" lIns="0" bIns="0" rIns="0">
            <a:spAutoFit/>
          </a:bodyPr>
          <a:lstStyle/>
          <a:p>
            <a:pPr algn="l">
              <a:lnSpc>
                <a:spcPts val="4686"/>
              </a:lnSpc>
              <a:spcBef>
                <a:spcPct val="0"/>
              </a:spcBef>
            </a:pPr>
            <a:r>
              <a:rPr lang="en-US" b="true" sz="3347">
                <a:solidFill>
                  <a:srgbClr val="FFFFFF"/>
                </a:solidFill>
                <a:latin typeface="Arial MT Pro Bold"/>
                <a:ea typeface="Arial MT Pro Bold"/>
                <a:cs typeface="Arial MT Pro Bold"/>
                <a:sym typeface="Arial MT Pro Bold"/>
              </a:rPr>
              <a:t>Rul</a:t>
            </a:r>
            <a:r>
              <a:rPr lang="en-US" b="true" sz="3347">
                <a:solidFill>
                  <a:srgbClr val="FFFFFF"/>
                </a:solidFill>
                <a:latin typeface="Arial MT Pro Bold"/>
                <a:ea typeface="Arial MT Pro Bold"/>
                <a:cs typeface="Arial MT Pro Bold"/>
                <a:sym typeface="Arial MT Pro Bold"/>
              </a:rPr>
              <a:t>e-based Learning:</a:t>
            </a:r>
          </a:p>
          <a:p>
            <a:pPr algn="l">
              <a:lnSpc>
                <a:spcPts val="3779"/>
              </a:lnSpc>
              <a:spcBef>
                <a:spcPct val="0"/>
              </a:spcBef>
            </a:pPr>
            <a:r>
              <a:rPr lang="en-US" sz="2699">
                <a:solidFill>
                  <a:srgbClr val="FFFFFF"/>
                </a:solidFill>
                <a:latin typeface="Arial MT Pro"/>
                <a:ea typeface="Arial MT Pro"/>
                <a:cs typeface="Arial MT Pro"/>
                <a:sym typeface="Arial MT Pro"/>
              </a:rPr>
              <a:t>Mô </a:t>
            </a:r>
            <a:r>
              <a:rPr lang="en-US" sz="2699">
                <a:solidFill>
                  <a:srgbClr val="FFFFFF"/>
                </a:solidFill>
                <a:latin typeface="Arial MT Pro"/>
                <a:ea typeface="Arial MT Pro"/>
                <a:cs typeface="Arial MT Pro"/>
                <a:sym typeface="Arial MT Pro"/>
              </a:rPr>
              <a:t>hình </a:t>
            </a:r>
            <a:r>
              <a:rPr lang="en-US" sz="2699">
                <a:solidFill>
                  <a:srgbClr val="FFFFFF"/>
                </a:solidFill>
                <a:latin typeface="Arial MT Pro"/>
                <a:ea typeface="Arial MT Pro"/>
                <a:cs typeface="Arial MT Pro"/>
                <a:sym typeface="Arial MT Pro"/>
              </a:rPr>
              <a:t>phân tách dữ liệu qua các nút điều kiện để tạo ra các nhóm đồng nhất.</a:t>
            </a:r>
          </a:p>
          <a:p>
            <a:pPr algn="l" marL="582927" indent="-291463" lvl="1">
              <a:lnSpc>
                <a:spcPts val="3779"/>
              </a:lnSpc>
              <a:buFont typeface="Arial"/>
              <a:buChar char="•"/>
            </a:pPr>
            <a:r>
              <a:rPr lang="en-US" sz="2699">
                <a:solidFill>
                  <a:srgbClr val="FFFFFF"/>
                </a:solidFill>
                <a:latin typeface="Arial MT Pro"/>
                <a:ea typeface="Arial MT Pro"/>
                <a:cs typeface="Arial MT Pro"/>
                <a:sym typeface="Arial MT Pro"/>
              </a:rPr>
              <a:t>Tính minh bạch cao: Quy tắc </a:t>
            </a:r>
            <a:r>
              <a:rPr lang="en-US" sz="2699">
                <a:solidFill>
                  <a:srgbClr val="FFFFFF"/>
                </a:solidFill>
                <a:latin typeface="Arial MT Pro"/>
                <a:ea typeface="Arial MT Pro"/>
                <a:cs typeface="Arial MT Pro"/>
                <a:sym typeface="Arial MT Pro"/>
              </a:rPr>
              <a:t>rõ ràng, trực quan, dễ giải thích lý do đằng sau mỗi dự đoán</a:t>
            </a:r>
          </a:p>
          <a:p>
            <a:pPr algn="l" marL="582927" indent="-291463" lvl="1">
              <a:lnSpc>
                <a:spcPts val="3779"/>
              </a:lnSpc>
              <a:buFont typeface="Arial"/>
              <a:buChar char="•"/>
            </a:pPr>
            <a:r>
              <a:rPr lang="en-US" sz="2699">
                <a:solidFill>
                  <a:srgbClr val="FFFFFF"/>
                </a:solidFill>
                <a:latin typeface="Arial MT Pro"/>
                <a:ea typeface="Arial MT Pro"/>
                <a:cs typeface="Arial MT Pro"/>
                <a:sym typeface="Arial MT Pro"/>
              </a:rPr>
              <a:t>Ít tiền xử lý: Không yêu cầu phải chuẩn hóa (scaling) hay biến đổi dữ liệu phức tạp trước khi train.</a:t>
            </a:r>
          </a:p>
          <a:p>
            <a:pPr algn="l" marL="582927" indent="-291463" lvl="1">
              <a:lnSpc>
                <a:spcPts val="3779"/>
              </a:lnSpc>
              <a:buFont typeface="Arial"/>
              <a:buChar char="•"/>
            </a:pPr>
            <a:r>
              <a:rPr lang="en-US" sz="2699">
                <a:solidFill>
                  <a:srgbClr val="FFFFFF"/>
                </a:solidFill>
                <a:latin typeface="Arial MT Pro"/>
                <a:ea typeface="Arial MT Pro"/>
                <a:cs typeface="Arial MT Pro"/>
                <a:sym typeface="Arial MT Pro"/>
              </a:rPr>
              <a:t>Xử lý lệch lớp: Dùng tham số class_weight='balanced' để tự động tăng trọng số phạt khi dự đoán sai lớp thiểu số (Negative reviews).</a:t>
            </a:r>
          </a:p>
          <a:p>
            <a:pPr algn="l" marL="582927" indent="-291463" lvl="1">
              <a:lnSpc>
                <a:spcPts val="3779"/>
              </a:lnSpc>
              <a:buFont typeface="Arial"/>
              <a:buChar char="•"/>
            </a:pPr>
          </a:p>
          <a:p>
            <a:pPr algn="l" marL="215899" indent="-107950" lvl="1">
              <a:lnSpc>
                <a:spcPts val="1399"/>
              </a:lnSpc>
              <a:buFont typeface="Arial"/>
              <a:buChar char="•"/>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7614518" cy="998829"/>
            <a:chOff x="0" y="0"/>
            <a:chExt cx="5296898" cy="694817"/>
          </a:xfrm>
        </p:grpSpPr>
        <p:sp>
          <p:nvSpPr>
            <p:cNvPr name="Freeform 8" id="8"/>
            <p:cNvSpPr/>
            <p:nvPr/>
          </p:nvSpPr>
          <p:spPr>
            <a:xfrm flipH="false" flipV="false" rot="0">
              <a:off x="0" y="0"/>
              <a:ext cx="5296898" cy="694817"/>
            </a:xfrm>
            <a:custGeom>
              <a:avLst/>
              <a:gdLst/>
              <a:ahLst/>
              <a:cxnLst/>
              <a:rect r="r" b="b" t="t" l="l"/>
              <a:pathLst>
                <a:path h="694817" w="5296898">
                  <a:moveTo>
                    <a:pt x="35586" y="0"/>
                  </a:moveTo>
                  <a:lnTo>
                    <a:pt x="5261312" y="0"/>
                  </a:lnTo>
                  <a:cubicBezTo>
                    <a:pt x="5270750" y="0"/>
                    <a:pt x="5279801" y="3749"/>
                    <a:pt x="5286475" y="10423"/>
                  </a:cubicBezTo>
                  <a:cubicBezTo>
                    <a:pt x="5293149" y="17096"/>
                    <a:pt x="5296898" y="26148"/>
                    <a:pt x="5296898" y="35586"/>
                  </a:cubicBezTo>
                  <a:lnTo>
                    <a:pt x="5296898" y="659232"/>
                  </a:lnTo>
                  <a:cubicBezTo>
                    <a:pt x="5296898" y="678885"/>
                    <a:pt x="5280965" y="694817"/>
                    <a:pt x="5261312" y="694817"/>
                  </a:cubicBezTo>
                  <a:lnTo>
                    <a:pt x="35586" y="694817"/>
                  </a:lnTo>
                  <a:cubicBezTo>
                    <a:pt x="15932" y="694817"/>
                    <a:pt x="0" y="678885"/>
                    <a:pt x="0" y="659232"/>
                  </a:cubicBezTo>
                  <a:lnTo>
                    <a:pt x="0" y="35586"/>
                  </a:lnTo>
                  <a:cubicBezTo>
                    <a:pt x="0" y="15932"/>
                    <a:pt x="15932" y="0"/>
                    <a:pt x="35586"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529689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1074577" y="3610943"/>
            <a:ext cx="9713212" cy="1822350"/>
          </a:xfrm>
          <a:custGeom>
            <a:avLst/>
            <a:gdLst/>
            <a:ahLst/>
            <a:cxnLst/>
            <a:rect r="r" b="b" t="t" l="l"/>
            <a:pathLst>
              <a:path h="1822350" w="9713212">
                <a:moveTo>
                  <a:pt x="0" y="0"/>
                </a:moveTo>
                <a:lnTo>
                  <a:pt x="9713213" y="0"/>
                </a:lnTo>
                <a:lnTo>
                  <a:pt x="9713213" y="1822350"/>
                </a:lnTo>
                <a:lnTo>
                  <a:pt x="0" y="1822350"/>
                </a:lnTo>
                <a:lnTo>
                  <a:pt x="0" y="0"/>
                </a:lnTo>
                <a:close/>
              </a:path>
            </a:pathLst>
          </a:custGeom>
          <a:blipFill>
            <a:blip r:embed="rId4"/>
            <a:stretch>
              <a:fillRect l="0" t="-138171" r="-26524" b="-599755"/>
            </a:stretch>
          </a:blipFill>
        </p:spPr>
      </p:sp>
      <p:sp>
        <p:nvSpPr>
          <p:cNvPr name="Freeform 11" id="11"/>
          <p:cNvSpPr/>
          <p:nvPr/>
        </p:nvSpPr>
        <p:spPr>
          <a:xfrm flipH="false" flipV="false" rot="0">
            <a:off x="1627152" y="3714804"/>
            <a:ext cx="818919" cy="575385"/>
          </a:xfrm>
          <a:custGeom>
            <a:avLst/>
            <a:gdLst/>
            <a:ahLst/>
            <a:cxnLst/>
            <a:rect r="r" b="b" t="t" l="l"/>
            <a:pathLst>
              <a:path h="575385" w="818919">
                <a:moveTo>
                  <a:pt x="0" y="0"/>
                </a:moveTo>
                <a:lnTo>
                  <a:pt x="818920" y="0"/>
                </a:lnTo>
                <a:lnTo>
                  <a:pt x="818920" y="575384"/>
                </a:lnTo>
                <a:lnTo>
                  <a:pt x="0" y="575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074577" y="5683846"/>
            <a:ext cx="9713212" cy="1822350"/>
          </a:xfrm>
          <a:custGeom>
            <a:avLst/>
            <a:gdLst/>
            <a:ahLst/>
            <a:cxnLst/>
            <a:rect r="r" b="b" t="t" l="l"/>
            <a:pathLst>
              <a:path h="1822350" w="9713212">
                <a:moveTo>
                  <a:pt x="0" y="0"/>
                </a:moveTo>
                <a:lnTo>
                  <a:pt x="9713213" y="0"/>
                </a:lnTo>
                <a:lnTo>
                  <a:pt x="9713213" y="1822350"/>
                </a:lnTo>
                <a:lnTo>
                  <a:pt x="0" y="1822350"/>
                </a:lnTo>
                <a:lnTo>
                  <a:pt x="0" y="0"/>
                </a:lnTo>
                <a:close/>
              </a:path>
            </a:pathLst>
          </a:custGeom>
          <a:blipFill>
            <a:blip r:embed="rId4"/>
            <a:stretch>
              <a:fillRect l="0" t="-138171" r="-26524" b="-599755"/>
            </a:stretch>
          </a:blipFill>
        </p:spPr>
      </p:sp>
      <p:sp>
        <p:nvSpPr>
          <p:cNvPr name="Freeform 13" id="13"/>
          <p:cNvSpPr/>
          <p:nvPr/>
        </p:nvSpPr>
        <p:spPr>
          <a:xfrm flipH="false" flipV="false" rot="0">
            <a:off x="1627152" y="5901539"/>
            <a:ext cx="591272" cy="552571"/>
          </a:xfrm>
          <a:custGeom>
            <a:avLst/>
            <a:gdLst/>
            <a:ahLst/>
            <a:cxnLst/>
            <a:rect r="r" b="b" t="t" l="l"/>
            <a:pathLst>
              <a:path h="552571" w="591272">
                <a:moveTo>
                  <a:pt x="0" y="0"/>
                </a:moveTo>
                <a:lnTo>
                  <a:pt x="591273" y="0"/>
                </a:lnTo>
                <a:lnTo>
                  <a:pt x="591273" y="552571"/>
                </a:lnTo>
                <a:lnTo>
                  <a:pt x="0" y="552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074577" y="7753846"/>
            <a:ext cx="9713212" cy="1822350"/>
          </a:xfrm>
          <a:custGeom>
            <a:avLst/>
            <a:gdLst/>
            <a:ahLst/>
            <a:cxnLst/>
            <a:rect r="r" b="b" t="t" l="l"/>
            <a:pathLst>
              <a:path h="1822350" w="9713212">
                <a:moveTo>
                  <a:pt x="0" y="0"/>
                </a:moveTo>
                <a:lnTo>
                  <a:pt x="9713213" y="0"/>
                </a:lnTo>
                <a:lnTo>
                  <a:pt x="9713213" y="1822350"/>
                </a:lnTo>
                <a:lnTo>
                  <a:pt x="0" y="1822350"/>
                </a:lnTo>
                <a:lnTo>
                  <a:pt x="0" y="0"/>
                </a:lnTo>
                <a:close/>
              </a:path>
            </a:pathLst>
          </a:custGeom>
          <a:blipFill>
            <a:blip r:embed="rId4"/>
            <a:stretch>
              <a:fillRect l="0" t="-138171" r="-26524" b="-599755"/>
            </a:stretch>
          </a:blipFill>
        </p:spPr>
      </p:sp>
      <p:sp>
        <p:nvSpPr>
          <p:cNvPr name="Freeform 15" id="15"/>
          <p:cNvSpPr/>
          <p:nvPr/>
        </p:nvSpPr>
        <p:spPr>
          <a:xfrm flipH="false" flipV="false" rot="0">
            <a:off x="1722597" y="7831244"/>
            <a:ext cx="628029" cy="628029"/>
          </a:xfrm>
          <a:custGeom>
            <a:avLst/>
            <a:gdLst/>
            <a:ahLst/>
            <a:cxnLst/>
            <a:rect r="r" b="b" t="t" l="l"/>
            <a:pathLst>
              <a:path h="628029" w="628029">
                <a:moveTo>
                  <a:pt x="0" y="0"/>
                </a:moveTo>
                <a:lnTo>
                  <a:pt x="628030" y="0"/>
                </a:lnTo>
                <a:lnTo>
                  <a:pt x="628030" y="628029"/>
                </a:lnTo>
                <a:lnTo>
                  <a:pt x="0" y="6280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1254608" y="4922253"/>
            <a:ext cx="6691073" cy="3345537"/>
          </a:xfrm>
          <a:custGeom>
            <a:avLst/>
            <a:gdLst/>
            <a:ahLst/>
            <a:cxnLst/>
            <a:rect r="r" b="b" t="t" l="l"/>
            <a:pathLst>
              <a:path h="3345537" w="6691073">
                <a:moveTo>
                  <a:pt x="0" y="0"/>
                </a:moveTo>
                <a:lnTo>
                  <a:pt x="6691074" y="0"/>
                </a:lnTo>
                <a:lnTo>
                  <a:pt x="6691074" y="3345536"/>
                </a:lnTo>
                <a:lnTo>
                  <a:pt x="0" y="3345536"/>
                </a:lnTo>
                <a:lnTo>
                  <a:pt x="0" y="0"/>
                </a:lnTo>
                <a:close/>
              </a:path>
            </a:pathLst>
          </a:custGeom>
          <a:blipFill>
            <a:blip r:embed="rId11"/>
            <a:stretch>
              <a:fillRect l="0" t="0" r="0" b="0"/>
            </a:stretch>
          </a:blipFill>
        </p:spPr>
      </p:sp>
      <p:sp>
        <p:nvSpPr>
          <p:cNvPr name="TextBox 17" id="17"/>
          <p:cNvSpPr txBox="true"/>
          <p:nvPr/>
        </p:nvSpPr>
        <p:spPr>
          <a:xfrm rot="0">
            <a:off x="1074577" y="2389773"/>
            <a:ext cx="7288936"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Data Preprocessing &amp; Feature Engineering</a:t>
            </a:r>
          </a:p>
        </p:txBody>
      </p:sp>
      <p:sp>
        <p:nvSpPr>
          <p:cNvPr name="TextBox 18" id="18"/>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9" id="19"/>
          <p:cNvSpPr txBox="true"/>
          <p:nvPr/>
        </p:nvSpPr>
        <p:spPr>
          <a:xfrm rot="0">
            <a:off x="1627152" y="3713615"/>
            <a:ext cx="9047362" cy="1397918"/>
          </a:xfrm>
          <a:prstGeom prst="rect">
            <a:avLst/>
          </a:prstGeom>
        </p:spPr>
        <p:txBody>
          <a:bodyPr anchor="t" rtlCol="false" tIns="0" lIns="0" bIns="0" rIns="0">
            <a:spAutoFit/>
          </a:bodyPr>
          <a:lstStyle/>
          <a:p>
            <a:pPr algn="l">
              <a:lnSpc>
                <a:spcPts val="4464"/>
              </a:lnSpc>
              <a:spcBef>
                <a:spcPct val="0"/>
              </a:spcBef>
            </a:pPr>
            <a:r>
              <a:rPr lang="en-US" b="true" sz="3188">
                <a:solidFill>
                  <a:srgbClr val="FFFFFF"/>
                </a:solidFill>
                <a:latin typeface="Arial MT Pro Bold"/>
                <a:ea typeface="Arial MT Pro Bold"/>
                <a:cs typeface="Arial MT Pro Bold"/>
                <a:sym typeface="Arial MT Pro Bold"/>
              </a:rPr>
              <a:t>        Đặc trưng Vận hành (</a:t>
            </a:r>
            <a:r>
              <a:rPr lang="en-US" b="true" sz="3188">
                <a:solidFill>
                  <a:srgbClr val="FFFFFF"/>
                </a:solidFill>
                <a:latin typeface="Arial MT Pro Bold"/>
                <a:ea typeface="Arial MT Pro Bold"/>
                <a:cs typeface="Arial MT Pro Bold"/>
                <a:sym typeface="Arial MT Pro Bold"/>
              </a:rPr>
              <a:t>Operational)</a:t>
            </a:r>
          </a:p>
          <a:p>
            <a:pPr algn="l">
              <a:lnSpc>
                <a:spcPts val="3134"/>
              </a:lnSpc>
              <a:spcBef>
                <a:spcPct val="0"/>
              </a:spcBef>
            </a:pPr>
            <a:r>
              <a:rPr lang="en-US" sz="2239">
                <a:solidFill>
                  <a:srgbClr val="FFFFFF"/>
                </a:solidFill>
                <a:latin typeface="Arial MT Pro"/>
                <a:ea typeface="Arial MT Pro"/>
                <a:cs typeface="Arial MT Pro"/>
                <a:sym typeface="Arial MT Pro"/>
              </a:rPr>
              <a:t>T</a:t>
            </a:r>
            <a:r>
              <a:rPr lang="en-US" sz="2239">
                <a:solidFill>
                  <a:srgbClr val="FFFFFF"/>
                </a:solidFill>
                <a:latin typeface="Arial MT Pro"/>
                <a:ea typeface="Arial MT Pro"/>
                <a:cs typeface="Arial MT Pro"/>
                <a:sym typeface="Arial MT Pro"/>
              </a:rPr>
              <a:t>rích xuất từ lịch sử giao hàng: số ngày giao thực tế (delivery_days), số ngày bị trễ (delay_days).</a:t>
            </a:r>
          </a:p>
        </p:txBody>
      </p:sp>
      <p:sp>
        <p:nvSpPr>
          <p:cNvPr name="TextBox 20" id="20"/>
          <p:cNvSpPr txBox="true"/>
          <p:nvPr/>
        </p:nvSpPr>
        <p:spPr>
          <a:xfrm rot="0">
            <a:off x="1574117" y="5957168"/>
            <a:ext cx="9213673" cy="1397918"/>
          </a:xfrm>
          <a:prstGeom prst="rect">
            <a:avLst/>
          </a:prstGeom>
        </p:spPr>
        <p:txBody>
          <a:bodyPr anchor="t" rtlCol="false" tIns="0" lIns="0" bIns="0" rIns="0">
            <a:spAutoFit/>
          </a:bodyPr>
          <a:lstStyle/>
          <a:p>
            <a:pPr algn="l">
              <a:lnSpc>
                <a:spcPts val="4464"/>
              </a:lnSpc>
              <a:spcBef>
                <a:spcPct val="0"/>
              </a:spcBef>
            </a:pPr>
            <a:r>
              <a:rPr lang="en-US" b="true" sz="3188">
                <a:solidFill>
                  <a:srgbClr val="FFFFFF"/>
                </a:solidFill>
                <a:latin typeface="Arial MT Pro Bold"/>
                <a:ea typeface="Arial MT Pro Bold"/>
                <a:cs typeface="Arial MT Pro Bold"/>
                <a:sym typeface="Arial MT Pro Bold"/>
              </a:rPr>
              <a:t>        Đặc trưng Kỹ thuật (Engine</a:t>
            </a:r>
            <a:r>
              <a:rPr lang="en-US" b="true" sz="3188">
                <a:solidFill>
                  <a:srgbClr val="FFFFFF"/>
                </a:solidFill>
                <a:latin typeface="Arial MT Pro Bold"/>
                <a:ea typeface="Arial MT Pro Bold"/>
                <a:cs typeface="Arial MT Pro Bold"/>
                <a:sym typeface="Arial MT Pro Bold"/>
              </a:rPr>
              <a:t>ered)</a:t>
            </a:r>
          </a:p>
          <a:p>
            <a:pPr algn="l">
              <a:lnSpc>
                <a:spcPts val="3134"/>
              </a:lnSpc>
              <a:spcBef>
                <a:spcPct val="0"/>
              </a:spcBef>
            </a:pPr>
            <a:r>
              <a:rPr lang="en-US" sz="2239">
                <a:solidFill>
                  <a:srgbClr val="FFFFFF"/>
                </a:solidFill>
                <a:latin typeface="Arial MT Pro"/>
                <a:ea typeface="Arial MT Pro"/>
                <a:cs typeface="Arial MT Pro"/>
                <a:sym typeface="Arial MT Pro"/>
              </a:rPr>
              <a:t>Phân tích áp lực</a:t>
            </a:r>
            <a:r>
              <a:rPr lang="en-US" sz="2239">
                <a:solidFill>
                  <a:srgbClr val="FFFFFF"/>
                </a:solidFill>
                <a:latin typeface="Arial MT Pro"/>
                <a:ea typeface="Arial MT Pro"/>
                <a:cs typeface="Arial MT Pro"/>
                <a:sym typeface="Arial MT Pro"/>
              </a:rPr>
              <a:t> tài chính &amp; vật lý: Tỷ lệ phí ship trên giá trị (freight_ratio), phương thức thanh toán, thể tích hàng (product_volume).</a:t>
            </a:r>
          </a:p>
        </p:txBody>
      </p:sp>
      <p:sp>
        <p:nvSpPr>
          <p:cNvPr name="TextBox 21" id="21"/>
          <p:cNvSpPr txBox="true"/>
          <p:nvPr/>
        </p:nvSpPr>
        <p:spPr>
          <a:xfrm rot="0">
            <a:off x="1627152" y="7953871"/>
            <a:ext cx="9047362" cy="1788443"/>
          </a:xfrm>
          <a:prstGeom prst="rect">
            <a:avLst/>
          </a:prstGeom>
        </p:spPr>
        <p:txBody>
          <a:bodyPr anchor="t" rtlCol="false" tIns="0" lIns="0" bIns="0" rIns="0">
            <a:spAutoFit/>
          </a:bodyPr>
          <a:lstStyle/>
          <a:p>
            <a:pPr algn="l">
              <a:lnSpc>
                <a:spcPts val="4464"/>
              </a:lnSpc>
              <a:spcBef>
                <a:spcPct val="0"/>
              </a:spcBef>
            </a:pPr>
            <a:r>
              <a:rPr lang="en-US" b="true" sz="3188">
                <a:solidFill>
                  <a:srgbClr val="FFFFFF"/>
                </a:solidFill>
                <a:latin typeface="Arial MT Pro Bold"/>
                <a:ea typeface="Arial MT Pro Bold"/>
                <a:cs typeface="Arial MT Pro Bold"/>
                <a:sym typeface="Arial MT Pro Bold"/>
              </a:rPr>
              <a:t>         Quy trì</a:t>
            </a:r>
            <a:r>
              <a:rPr lang="en-US" b="true" sz="3188">
                <a:solidFill>
                  <a:srgbClr val="FFFFFF"/>
                </a:solidFill>
                <a:latin typeface="Arial MT Pro Bold"/>
                <a:ea typeface="Arial MT Pro Bold"/>
                <a:cs typeface="Arial MT Pro Bold"/>
                <a:sym typeface="Arial MT Pro Bold"/>
              </a:rPr>
              <a:t>nh Phát triển (Pipeline)</a:t>
            </a:r>
          </a:p>
          <a:p>
            <a:pPr algn="l">
              <a:lnSpc>
                <a:spcPts val="3134"/>
              </a:lnSpc>
              <a:spcBef>
                <a:spcPct val="0"/>
              </a:spcBef>
            </a:pPr>
            <a:r>
              <a:rPr lang="en-US" sz="2239">
                <a:solidFill>
                  <a:srgbClr val="FFFFFF"/>
                </a:solidFill>
                <a:latin typeface="Arial MT Pro"/>
                <a:ea typeface="Arial MT Pro"/>
                <a:cs typeface="Arial MT Pro"/>
                <a:sym typeface="Arial MT Pro"/>
              </a:rPr>
              <a:t>T</a:t>
            </a:r>
            <a:r>
              <a:rPr lang="en-US" sz="2239">
                <a:solidFill>
                  <a:srgbClr val="FFFFFF"/>
                </a:solidFill>
                <a:latin typeface="Arial MT Pro"/>
                <a:ea typeface="Arial MT Pro"/>
                <a:cs typeface="Arial MT Pro"/>
                <a:sym typeface="Arial MT Pro"/>
              </a:rPr>
              <a:t>rain (huấn luyện trên dữ liệu cũ) ➔ Predict (dự đoán trên tập test) </a:t>
            </a:r>
          </a:p>
          <a:p>
            <a:pPr algn="l">
              <a:lnSpc>
                <a:spcPts val="3134"/>
              </a:lnSpc>
              <a:spcBef>
                <a:spcPct val="0"/>
              </a:spcBef>
            </a:pPr>
            <a:r>
              <a:rPr lang="en-US" sz="2239">
                <a:solidFill>
                  <a:srgbClr val="FFFFFF"/>
                </a:solidFill>
                <a:latin typeface="Arial MT Pro"/>
                <a:ea typeface="Arial MT Pro"/>
                <a:cs typeface="Arial MT Pro"/>
                <a:sym typeface="Arial MT Pro"/>
              </a:rPr>
              <a:t>➔ Evaluate (đánh giá hiệu năng).</a:t>
            </a:r>
          </a:p>
          <a:p>
            <a:pPr algn="l">
              <a:lnSpc>
                <a:spcPts val="3134"/>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7614518" cy="998829"/>
            <a:chOff x="0" y="0"/>
            <a:chExt cx="5296898" cy="694817"/>
          </a:xfrm>
        </p:grpSpPr>
        <p:sp>
          <p:nvSpPr>
            <p:cNvPr name="Freeform 8" id="8"/>
            <p:cNvSpPr/>
            <p:nvPr/>
          </p:nvSpPr>
          <p:spPr>
            <a:xfrm flipH="false" flipV="false" rot="0">
              <a:off x="0" y="0"/>
              <a:ext cx="5296898" cy="694817"/>
            </a:xfrm>
            <a:custGeom>
              <a:avLst/>
              <a:gdLst/>
              <a:ahLst/>
              <a:cxnLst/>
              <a:rect r="r" b="b" t="t" l="l"/>
              <a:pathLst>
                <a:path h="694817" w="5296898">
                  <a:moveTo>
                    <a:pt x="35586" y="0"/>
                  </a:moveTo>
                  <a:lnTo>
                    <a:pt x="5261312" y="0"/>
                  </a:lnTo>
                  <a:cubicBezTo>
                    <a:pt x="5270750" y="0"/>
                    <a:pt x="5279801" y="3749"/>
                    <a:pt x="5286475" y="10423"/>
                  </a:cubicBezTo>
                  <a:cubicBezTo>
                    <a:pt x="5293149" y="17096"/>
                    <a:pt x="5296898" y="26148"/>
                    <a:pt x="5296898" y="35586"/>
                  </a:cubicBezTo>
                  <a:lnTo>
                    <a:pt x="5296898" y="659232"/>
                  </a:lnTo>
                  <a:cubicBezTo>
                    <a:pt x="5296898" y="678885"/>
                    <a:pt x="5280965" y="694817"/>
                    <a:pt x="5261312" y="694817"/>
                  </a:cubicBezTo>
                  <a:lnTo>
                    <a:pt x="35586" y="694817"/>
                  </a:lnTo>
                  <a:cubicBezTo>
                    <a:pt x="15932" y="694817"/>
                    <a:pt x="0" y="678885"/>
                    <a:pt x="0" y="659232"/>
                  </a:cubicBezTo>
                  <a:lnTo>
                    <a:pt x="0" y="35586"/>
                  </a:lnTo>
                  <a:cubicBezTo>
                    <a:pt x="0" y="15932"/>
                    <a:pt x="15932" y="0"/>
                    <a:pt x="35586"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529689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1028700" y="3400917"/>
            <a:ext cx="6416738" cy="3260117"/>
          </a:xfrm>
          <a:custGeom>
            <a:avLst/>
            <a:gdLst/>
            <a:ahLst/>
            <a:cxnLst/>
            <a:rect r="r" b="b" t="t" l="l"/>
            <a:pathLst>
              <a:path h="3260117" w="6416738">
                <a:moveTo>
                  <a:pt x="0" y="0"/>
                </a:moveTo>
                <a:lnTo>
                  <a:pt x="6416738" y="0"/>
                </a:lnTo>
                <a:lnTo>
                  <a:pt x="6416738" y="3260117"/>
                </a:lnTo>
                <a:lnTo>
                  <a:pt x="0" y="3260117"/>
                </a:lnTo>
                <a:lnTo>
                  <a:pt x="0" y="0"/>
                </a:lnTo>
                <a:close/>
              </a:path>
            </a:pathLst>
          </a:custGeom>
          <a:blipFill>
            <a:blip r:embed="rId4"/>
            <a:stretch>
              <a:fillRect l="0" t="0" r="0" b="0"/>
            </a:stretch>
          </a:blipFill>
        </p:spPr>
      </p:sp>
      <p:sp>
        <p:nvSpPr>
          <p:cNvPr name="Freeform 11" id="11"/>
          <p:cNvSpPr/>
          <p:nvPr/>
        </p:nvSpPr>
        <p:spPr>
          <a:xfrm flipH="false" flipV="false" rot="0">
            <a:off x="9501523" y="2228438"/>
            <a:ext cx="7757777" cy="6151612"/>
          </a:xfrm>
          <a:custGeom>
            <a:avLst/>
            <a:gdLst/>
            <a:ahLst/>
            <a:cxnLst/>
            <a:rect r="r" b="b" t="t" l="l"/>
            <a:pathLst>
              <a:path h="6151612" w="7757777">
                <a:moveTo>
                  <a:pt x="0" y="0"/>
                </a:moveTo>
                <a:lnTo>
                  <a:pt x="7757777" y="0"/>
                </a:lnTo>
                <a:lnTo>
                  <a:pt x="7757777" y="6151611"/>
                </a:lnTo>
                <a:lnTo>
                  <a:pt x="0" y="6151611"/>
                </a:lnTo>
                <a:lnTo>
                  <a:pt x="0" y="0"/>
                </a:lnTo>
                <a:close/>
              </a:path>
            </a:pathLst>
          </a:custGeom>
          <a:blipFill>
            <a:blip r:embed="rId5"/>
            <a:stretch>
              <a:fillRect l="0" t="0" r="0" b="0"/>
            </a:stretch>
          </a:blipFill>
        </p:spPr>
      </p:sp>
      <p:sp>
        <p:nvSpPr>
          <p:cNvPr name="TextBox 12" id="12"/>
          <p:cNvSpPr txBox="true"/>
          <p:nvPr/>
        </p:nvSpPr>
        <p:spPr>
          <a:xfrm rot="0">
            <a:off x="1074577" y="2389773"/>
            <a:ext cx="7288936" cy="12718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Decision Tree Performance (Baseline)</a:t>
            </a:r>
          </a:p>
          <a:p>
            <a:pPr algn="l">
              <a:lnSpc>
                <a:spcPts val="3180"/>
              </a:lnSpc>
            </a:pPr>
          </a:p>
          <a:p>
            <a:pPr algn="l">
              <a:lnSpc>
                <a:spcPts val="3180"/>
              </a:lnSpc>
            </a:pPr>
          </a:p>
        </p:txBody>
      </p:sp>
      <p:sp>
        <p:nvSpPr>
          <p:cNvPr name="TextBox 13" id="1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Freeform 14" id="14"/>
          <p:cNvSpPr/>
          <p:nvPr/>
        </p:nvSpPr>
        <p:spPr>
          <a:xfrm flipH="false" flipV="false" rot="0">
            <a:off x="428852" y="6994409"/>
            <a:ext cx="8435334" cy="2841222"/>
          </a:xfrm>
          <a:custGeom>
            <a:avLst/>
            <a:gdLst/>
            <a:ahLst/>
            <a:cxnLst/>
            <a:rect r="r" b="b" t="t" l="l"/>
            <a:pathLst>
              <a:path h="2841222" w="8435334">
                <a:moveTo>
                  <a:pt x="0" y="0"/>
                </a:moveTo>
                <a:lnTo>
                  <a:pt x="8435334" y="0"/>
                </a:lnTo>
                <a:lnTo>
                  <a:pt x="8435334" y="2841222"/>
                </a:lnTo>
                <a:lnTo>
                  <a:pt x="0" y="2841222"/>
                </a:lnTo>
                <a:lnTo>
                  <a:pt x="0" y="0"/>
                </a:lnTo>
                <a:close/>
              </a:path>
            </a:pathLst>
          </a:custGeom>
          <a:blipFill>
            <a:blip r:embed="rId6"/>
            <a:stretch>
              <a:fillRect l="0" t="-73498" r="-32963" b="-316989"/>
            </a:stretch>
          </a:blipFill>
        </p:spPr>
      </p:sp>
      <p:sp>
        <p:nvSpPr>
          <p:cNvPr name="TextBox 15" id="15"/>
          <p:cNvSpPr txBox="true"/>
          <p:nvPr/>
        </p:nvSpPr>
        <p:spPr>
          <a:xfrm rot="0">
            <a:off x="589719" y="7280159"/>
            <a:ext cx="8129872" cy="2326225"/>
          </a:xfrm>
          <a:prstGeom prst="rect">
            <a:avLst/>
          </a:prstGeom>
        </p:spPr>
        <p:txBody>
          <a:bodyPr anchor="t" rtlCol="false" tIns="0" lIns="0" bIns="0" rIns="0">
            <a:spAutoFit/>
          </a:bodyPr>
          <a:lstStyle/>
          <a:p>
            <a:pPr algn="l" marL="467712" indent="-233856" lvl="1">
              <a:lnSpc>
                <a:spcPts val="3032"/>
              </a:lnSpc>
              <a:buFont typeface="Arial"/>
              <a:buChar char="•"/>
            </a:pPr>
            <a:r>
              <a:rPr lang="en-US" sz="2166">
                <a:solidFill>
                  <a:srgbClr val="FFFFFF"/>
                </a:solidFill>
                <a:latin typeface="Arial MT Pro"/>
                <a:ea typeface="Arial MT Pro"/>
                <a:cs typeface="Arial MT Pro"/>
                <a:sym typeface="Arial MT Pro"/>
              </a:rPr>
              <a:t>M</a:t>
            </a:r>
            <a:r>
              <a:rPr lang="en-US" sz="2166">
                <a:solidFill>
                  <a:srgbClr val="FFFFFF"/>
                </a:solidFill>
                <a:latin typeface="Arial MT Pro"/>
                <a:ea typeface="Arial MT Pro"/>
                <a:cs typeface="Arial MT Pro"/>
                <a:sym typeface="Arial MT Pro"/>
              </a:rPr>
              <a:t>odel đạt Precision và Recall ở mức khá, cho thấy khả năng dự đoán lớp Positive tốt.</a:t>
            </a:r>
          </a:p>
          <a:p>
            <a:pPr algn="l" marL="467712" indent="-233856" lvl="1">
              <a:lnSpc>
                <a:spcPts val="3032"/>
              </a:lnSpc>
              <a:buFont typeface="Arial"/>
              <a:buChar char="•"/>
            </a:pPr>
            <a:r>
              <a:rPr lang="en-US" sz="2166">
                <a:solidFill>
                  <a:srgbClr val="FFFFFF"/>
                </a:solidFill>
                <a:latin typeface="Arial MT Pro"/>
                <a:ea typeface="Arial MT Pro"/>
                <a:cs typeface="Arial MT Pro"/>
                <a:sym typeface="Arial MT Pro"/>
              </a:rPr>
              <a:t>Tuy nhiên, Confusion matrix cho thấy vẫn còn nhầm một phần mẫu Negative sang Positive.</a:t>
            </a:r>
          </a:p>
          <a:p>
            <a:pPr algn="l" marL="467712" indent="-233856" lvl="1">
              <a:lnSpc>
                <a:spcPts val="3032"/>
              </a:lnSpc>
              <a:buFont typeface="Arial"/>
              <a:buChar char="•"/>
            </a:pPr>
            <a:r>
              <a:rPr lang="en-US" sz="2166">
                <a:solidFill>
                  <a:srgbClr val="FFFFFF"/>
                </a:solidFill>
                <a:latin typeface="Arial MT Pro"/>
                <a:ea typeface="Arial MT Pro"/>
                <a:cs typeface="Arial MT Pro"/>
                <a:sym typeface="Arial MT Pro"/>
              </a:rPr>
              <a:t>Do dữ liệu có xu hướng lệch lớp, Accuracy chỉ nên đọc cùng Precision, Recall và F1-score để có cái nhìn toàn diện.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3638179" y="597983"/>
            <a:ext cx="9354475" cy="998829"/>
            <a:chOff x="0" y="0"/>
            <a:chExt cx="6507267" cy="694817"/>
          </a:xfrm>
        </p:grpSpPr>
        <p:sp>
          <p:nvSpPr>
            <p:cNvPr name="Freeform 8" id="8"/>
            <p:cNvSpPr/>
            <p:nvPr/>
          </p:nvSpPr>
          <p:spPr>
            <a:xfrm flipH="false" flipV="false" rot="0">
              <a:off x="0" y="0"/>
              <a:ext cx="6507267" cy="694817"/>
            </a:xfrm>
            <a:custGeom>
              <a:avLst/>
              <a:gdLst/>
              <a:ahLst/>
              <a:cxnLst/>
              <a:rect r="r" b="b" t="t" l="l"/>
              <a:pathLst>
                <a:path h="694817" w="6507267">
                  <a:moveTo>
                    <a:pt x="28967" y="0"/>
                  </a:moveTo>
                  <a:lnTo>
                    <a:pt x="6478301" y="0"/>
                  </a:lnTo>
                  <a:cubicBezTo>
                    <a:pt x="6485983" y="0"/>
                    <a:pt x="6493351" y="3052"/>
                    <a:pt x="6498783" y="8484"/>
                  </a:cubicBezTo>
                  <a:cubicBezTo>
                    <a:pt x="6504215" y="13916"/>
                    <a:pt x="6507267" y="21284"/>
                    <a:pt x="6507267" y="28967"/>
                  </a:cubicBezTo>
                  <a:lnTo>
                    <a:pt x="6507267" y="665851"/>
                  </a:lnTo>
                  <a:cubicBezTo>
                    <a:pt x="6507267" y="681848"/>
                    <a:pt x="6494299" y="694817"/>
                    <a:pt x="6478301" y="694817"/>
                  </a:cubicBezTo>
                  <a:lnTo>
                    <a:pt x="28967" y="694817"/>
                  </a:lnTo>
                  <a:cubicBezTo>
                    <a:pt x="12969" y="694817"/>
                    <a:pt x="0" y="681848"/>
                    <a:pt x="0" y="665851"/>
                  </a:cubicBezTo>
                  <a:lnTo>
                    <a:pt x="0" y="28967"/>
                  </a:lnTo>
                  <a:cubicBezTo>
                    <a:pt x="0" y="12969"/>
                    <a:pt x="12969" y="0"/>
                    <a:pt x="28967"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6507267"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428852" y="6994409"/>
            <a:ext cx="8435334" cy="2841222"/>
          </a:xfrm>
          <a:custGeom>
            <a:avLst/>
            <a:gdLst/>
            <a:ahLst/>
            <a:cxnLst/>
            <a:rect r="r" b="b" t="t" l="l"/>
            <a:pathLst>
              <a:path h="2841222" w="8435334">
                <a:moveTo>
                  <a:pt x="0" y="0"/>
                </a:moveTo>
                <a:lnTo>
                  <a:pt x="8435334" y="0"/>
                </a:lnTo>
                <a:lnTo>
                  <a:pt x="8435334" y="2841222"/>
                </a:lnTo>
                <a:lnTo>
                  <a:pt x="0" y="2841222"/>
                </a:lnTo>
                <a:lnTo>
                  <a:pt x="0" y="0"/>
                </a:lnTo>
                <a:close/>
              </a:path>
            </a:pathLst>
          </a:custGeom>
          <a:blipFill>
            <a:blip r:embed="rId4"/>
            <a:stretch>
              <a:fillRect l="0" t="-73498" r="-32963" b="-316989"/>
            </a:stretch>
          </a:blipFill>
        </p:spPr>
      </p:sp>
      <p:sp>
        <p:nvSpPr>
          <p:cNvPr name="Freeform 11" id="11"/>
          <p:cNvSpPr/>
          <p:nvPr/>
        </p:nvSpPr>
        <p:spPr>
          <a:xfrm flipH="false" flipV="false" rot="0">
            <a:off x="9144000" y="2062374"/>
            <a:ext cx="8115300" cy="6735227"/>
          </a:xfrm>
          <a:custGeom>
            <a:avLst/>
            <a:gdLst/>
            <a:ahLst/>
            <a:cxnLst/>
            <a:rect r="r" b="b" t="t" l="l"/>
            <a:pathLst>
              <a:path h="6735227" w="8115300">
                <a:moveTo>
                  <a:pt x="0" y="0"/>
                </a:moveTo>
                <a:lnTo>
                  <a:pt x="8115300" y="0"/>
                </a:lnTo>
                <a:lnTo>
                  <a:pt x="8115300" y="6735227"/>
                </a:lnTo>
                <a:lnTo>
                  <a:pt x="0" y="6735227"/>
                </a:lnTo>
                <a:lnTo>
                  <a:pt x="0" y="0"/>
                </a:lnTo>
                <a:close/>
              </a:path>
            </a:pathLst>
          </a:custGeom>
          <a:blipFill>
            <a:blip r:embed="rId5"/>
            <a:stretch>
              <a:fillRect l="0" t="0" r="0" b="0"/>
            </a:stretch>
          </a:blipFill>
        </p:spPr>
      </p:sp>
      <p:sp>
        <p:nvSpPr>
          <p:cNvPr name="Freeform 12" id="12"/>
          <p:cNvSpPr/>
          <p:nvPr/>
        </p:nvSpPr>
        <p:spPr>
          <a:xfrm flipH="false" flipV="false" rot="0">
            <a:off x="1074577" y="2424421"/>
            <a:ext cx="7789608" cy="2828963"/>
          </a:xfrm>
          <a:custGeom>
            <a:avLst/>
            <a:gdLst/>
            <a:ahLst/>
            <a:cxnLst/>
            <a:rect r="r" b="b" t="t" l="l"/>
            <a:pathLst>
              <a:path h="2828963" w="7789608">
                <a:moveTo>
                  <a:pt x="0" y="0"/>
                </a:moveTo>
                <a:lnTo>
                  <a:pt x="7789609" y="0"/>
                </a:lnTo>
                <a:lnTo>
                  <a:pt x="7789609" y="2828962"/>
                </a:lnTo>
                <a:lnTo>
                  <a:pt x="0" y="2828962"/>
                </a:lnTo>
                <a:lnTo>
                  <a:pt x="0" y="0"/>
                </a:lnTo>
                <a:close/>
              </a:path>
            </a:pathLst>
          </a:custGeom>
          <a:blipFill>
            <a:blip r:embed="rId6"/>
            <a:stretch>
              <a:fillRect l="0" t="0" r="0" b="0"/>
            </a:stretch>
          </a:blipFill>
        </p:spPr>
      </p:sp>
      <p:sp>
        <p:nvSpPr>
          <p:cNvPr name="TextBox 13" id="13"/>
          <p:cNvSpPr txBox="true"/>
          <p:nvPr/>
        </p:nvSpPr>
        <p:spPr>
          <a:xfrm rot="0">
            <a:off x="3699777" y="861941"/>
            <a:ext cx="10746890"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 Tối ưu phát hiện đánh giá Xấu bằng Decision Tree</a:t>
            </a:r>
          </a:p>
        </p:txBody>
      </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589719" y="7270634"/>
            <a:ext cx="8129872" cy="2949160"/>
          </a:xfrm>
          <a:prstGeom prst="rect">
            <a:avLst/>
          </a:prstGeom>
        </p:spPr>
        <p:txBody>
          <a:bodyPr anchor="t" rtlCol="false" tIns="0" lIns="0" bIns="0" rIns="0">
            <a:spAutoFit/>
          </a:bodyPr>
          <a:lstStyle/>
          <a:p>
            <a:pPr algn="l" marL="597249" indent="-298625" lvl="1">
              <a:lnSpc>
                <a:spcPts val="3872"/>
              </a:lnSpc>
              <a:buFont typeface="Arial"/>
              <a:buChar char="•"/>
            </a:pPr>
            <a:r>
              <a:rPr lang="en-US" sz="2766">
                <a:solidFill>
                  <a:srgbClr val="FFFFFF"/>
                </a:solidFill>
                <a:latin typeface="Arial MT Pro"/>
                <a:ea typeface="Arial MT Pro"/>
                <a:cs typeface="Arial MT Pro"/>
                <a:sym typeface="Arial MT Pro"/>
              </a:rPr>
              <a:t>Chia</a:t>
            </a:r>
            <a:r>
              <a:rPr lang="en-US" sz="2766">
                <a:solidFill>
                  <a:srgbClr val="FFFFFF"/>
                </a:solidFill>
                <a:latin typeface="Arial MT Pro"/>
                <a:ea typeface="Arial MT Pro"/>
                <a:cs typeface="Arial MT Pro"/>
                <a:sym typeface="Arial MT Pro"/>
              </a:rPr>
              <a:t> train thành fit/validation theo stratify.</a:t>
            </a:r>
          </a:p>
          <a:p>
            <a:pPr algn="l" marL="597249" indent="-298625" lvl="1">
              <a:lnSpc>
                <a:spcPts val="3872"/>
              </a:lnSpc>
              <a:buFont typeface="Arial"/>
              <a:buChar char="•"/>
            </a:pPr>
            <a:r>
              <a:rPr lang="en-US" sz="2766">
                <a:solidFill>
                  <a:srgbClr val="FFFFFF"/>
                </a:solidFill>
                <a:latin typeface="Arial MT Pro"/>
                <a:ea typeface="Arial MT Pro"/>
                <a:cs typeface="Arial MT Pro"/>
                <a:sym typeface="Arial MT Pro"/>
              </a:rPr>
              <a:t>Tìm cấu hình Decision Tree tốt nhất thỏa Recall (Bad) &gt;= 0.55.</a:t>
            </a:r>
          </a:p>
          <a:p>
            <a:pPr algn="l" marL="597249" indent="-298625" lvl="1">
              <a:lnSpc>
                <a:spcPts val="3872"/>
              </a:lnSpc>
              <a:buFont typeface="Arial"/>
              <a:buChar char="•"/>
            </a:pPr>
            <a:r>
              <a:rPr lang="en-US" sz="2766">
                <a:solidFill>
                  <a:srgbClr val="FFFFFF"/>
                </a:solidFill>
                <a:latin typeface="Arial MT Pro"/>
                <a:ea typeface="Arial MT Pro"/>
                <a:cs typeface="Arial MT Pro"/>
                <a:sym typeface="Arial MT Pro"/>
              </a:rPr>
              <a:t>Tìm</a:t>
            </a:r>
            <a:r>
              <a:rPr lang="en-US" sz="2766">
                <a:solidFill>
                  <a:srgbClr val="FFFFFF"/>
                </a:solidFill>
                <a:latin typeface="Arial MT Pro"/>
                <a:ea typeface="Arial MT Pro"/>
                <a:cs typeface="Arial MT Pro"/>
                <a:sym typeface="Arial MT Pro"/>
              </a:rPr>
              <a:t> threshold dự đoán tốt nhất (trong nhóm thỏa recall) để tối đa Accuracy.</a:t>
            </a:r>
          </a:p>
          <a:p>
            <a:pPr algn="l">
              <a:lnSpc>
                <a:spcPts val="3872"/>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945" y="2198818"/>
            <a:ext cx="5306067" cy="998829"/>
            <a:chOff x="0" y="0"/>
            <a:chExt cx="3691067" cy="694817"/>
          </a:xfrm>
        </p:grpSpPr>
        <p:sp>
          <p:nvSpPr>
            <p:cNvPr name="Freeform 8" id="8"/>
            <p:cNvSpPr/>
            <p:nvPr/>
          </p:nvSpPr>
          <p:spPr>
            <a:xfrm flipH="false" flipV="false" rot="0">
              <a:off x="0" y="0"/>
              <a:ext cx="3691067" cy="694817"/>
            </a:xfrm>
            <a:custGeom>
              <a:avLst/>
              <a:gdLst/>
              <a:ahLst/>
              <a:cxnLst/>
              <a:rect r="r" b="b" t="t" l="l"/>
              <a:pathLst>
                <a:path h="694817" w="3691067">
                  <a:moveTo>
                    <a:pt x="51067" y="0"/>
                  </a:moveTo>
                  <a:lnTo>
                    <a:pt x="3639999" y="0"/>
                  </a:lnTo>
                  <a:cubicBezTo>
                    <a:pt x="3668203" y="0"/>
                    <a:pt x="3691067" y="22864"/>
                    <a:pt x="3691067" y="51067"/>
                  </a:cubicBezTo>
                  <a:lnTo>
                    <a:pt x="3691067" y="643750"/>
                  </a:lnTo>
                  <a:cubicBezTo>
                    <a:pt x="3691067" y="657294"/>
                    <a:pt x="3685686" y="670283"/>
                    <a:pt x="3676109" y="679860"/>
                  </a:cubicBezTo>
                  <a:cubicBezTo>
                    <a:pt x="3666532" y="689437"/>
                    <a:pt x="3653543" y="694817"/>
                    <a:pt x="3639999" y="694817"/>
                  </a:cubicBezTo>
                  <a:lnTo>
                    <a:pt x="51067" y="694817"/>
                  </a:lnTo>
                  <a:cubicBezTo>
                    <a:pt x="37524" y="694817"/>
                    <a:pt x="24534" y="689437"/>
                    <a:pt x="14957" y="679860"/>
                  </a:cubicBezTo>
                  <a:cubicBezTo>
                    <a:pt x="5380" y="670283"/>
                    <a:pt x="0" y="657294"/>
                    <a:pt x="0" y="643750"/>
                  </a:cubicBezTo>
                  <a:lnTo>
                    <a:pt x="0" y="51067"/>
                  </a:lnTo>
                  <a:cubicBezTo>
                    <a:pt x="0" y="37524"/>
                    <a:pt x="5380" y="24534"/>
                    <a:pt x="14957" y="14957"/>
                  </a:cubicBezTo>
                  <a:cubicBezTo>
                    <a:pt x="24534" y="5380"/>
                    <a:pt x="37524" y="0"/>
                    <a:pt x="51067"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3691067" cy="675767"/>
            </a:xfrm>
            <a:prstGeom prst="rect">
              <a:avLst/>
            </a:prstGeom>
          </p:spPr>
          <p:txBody>
            <a:bodyPr anchor="ctr" rtlCol="false" tIns="19233" lIns="19233" bIns="19233" rIns="19233"/>
            <a:lstStyle/>
            <a:p>
              <a:pPr algn="l">
                <a:lnSpc>
                  <a:spcPts val="1387"/>
                </a:lnSpc>
              </a:pPr>
            </a:p>
          </p:txBody>
        </p:sp>
      </p:grpSp>
      <p:sp>
        <p:nvSpPr>
          <p:cNvPr name="TextBox 10" id="10"/>
          <p:cNvSpPr txBox="true"/>
          <p:nvPr/>
        </p:nvSpPr>
        <p:spPr>
          <a:xfrm rot="0">
            <a:off x="1522950" y="2457610"/>
            <a:ext cx="4436056"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Conclusion &amp; Insights</a:t>
            </a:r>
          </a:p>
        </p:txBody>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2" id="12"/>
          <p:cNvSpPr txBox="true"/>
          <p:nvPr/>
        </p:nvSpPr>
        <p:spPr>
          <a:xfrm rot="0">
            <a:off x="1028700" y="4026323"/>
            <a:ext cx="16134383" cy="3047998"/>
          </a:xfrm>
          <a:prstGeom prst="rect">
            <a:avLst/>
          </a:prstGeom>
        </p:spPr>
        <p:txBody>
          <a:bodyPr anchor="t" rtlCol="false" tIns="0" lIns="0" bIns="0" rIns="0">
            <a:spAutoFit/>
          </a:bodyPr>
          <a:lstStyle/>
          <a:p>
            <a:pPr algn="ctr">
              <a:lnSpc>
                <a:spcPts val="4725"/>
              </a:lnSpc>
            </a:pPr>
            <a:r>
              <a:rPr lang="en-US" sz="3375">
                <a:solidFill>
                  <a:srgbClr val="FFFFFF"/>
                </a:solidFill>
                <a:latin typeface="Arial MT Pro"/>
                <a:ea typeface="Arial MT Pro"/>
                <a:cs typeface="Arial MT Pro"/>
                <a:sym typeface="Arial MT Pro"/>
              </a:rPr>
              <a:t>Decision Tree đóng vai trò là </a:t>
            </a:r>
            <a:r>
              <a:rPr lang="en-US" sz="3375">
                <a:solidFill>
                  <a:srgbClr val="FFFFFF"/>
                </a:solidFill>
                <a:latin typeface="Arial MT Pro"/>
                <a:ea typeface="Arial MT Pro"/>
                <a:cs typeface="Arial MT Pro"/>
                <a:sym typeface="Arial MT Pro"/>
              </a:rPr>
              <a:t>Baseline Model c</a:t>
            </a:r>
            <a:r>
              <a:rPr lang="en-US" sz="3375">
                <a:solidFill>
                  <a:srgbClr val="FFFFFF"/>
                </a:solidFill>
                <a:latin typeface="Arial MT Pro"/>
                <a:ea typeface="Arial MT Pro"/>
                <a:cs typeface="Arial MT Pro"/>
                <a:sym typeface="Arial MT Pro"/>
              </a:rPr>
              <a:t>ung cấp logic phân loại trực quan. Ở phiên bản tố</a:t>
            </a:r>
            <a:r>
              <a:rPr lang="en-US" sz="3375">
                <a:solidFill>
                  <a:srgbClr val="FFFFFF"/>
                </a:solidFill>
                <a:latin typeface="Arial MT Pro"/>
                <a:ea typeface="Arial MT Pro"/>
                <a:cs typeface="Arial MT Pro"/>
                <a:sym typeface="Arial MT Pro"/>
              </a:rPr>
              <a:t>i ưu , mô hì</a:t>
            </a:r>
            <a:r>
              <a:rPr lang="en-US" sz="3375">
                <a:solidFill>
                  <a:srgbClr val="FFFFFF"/>
                </a:solidFill>
                <a:latin typeface="Arial MT Pro"/>
                <a:ea typeface="Arial MT Pro"/>
                <a:cs typeface="Arial MT Pro"/>
                <a:sym typeface="Arial MT Pro"/>
              </a:rPr>
              <a:t>nh được điều chỉnh để ưu tiên phát hiện mẫu Negative, giúp Recall (Bad) tăng từ 0.468 lên 0.636 nhưng Accuracy giảm từ 0.736 xuống 0.608. Vì vậy, đánh giá hiệu năng cần ưu tiên Recall và Confusion Matrix thay vì chỉ dựa vào Accuracy.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83774">
            <a:off x="7565571" y="197405"/>
            <a:ext cx="11226909" cy="14341591"/>
            <a:chOff x="0" y="0"/>
            <a:chExt cx="2956881" cy="3777209"/>
          </a:xfrm>
        </p:grpSpPr>
        <p:sp>
          <p:nvSpPr>
            <p:cNvPr name="Freeform 5" id="5"/>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6" id="6"/>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7" id="7"/>
          <p:cNvGrpSpPr/>
          <p:nvPr/>
        </p:nvGrpSpPr>
        <p:grpSpPr>
          <a:xfrm rot="1383774">
            <a:off x="7012072" y="108644"/>
            <a:ext cx="10773748" cy="14341591"/>
            <a:chOff x="0" y="0"/>
            <a:chExt cx="2837530" cy="3777209"/>
          </a:xfrm>
        </p:grpSpPr>
        <p:sp>
          <p:nvSpPr>
            <p:cNvPr name="Freeform 8" id="8"/>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grpSp>
        <p:nvGrpSpPr>
          <p:cNvPr name="Group 11" id="11"/>
          <p:cNvGrpSpPr/>
          <p:nvPr/>
        </p:nvGrpSpPr>
        <p:grpSpPr>
          <a:xfrm rot="0">
            <a:off x="1028700" y="3407292"/>
            <a:ext cx="11383993" cy="4176422"/>
            <a:chOff x="0" y="0"/>
            <a:chExt cx="15178658" cy="5568563"/>
          </a:xfrm>
        </p:grpSpPr>
        <p:sp>
          <p:nvSpPr>
            <p:cNvPr name="TextBox 12" id="12"/>
            <p:cNvSpPr txBox="true"/>
            <p:nvPr/>
          </p:nvSpPr>
          <p:spPr>
            <a:xfrm rot="0">
              <a:off x="0" y="133350"/>
              <a:ext cx="15178658" cy="4135802"/>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Random Forest</a:t>
              </a:r>
            </a:p>
            <a:p>
              <a:pPr algn="l">
                <a:lnSpc>
                  <a:spcPts val="10716"/>
                </a:lnSpc>
              </a:pPr>
              <a:r>
                <a:rPr lang="en-US" sz="12177" spc="-194" b="true">
                  <a:solidFill>
                    <a:srgbClr val="FFFFFF"/>
                  </a:solidFill>
                  <a:latin typeface="Arial MT Pro Bold"/>
                  <a:ea typeface="Arial MT Pro Bold"/>
                  <a:cs typeface="Arial MT Pro Bold"/>
                  <a:sym typeface="Arial MT Pro Bold"/>
                </a:rPr>
                <a:t>Model</a:t>
              </a:r>
            </a:p>
          </p:txBody>
        </p:sp>
        <p:sp>
          <p:nvSpPr>
            <p:cNvPr name="TextBox 13" id="13"/>
            <p:cNvSpPr txBox="true"/>
            <p:nvPr/>
          </p:nvSpPr>
          <p:spPr>
            <a:xfrm rot="0">
              <a:off x="828896" y="5074113"/>
              <a:ext cx="5285167" cy="494450"/>
            </a:xfrm>
            <a:prstGeom prst="rect">
              <a:avLst/>
            </a:prstGeom>
          </p:spPr>
          <p:txBody>
            <a:bodyPr anchor="t" rtlCol="false" tIns="0" lIns="0" bIns="0" rIns="0">
              <a:spAutoFit/>
            </a:bodyPr>
            <a:lstStyle/>
            <a:p>
              <a:pPr algn="l">
                <a:lnSpc>
                  <a:spcPts val="2306"/>
                </a:lnSpc>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7610853" cy="998829"/>
            <a:chOff x="0" y="0"/>
            <a:chExt cx="5294348" cy="694817"/>
          </a:xfrm>
        </p:grpSpPr>
        <p:sp>
          <p:nvSpPr>
            <p:cNvPr name="Freeform 8" id="8"/>
            <p:cNvSpPr/>
            <p:nvPr/>
          </p:nvSpPr>
          <p:spPr>
            <a:xfrm flipH="false" flipV="false" rot="0">
              <a:off x="0" y="0"/>
              <a:ext cx="5294349" cy="694817"/>
            </a:xfrm>
            <a:custGeom>
              <a:avLst/>
              <a:gdLst/>
              <a:ahLst/>
              <a:cxnLst/>
              <a:rect r="r" b="b" t="t" l="l"/>
              <a:pathLst>
                <a:path h="694817" w="5294349">
                  <a:moveTo>
                    <a:pt x="35603" y="0"/>
                  </a:moveTo>
                  <a:lnTo>
                    <a:pt x="5258746" y="0"/>
                  </a:lnTo>
                  <a:cubicBezTo>
                    <a:pt x="5278409" y="0"/>
                    <a:pt x="5294349" y="15940"/>
                    <a:pt x="5294349" y="35603"/>
                  </a:cubicBezTo>
                  <a:lnTo>
                    <a:pt x="5294349" y="659214"/>
                  </a:lnTo>
                  <a:cubicBezTo>
                    <a:pt x="5294349" y="668657"/>
                    <a:pt x="5290598" y="677713"/>
                    <a:pt x="5283921" y="684389"/>
                  </a:cubicBezTo>
                  <a:cubicBezTo>
                    <a:pt x="5277244" y="691066"/>
                    <a:pt x="5268188" y="694817"/>
                    <a:pt x="5258746" y="694817"/>
                  </a:cubicBezTo>
                  <a:lnTo>
                    <a:pt x="35603" y="694817"/>
                  </a:lnTo>
                  <a:cubicBezTo>
                    <a:pt x="26160" y="694817"/>
                    <a:pt x="17105" y="691066"/>
                    <a:pt x="10428" y="684389"/>
                  </a:cubicBezTo>
                  <a:cubicBezTo>
                    <a:pt x="3751" y="677713"/>
                    <a:pt x="0" y="668657"/>
                    <a:pt x="0" y="659214"/>
                  </a:cubicBezTo>
                  <a:lnTo>
                    <a:pt x="0" y="35603"/>
                  </a:lnTo>
                  <a:cubicBezTo>
                    <a:pt x="0" y="26160"/>
                    <a:pt x="3751" y="17105"/>
                    <a:pt x="10428" y="10428"/>
                  </a:cubicBezTo>
                  <a:cubicBezTo>
                    <a:pt x="17105" y="3751"/>
                    <a:pt x="26160" y="0"/>
                    <a:pt x="3560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529434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9375342" y="3847131"/>
            <a:ext cx="8743570" cy="5825403"/>
          </a:xfrm>
          <a:custGeom>
            <a:avLst/>
            <a:gdLst/>
            <a:ahLst/>
            <a:cxnLst/>
            <a:rect r="r" b="b" t="t" l="l"/>
            <a:pathLst>
              <a:path h="5825403" w="8743570">
                <a:moveTo>
                  <a:pt x="0" y="0"/>
                </a:moveTo>
                <a:lnTo>
                  <a:pt x="8743569" y="0"/>
                </a:lnTo>
                <a:lnTo>
                  <a:pt x="8743569" y="5825403"/>
                </a:lnTo>
                <a:lnTo>
                  <a:pt x="0" y="5825403"/>
                </a:lnTo>
                <a:lnTo>
                  <a:pt x="0" y="0"/>
                </a:lnTo>
                <a:close/>
              </a:path>
            </a:pathLst>
          </a:custGeom>
          <a:blipFill>
            <a:blip r:embed="rId4"/>
            <a:stretch>
              <a:fillRect l="0" t="0" r="0" b="0"/>
            </a:stretch>
          </a:blipFill>
        </p:spPr>
      </p:sp>
      <p:sp>
        <p:nvSpPr>
          <p:cNvPr name="TextBox 11" id="11"/>
          <p:cNvSpPr txBox="true"/>
          <p:nvPr/>
        </p:nvSpPr>
        <p:spPr>
          <a:xfrm rot="0">
            <a:off x="1074577" y="2389773"/>
            <a:ext cx="7352831" cy="12718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Nguyên Lý Hoạt Động Của Random Forest</a:t>
            </a:r>
          </a:p>
          <a:p>
            <a:pPr algn="l">
              <a:lnSpc>
                <a:spcPts val="3180"/>
              </a:lnSpc>
            </a:pPr>
          </a:p>
          <a:p>
            <a:pPr algn="l">
              <a:lnSpc>
                <a:spcPts val="3180"/>
              </a:lnSpc>
            </a:pP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3" id="13"/>
          <p:cNvSpPr txBox="true"/>
          <p:nvPr/>
        </p:nvSpPr>
        <p:spPr>
          <a:xfrm rot="0">
            <a:off x="1074577" y="3417444"/>
            <a:ext cx="8202525" cy="6560952"/>
          </a:xfrm>
          <a:prstGeom prst="rect">
            <a:avLst/>
          </a:prstGeom>
        </p:spPr>
        <p:txBody>
          <a:bodyPr anchor="t" rtlCol="false" tIns="0" lIns="0" bIns="0" rIns="0">
            <a:spAutoFit/>
          </a:bodyPr>
          <a:lstStyle/>
          <a:p>
            <a:pPr algn="l">
              <a:lnSpc>
                <a:spcPts val="4686"/>
              </a:lnSpc>
              <a:spcBef>
                <a:spcPct val="0"/>
              </a:spcBef>
            </a:pPr>
            <a:r>
              <a:rPr lang="en-US" b="true" sz="3347">
                <a:solidFill>
                  <a:srgbClr val="FFFFFF"/>
                </a:solidFill>
                <a:latin typeface="Arial MT Pro Bold"/>
                <a:ea typeface="Arial MT Pro Bold"/>
                <a:cs typeface="Arial MT Pro Bold"/>
                <a:sym typeface="Arial MT Pro Bold"/>
              </a:rPr>
              <a:t>Học Nhóm (</a:t>
            </a:r>
            <a:r>
              <a:rPr lang="en-US" b="true" sz="3347">
                <a:solidFill>
                  <a:srgbClr val="FFFFFF"/>
                </a:solidFill>
                <a:latin typeface="Arial MT Pro Bold"/>
                <a:ea typeface="Arial MT Pro Bold"/>
                <a:cs typeface="Arial MT Pro Bold"/>
                <a:sym typeface="Arial MT Pro Bold"/>
              </a:rPr>
              <a:t>Ensemble Learning)</a:t>
            </a:r>
          </a:p>
          <a:p>
            <a:pPr algn="l">
              <a:lnSpc>
                <a:spcPts val="3908"/>
              </a:lnSpc>
              <a:spcBef>
                <a:spcPct val="0"/>
              </a:spcBef>
            </a:pPr>
            <a:r>
              <a:rPr lang="en-US" b="true" sz="2792">
                <a:solidFill>
                  <a:srgbClr val="FFFFFF"/>
                </a:solidFill>
                <a:latin typeface="Arial MT Pro Bold"/>
                <a:ea typeface="Arial MT Pro Bold"/>
                <a:cs typeface="Arial MT Pro Bold"/>
                <a:sym typeface="Arial MT Pro Bold"/>
              </a:rPr>
              <a:t>Xây dựng dựa </a:t>
            </a:r>
            <a:r>
              <a:rPr lang="en-US" b="true" sz="2792">
                <a:solidFill>
                  <a:srgbClr val="FFFFFF"/>
                </a:solidFill>
                <a:latin typeface="Arial MT Pro Bold"/>
                <a:ea typeface="Arial MT Pro Bold"/>
                <a:cs typeface="Arial MT Pro Bold"/>
                <a:sym typeface="Arial MT Pro Bold"/>
              </a:rPr>
              <a:t>trên sự kết hợp của nhiều Cây quyết định (Decision Trees). Kết quả cuối cùng là sự biểu quyết đa số từ các cây.</a:t>
            </a:r>
          </a:p>
          <a:p>
            <a:pPr algn="l" marL="602798" indent="-301399" lvl="1">
              <a:lnSpc>
                <a:spcPts val="3908"/>
              </a:lnSpc>
              <a:buFont typeface="Arial"/>
              <a:buChar char="•"/>
            </a:pPr>
            <a:r>
              <a:rPr lang="en-US" sz="2792">
                <a:solidFill>
                  <a:srgbClr val="FFFFFF"/>
                </a:solidFill>
                <a:latin typeface="Arial MT Pro"/>
                <a:ea typeface="Arial MT Pro"/>
                <a:cs typeface="Arial MT Pro"/>
                <a:sym typeface="Arial MT Pro"/>
              </a:rPr>
              <a:t>Bootstrap Aggregation (Bagging): Huấn luyện trên các tập dữ liệu con ngẫu nhiên giúp giảm hiện tượng quá khớp (overfitting).</a:t>
            </a:r>
          </a:p>
          <a:p>
            <a:pPr algn="l" marL="602798" indent="-301399" lvl="1">
              <a:lnSpc>
                <a:spcPts val="3908"/>
              </a:lnSpc>
              <a:buFont typeface="Arial"/>
              <a:buChar char="•"/>
            </a:pPr>
            <a:r>
              <a:rPr lang="en-US" sz="2792">
                <a:solidFill>
                  <a:srgbClr val="FFFFFF"/>
                </a:solidFill>
                <a:latin typeface="Arial MT Pro"/>
                <a:ea typeface="Arial MT Pro"/>
                <a:cs typeface="Arial MT Pro"/>
                <a:sym typeface="Arial MT Pro"/>
              </a:rPr>
              <a:t>Feature Randomness: Tại mỗi nút phân nhánh, chỉ xem xét một nhóm ngẫu nhiên các đặc trưng để tránh sự trùng lặp giữa các cây.</a:t>
            </a:r>
          </a:p>
          <a:p>
            <a:pPr algn="l" marL="602798" indent="-301399" lvl="1">
              <a:lnSpc>
                <a:spcPts val="3908"/>
              </a:lnSpc>
              <a:buFont typeface="Arial"/>
              <a:buChar char="•"/>
            </a:pPr>
            <a:r>
              <a:rPr lang="en-US" sz="2792">
                <a:solidFill>
                  <a:srgbClr val="FFFFFF"/>
                </a:solidFill>
                <a:latin typeface="Arial MT Pro"/>
                <a:ea typeface="Arial MT Pro"/>
                <a:cs typeface="Arial MT Pro"/>
                <a:sym typeface="Arial MT Pro"/>
              </a:rPr>
              <a:t>Xử lý Mất cân bằng: Dùng class_weight='balanced' tự động tăng trọng số hình phạt cho lớp thiểu số (đánh giá xấu).</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11352024" cy="998829"/>
            <a:chOff x="0" y="0"/>
            <a:chExt cx="7896825" cy="694817"/>
          </a:xfrm>
        </p:grpSpPr>
        <p:sp>
          <p:nvSpPr>
            <p:cNvPr name="Freeform 8" id="8"/>
            <p:cNvSpPr/>
            <p:nvPr/>
          </p:nvSpPr>
          <p:spPr>
            <a:xfrm flipH="false" flipV="false" rot="0">
              <a:off x="0" y="0"/>
              <a:ext cx="7896825" cy="694817"/>
            </a:xfrm>
            <a:custGeom>
              <a:avLst/>
              <a:gdLst/>
              <a:ahLst/>
              <a:cxnLst/>
              <a:rect r="r" b="b" t="t" l="l"/>
              <a:pathLst>
                <a:path h="694817" w="7896825">
                  <a:moveTo>
                    <a:pt x="23870" y="0"/>
                  </a:moveTo>
                  <a:lnTo>
                    <a:pt x="7872955" y="0"/>
                  </a:lnTo>
                  <a:cubicBezTo>
                    <a:pt x="7879286" y="0"/>
                    <a:pt x="7885357" y="2515"/>
                    <a:pt x="7889834" y="6991"/>
                  </a:cubicBezTo>
                  <a:cubicBezTo>
                    <a:pt x="7894310" y="11468"/>
                    <a:pt x="7896825" y="17539"/>
                    <a:pt x="7896825" y="23870"/>
                  </a:cubicBezTo>
                  <a:lnTo>
                    <a:pt x="7896825" y="670948"/>
                  </a:lnTo>
                  <a:cubicBezTo>
                    <a:pt x="7896825" y="677278"/>
                    <a:pt x="7894310" y="683350"/>
                    <a:pt x="7889834" y="687826"/>
                  </a:cubicBezTo>
                  <a:cubicBezTo>
                    <a:pt x="7885357" y="692302"/>
                    <a:pt x="7879286" y="694817"/>
                    <a:pt x="7872955" y="694817"/>
                  </a:cubicBezTo>
                  <a:lnTo>
                    <a:pt x="23870" y="694817"/>
                  </a:lnTo>
                  <a:cubicBezTo>
                    <a:pt x="17539" y="694817"/>
                    <a:pt x="11468" y="692302"/>
                    <a:pt x="6991" y="687826"/>
                  </a:cubicBezTo>
                  <a:cubicBezTo>
                    <a:pt x="2515" y="683350"/>
                    <a:pt x="0" y="677278"/>
                    <a:pt x="0" y="670948"/>
                  </a:cubicBezTo>
                  <a:lnTo>
                    <a:pt x="0" y="23870"/>
                  </a:lnTo>
                  <a:cubicBezTo>
                    <a:pt x="0" y="17539"/>
                    <a:pt x="2515" y="11468"/>
                    <a:pt x="6991" y="6991"/>
                  </a:cubicBezTo>
                  <a:cubicBezTo>
                    <a:pt x="11468" y="2515"/>
                    <a:pt x="17539" y="0"/>
                    <a:pt x="23870"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7896825"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1074577" y="3610943"/>
            <a:ext cx="4545132" cy="6001033"/>
          </a:xfrm>
          <a:custGeom>
            <a:avLst/>
            <a:gdLst/>
            <a:ahLst/>
            <a:cxnLst/>
            <a:rect r="r" b="b" t="t" l="l"/>
            <a:pathLst>
              <a:path h="6001033" w="4545132">
                <a:moveTo>
                  <a:pt x="0" y="0"/>
                </a:moveTo>
                <a:lnTo>
                  <a:pt x="4545132" y="0"/>
                </a:lnTo>
                <a:lnTo>
                  <a:pt x="4545132" y="6001033"/>
                </a:lnTo>
                <a:lnTo>
                  <a:pt x="0" y="6001033"/>
                </a:lnTo>
                <a:lnTo>
                  <a:pt x="0" y="0"/>
                </a:lnTo>
                <a:close/>
              </a:path>
            </a:pathLst>
          </a:custGeom>
          <a:blipFill>
            <a:blip r:embed="rId4"/>
            <a:stretch>
              <a:fillRect l="-3131" t="0" r="-3131" b="0"/>
            </a:stretch>
          </a:blipFill>
        </p:spPr>
      </p:sp>
      <p:sp>
        <p:nvSpPr>
          <p:cNvPr name="Freeform 11" id="11"/>
          <p:cNvSpPr/>
          <p:nvPr/>
        </p:nvSpPr>
        <p:spPr>
          <a:xfrm flipH="false" flipV="false" rot="0">
            <a:off x="6601058" y="3661168"/>
            <a:ext cx="4545132" cy="5950808"/>
          </a:xfrm>
          <a:custGeom>
            <a:avLst/>
            <a:gdLst/>
            <a:ahLst/>
            <a:cxnLst/>
            <a:rect r="r" b="b" t="t" l="l"/>
            <a:pathLst>
              <a:path h="5950808" w="4545132">
                <a:moveTo>
                  <a:pt x="0" y="0"/>
                </a:moveTo>
                <a:lnTo>
                  <a:pt x="4545132" y="0"/>
                </a:lnTo>
                <a:lnTo>
                  <a:pt x="4545132" y="5950808"/>
                </a:lnTo>
                <a:lnTo>
                  <a:pt x="0" y="5950808"/>
                </a:lnTo>
                <a:lnTo>
                  <a:pt x="0" y="0"/>
                </a:lnTo>
                <a:close/>
              </a:path>
            </a:pathLst>
          </a:custGeom>
          <a:blipFill>
            <a:blip r:embed="rId4"/>
            <a:stretch>
              <a:fillRect l="-2686" t="0" r="-2686" b="0"/>
            </a:stretch>
          </a:blipFill>
        </p:spPr>
      </p:sp>
      <p:sp>
        <p:nvSpPr>
          <p:cNvPr name="Freeform 12" id="12"/>
          <p:cNvSpPr/>
          <p:nvPr/>
        </p:nvSpPr>
        <p:spPr>
          <a:xfrm flipH="false" flipV="false" rot="0">
            <a:off x="12127539" y="3661168"/>
            <a:ext cx="4545132" cy="5950808"/>
          </a:xfrm>
          <a:custGeom>
            <a:avLst/>
            <a:gdLst/>
            <a:ahLst/>
            <a:cxnLst/>
            <a:rect r="r" b="b" t="t" l="l"/>
            <a:pathLst>
              <a:path h="5950808" w="4545132">
                <a:moveTo>
                  <a:pt x="0" y="0"/>
                </a:moveTo>
                <a:lnTo>
                  <a:pt x="4545132" y="0"/>
                </a:lnTo>
                <a:lnTo>
                  <a:pt x="4545132" y="5950808"/>
                </a:lnTo>
                <a:lnTo>
                  <a:pt x="0" y="5950808"/>
                </a:lnTo>
                <a:lnTo>
                  <a:pt x="0" y="0"/>
                </a:lnTo>
                <a:close/>
              </a:path>
            </a:pathLst>
          </a:custGeom>
          <a:blipFill>
            <a:blip r:embed="rId4"/>
            <a:stretch>
              <a:fillRect l="-2686" t="0" r="-2686" b="0"/>
            </a:stretch>
          </a:blipFill>
        </p:spPr>
      </p:sp>
      <p:sp>
        <p:nvSpPr>
          <p:cNvPr name="Freeform 13" id="13"/>
          <p:cNvSpPr/>
          <p:nvPr/>
        </p:nvSpPr>
        <p:spPr>
          <a:xfrm flipH="false" flipV="false" rot="0">
            <a:off x="1199462" y="3919209"/>
            <a:ext cx="970852" cy="566625"/>
          </a:xfrm>
          <a:custGeom>
            <a:avLst/>
            <a:gdLst/>
            <a:ahLst/>
            <a:cxnLst/>
            <a:rect r="r" b="b" t="t" l="l"/>
            <a:pathLst>
              <a:path h="566625" w="970852">
                <a:moveTo>
                  <a:pt x="0" y="0"/>
                </a:moveTo>
                <a:lnTo>
                  <a:pt x="970852" y="0"/>
                </a:lnTo>
                <a:lnTo>
                  <a:pt x="970852" y="566624"/>
                </a:lnTo>
                <a:lnTo>
                  <a:pt x="0" y="5666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6886234" y="3844744"/>
            <a:ext cx="583282" cy="750201"/>
          </a:xfrm>
          <a:custGeom>
            <a:avLst/>
            <a:gdLst/>
            <a:ahLst/>
            <a:cxnLst/>
            <a:rect r="r" b="b" t="t" l="l"/>
            <a:pathLst>
              <a:path h="750201" w="583282">
                <a:moveTo>
                  <a:pt x="0" y="0"/>
                </a:moveTo>
                <a:lnTo>
                  <a:pt x="583282" y="0"/>
                </a:lnTo>
                <a:lnTo>
                  <a:pt x="583282" y="750202"/>
                </a:lnTo>
                <a:lnTo>
                  <a:pt x="0" y="7502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2413015" y="3770280"/>
            <a:ext cx="743230" cy="824666"/>
          </a:xfrm>
          <a:custGeom>
            <a:avLst/>
            <a:gdLst/>
            <a:ahLst/>
            <a:cxnLst/>
            <a:rect r="r" b="b" t="t" l="l"/>
            <a:pathLst>
              <a:path h="824666" w="743230">
                <a:moveTo>
                  <a:pt x="0" y="0"/>
                </a:moveTo>
                <a:lnTo>
                  <a:pt x="743230" y="0"/>
                </a:lnTo>
                <a:lnTo>
                  <a:pt x="743230" y="824666"/>
                </a:lnTo>
                <a:lnTo>
                  <a:pt x="0" y="8246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074577" y="2389773"/>
            <a:ext cx="11052962" cy="87177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Tiền Xử Lý Dữ Liệu &amp; Kỹ Nghệ Đặc Trưng (Feature Engineering)</a:t>
            </a:r>
          </a:p>
          <a:p>
            <a:pPr algn="l">
              <a:lnSpc>
                <a:spcPts val="3180"/>
              </a:lnSpc>
            </a:pPr>
          </a:p>
        </p:txBody>
      </p:sp>
      <p:sp>
        <p:nvSpPr>
          <p:cNvPr name="TextBox 17" id="17"/>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8" id="18"/>
          <p:cNvSpPr txBox="true"/>
          <p:nvPr/>
        </p:nvSpPr>
        <p:spPr>
          <a:xfrm rot="0">
            <a:off x="1199462" y="4534092"/>
            <a:ext cx="4420247" cy="5404047"/>
          </a:xfrm>
          <a:prstGeom prst="rect">
            <a:avLst/>
          </a:prstGeom>
        </p:spPr>
        <p:txBody>
          <a:bodyPr anchor="t" rtlCol="false" tIns="0" lIns="0" bIns="0" rIns="0">
            <a:spAutoFit/>
          </a:bodyPr>
          <a:lstStyle/>
          <a:p>
            <a:pPr algn="l">
              <a:lnSpc>
                <a:spcPts val="4065"/>
              </a:lnSpc>
              <a:spcBef>
                <a:spcPct val="0"/>
              </a:spcBef>
            </a:pPr>
            <a:r>
              <a:rPr lang="en-US" b="true" sz="2903">
                <a:solidFill>
                  <a:srgbClr val="FFFFFF"/>
                </a:solidFill>
                <a:latin typeface="Arial MT Pro Bold"/>
                <a:ea typeface="Arial MT Pro Bold"/>
                <a:cs typeface="Arial MT Pro Bold"/>
                <a:sym typeface="Arial MT Pro Bold"/>
              </a:rPr>
              <a:t>Đặc T</a:t>
            </a:r>
            <a:r>
              <a:rPr lang="en-US" b="true" sz="2903">
                <a:solidFill>
                  <a:srgbClr val="FFFFFF"/>
                </a:solidFill>
                <a:latin typeface="Arial MT Pro Bold"/>
                <a:ea typeface="Arial MT Pro Bold"/>
                <a:cs typeface="Arial MT Pro Bold"/>
                <a:sym typeface="Arial MT Pro Bold"/>
              </a:rPr>
              <a:t>rưng Vận Hành</a:t>
            </a:r>
          </a:p>
          <a:p>
            <a:pPr algn="l">
              <a:lnSpc>
                <a:spcPts val="4065"/>
              </a:lnSpc>
              <a:spcBef>
                <a:spcPct val="0"/>
              </a:spcBef>
            </a:pPr>
            <a:r>
              <a:rPr lang="en-US" sz="2903">
                <a:solidFill>
                  <a:srgbClr val="FFFFFF"/>
                </a:solidFill>
                <a:latin typeface="Arial MT Pro"/>
                <a:ea typeface="Arial MT Pro"/>
                <a:cs typeface="Arial MT Pro"/>
                <a:sym typeface="Arial MT Pro"/>
              </a:rPr>
              <a:t>Các chỉ số cốt lõi từ dữ liệu giao hàng:</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delivery_days: Số ngày giao thực tế</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delay_days: Số ngày trễ thực tế</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product_volume: Thể tích sản phẩm</a:t>
            </a:r>
          </a:p>
          <a:p>
            <a:pPr algn="l">
              <a:lnSpc>
                <a:spcPts val="2912"/>
              </a:lnSpc>
              <a:spcBef>
                <a:spcPct val="0"/>
              </a:spcBef>
            </a:pPr>
          </a:p>
          <a:p>
            <a:pPr algn="l">
              <a:lnSpc>
                <a:spcPts val="2912"/>
              </a:lnSpc>
              <a:spcBef>
                <a:spcPct val="0"/>
              </a:spcBef>
            </a:pPr>
          </a:p>
        </p:txBody>
      </p:sp>
      <p:sp>
        <p:nvSpPr>
          <p:cNvPr name="TextBox 19" id="19"/>
          <p:cNvSpPr txBox="true"/>
          <p:nvPr/>
        </p:nvSpPr>
        <p:spPr>
          <a:xfrm rot="0">
            <a:off x="6780641" y="4584317"/>
            <a:ext cx="4185966" cy="5404047"/>
          </a:xfrm>
          <a:prstGeom prst="rect">
            <a:avLst/>
          </a:prstGeom>
        </p:spPr>
        <p:txBody>
          <a:bodyPr anchor="t" rtlCol="false" tIns="0" lIns="0" bIns="0" rIns="0">
            <a:spAutoFit/>
          </a:bodyPr>
          <a:lstStyle/>
          <a:p>
            <a:pPr algn="l">
              <a:lnSpc>
                <a:spcPts val="4065"/>
              </a:lnSpc>
              <a:spcBef>
                <a:spcPct val="0"/>
              </a:spcBef>
            </a:pPr>
            <a:r>
              <a:rPr lang="en-US" b="true" sz="2903">
                <a:solidFill>
                  <a:srgbClr val="FFFFFF"/>
                </a:solidFill>
                <a:latin typeface="Arial MT Pro Bold"/>
                <a:ea typeface="Arial MT Pro Bold"/>
                <a:cs typeface="Arial MT Pro Bold"/>
                <a:sym typeface="Arial MT Pro Bold"/>
              </a:rPr>
              <a:t>Đặc</a:t>
            </a:r>
            <a:r>
              <a:rPr lang="en-US" b="true" sz="2903">
                <a:solidFill>
                  <a:srgbClr val="FFFFFF"/>
                </a:solidFill>
                <a:latin typeface="Arial MT Pro Bold"/>
                <a:ea typeface="Arial MT Pro Bold"/>
                <a:cs typeface="Arial MT Pro Bold"/>
                <a:sym typeface="Arial MT Pro Bold"/>
              </a:rPr>
              <a:t> Trư</a:t>
            </a:r>
            <a:r>
              <a:rPr lang="en-US" b="true" sz="2903">
                <a:solidFill>
                  <a:srgbClr val="FFFFFF"/>
                </a:solidFill>
                <a:latin typeface="Arial MT Pro Bold"/>
                <a:ea typeface="Arial MT Pro Bold"/>
                <a:cs typeface="Arial MT Pro Bold"/>
                <a:sym typeface="Arial MT Pro Bold"/>
              </a:rPr>
              <a:t>ng Mở Rộng</a:t>
            </a:r>
          </a:p>
          <a:p>
            <a:pPr algn="l">
              <a:lnSpc>
                <a:spcPts val="4065"/>
              </a:lnSpc>
              <a:spcBef>
                <a:spcPct val="0"/>
              </a:spcBef>
            </a:pPr>
            <a:r>
              <a:rPr lang="en-US" sz="2903">
                <a:solidFill>
                  <a:srgbClr val="FFFFFF"/>
                </a:solidFill>
                <a:latin typeface="Arial MT Pro"/>
                <a:ea typeface="Arial MT Pro"/>
                <a:cs typeface="Arial MT Pro"/>
                <a:sym typeface="Arial MT Pro"/>
              </a:rPr>
              <a:t>Khai thác khía cạnh tài chính:</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freight_ratio: Tỷ lệ Phí ship / Giá trị SP (Áp lực tài chính).</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p</a:t>
            </a:r>
            <a:r>
              <a:rPr lang="en-US" sz="2903">
                <a:solidFill>
                  <a:srgbClr val="FFFFFF"/>
                </a:solidFill>
                <a:latin typeface="Arial MT Pro"/>
                <a:ea typeface="Arial MT Pro"/>
                <a:cs typeface="Arial MT Pro"/>
                <a:sym typeface="Arial MT Pro"/>
              </a:rPr>
              <a:t>ayment_type: Phương thức thanh toán chính.</a:t>
            </a:r>
          </a:p>
          <a:p>
            <a:pPr algn="l">
              <a:lnSpc>
                <a:spcPts val="2912"/>
              </a:lnSpc>
              <a:spcBef>
                <a:spcPct val="0"/>
              </a:spcBef>
            </a:pPr>
          </a:p>
          <a:p>
            <a:pPr algn="l">
              <a:lnSpc>
                <a:spcPts val="2912"/>
              </a:lnSpc>
              <a:spcBef>
                <a:spcPct val="0"/>
              </a:spcBef>
            </a:pPr>
          </a:p>
        </p:txBody>
      </p:sp>
      <p:sp>
        <p:nvSpPr>
          <p:cNvPr name="TextBox 20" id="20"/>
          <p:cNvSpPr txBox="true"/>
          <p:nvPr/>
        </p:nvSpPr>
        <p:spPr>
          <a:xfrm rot="0">
            <a:off x="12308240" y="4584317"/>
            <a:ext cx="4185966" cy="5832672"/>
          </a:xfrm>
          <a:prstGeom prst="rect">
            <a:avLst/>
          </a:prstGeom>
        </p:spPr>
        <p:txBody>
          <a:bodyPr anchor="t" rtlCol="false" tIns="0" lIns="0" bIns="0" rIns="0">
            <a:spAutoFit/>
          </a:bodyPr>
          <a:lstStyle/>
          <a:p>
            <a:pPr algn="l">
              <a:lnSpc>
                <a:spcPts val="4065"/>
              </a:lnSpc>
              <a:spcBef>
                <a:spcPct val="0"/>
              </a:spcBef>
            </a:pPr>
            <a:r>
              <a:rPr lang="en-US" b="true" sz="2903">
                <a:solidFill>
                  <a:srgbClr val="FFFFFF"/>
                </a:solidFill>
                <a:latin typeface="Arial MT Pro Bold"/>
                <a:ea typeface="Arial MT Pro Bold"/>
                <a:cs typeface="Arial MT Pro Bold"/>
                <a:sym typeface="Arial MT Pro Bold"/>
              </a:rPr>
              <a:t>Luồ</a:t>
            </a:r>
            <a:r>
              <a:rPr lang="en-US" b="true" sz="2903">
                <a:solidFill>
                  <a:srgbClr val="FFFFFF"/>
                </a:solidFill>
                <a:latin typeface="Arial MT Pro Bold"/>
                <a:ea typeface="Arial MT Pro Bold"/>
                <a:cs typeface="Arial MT Pro Bold"/>
                <a:sym typeface="Arial MT Pro Bold"/>
              </a:rPr>
              <a:t>ng Xử Lý Cốt Lõi</a:t>
            </a:r>
          </a:p>
          <a:p>
            <a:pPr algn="l">
              <a:lnSpc>
                <a:spcPts val="4065"/>
              </a:lnSpc>
              <a:spcBef>
                <a:spcPct val="0"/>
              </a:spcBef>
            </a:pPr>
            <a:r>
              <a:rPr lang="en-US" sz="2903">
                <a:solidFill>
                  <a:srgbClr val="FFFFFF"/>
                </a:solidFill>
                <a:latin typeface="Arial MT Pro"/>
                <a:ea typeface="Arial MT Pro"/>
                <a:cs typeface="Arial MT Pro"/>
                <a:sym typeface="Arial MT Pro"/>
              </a:rPr>
              <a:t>Quy</a:t>
            </a:r>
            <a:r>
              <a:rPr lang="en-US" sz="2903">
                <a:solidFill>
                  <a:srgbClr val="FFFFFF"/>
                </a:solidFill>
                <a:latin typeface="Arial MT Pro"/>
                <a:ea typeface="Arial MT Pro"/>
                <a:cs typeface="Arial MT Pro"/>
                <a:sym typeface="Arial MT Pro"/>
              </a:rPr>
              <a:t> trình triển khai mô hình:</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Train: Huấn luyện trên tập lịch sử.</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Predict: Dự đoán trên tập dữ liệu mới.</a:t>
            </a:r>
          </a:p>
          <a:p>
            <a:pPr algn="l" marL="626948" indent="-313474" lvl="1">
              <a:lnSpc>
                <a:spcPts val="4065"/>
              </a:lnSpc>
              <a:spcBef>
                <a:spcPct val="0"/>
              </a:spcBef>
              <a:buFont typeface="Arial"/>
              <a:buChar char="•"/>
            </a:pPr>
            <a:r>
              <a:rPr lang="en-US" sz="2903">
                <a:solidFill>
                  <a:srgbClr val="FFFFFF"/>
                </a:solidFill>
                <a:latin typeface="Arial MT Pro"/>
                <a:ea typeface="Arial MT Pro"/>
                <a:cs typeface="Arial MT Pro"/>
                <a:sym typeface="Arial MT Pro"/>
              </a:rPr>
              <a:t>Evalu</a:t>
            </a:r>
            <a:r>
              <a:rPr lang="en-US" sz="2903">
                <a:solidFill>
                  <a:srgbClr val="FFFFFF"/>
                </a:solidFill>
                <a:latin typeface="Arial MT Pro"/>
                <a:ea typeface="Arial MT Pro"/>
                <a:cs typeface="Arial MT Pro"/>
                <a:sym typeface="Arial MT Pro"/>
              </a:rPr>
              <a:t>ate: Đánh giá hiệu năng thực tế.</a:t>
            </a:r>
          </a:p>
          <a:p>
            <a:pPr algn="l">
              <a:lnSpc>
                <a:spcPts val="3385"/>
              </a:lnSpc>
              <a:spcBef>
                <a:spcPct val="0"/>
              </a:spcBef>
            </a:pPr>
          </a:p>
          <a:p>
            <a:pPr algn="l">
              <a:lnSpc>
                <a:spcPts val="2912"/>
              </a:lnSpc>
              <a:spcBef>
                <a:spcPct val="0"/>
              </a:spcBef>
            </a:pPr>
          </a:p>
          <a:p>
            <a:pPr algn="l">
              <a:lnSpc>
                <a:spcPts val="2912"/>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5825465" cy="998829"/>
            <a:chOff x="0" y="0"/>
            <a:chExt cx="4052377" cy="694817"/>
          </a:xfrm>
        </p:grpSpPr>
        <p:sp>
          <p:nvSpPr>
            <p:cNvPr name="Freeform 8" id="8"/>
            <p:cNvSpPr/>
            <p:nvPr/>
          </p:nvSpPr>
          <p:spPr>
            <a:xfrm flipH="false" flipV="false" rot="0">
              <a:off x="0" y="0"/>
              <a:ext cx="4052377" cy="694817"/>
            </a:xfrm>
            <a:custGeom>
              <a:avLst/>
              <a:gdLst/>
              <a:ahLst/>
              <a:cxnLst/>
              <a:rect r="r" b="b" t="t" l="l"/>
              <a:pathLst>
                <a:path h="694817" w="4052377">
                  <a:moveTo>
                    <a:pt x="46514" y="0"/>
                  </a:moveTo>
                  <a:lnTo>
                    <a:pt x="4005862" y="0"/>
                  </a:lnTo>
                  <a:cubicBezTo>
                    <a:pt x="4018199" y="0"/>
                    <a:pt x="4030030" y="4901"/>
                    <a:pt x="4038753" y="13624"/>
                  </a:cubicBezTo>
                  <a:cubicBezTo>
                    <a:pt x="4047476" y="22347"/>
                    <a:pt x="4052377" y="34178"/>
                    <a:pt x="4052377" y="46514"/>
                  </a:cubicBezTo>
                  <a:lnTo>
                    <a:pt x="4052377" y="648303"/>
                  </a:lnTo>
                  <a:cubicBezTo>
                    <a:pt x="4052377" y="660639"/>
                    <a:pt x="4047476" y="672470"/>
                    <a:pt x="4038753" y="681193"/>
                  </a:cubicBezTo>
                  <a:cubicBezTo>
                    <a:pt x="4030030" y="689917"/>
                    <a:pt x="4018199" y="694817"/>
                    <a:pt x="4005862" y="694817"/>
                  </a:cubicBezTo>
                  <a:lnTo>
                    <a:pt x="46514" y="694817"/>
                  </a:lnTo>
                  <a:cubicBezTo>
                    <a:pt x="34178" y="694817"/>
                    <a:pt x="22347" y="689917"/>
                    <a:pt x="13624" y="681193"/>
                  </a:cubicBezTo>
                  <a:cubicBezTo>
                    <a:pt x="4901" y="672470"/>
                    <a:pt x="0" y="660639"/>
                    <a:pt x="0" y="648303"/>
                  </a:cubicBezTo>
                  <a:lnTo>
                    <a:pt x="0" y="46514"/>
                  </a:lnTo>
                  <a:cubicBezTo>
                    <a:pt x="0" y="34178"/>
                    <a:pt x="4901" y="22347"/>
                    <a:pt x="13624" y="13624"/>
                  </a:cubicBezTo>
                  <a:cubicBezTo>
                    <a:pt x="22347" y="4901"/>
                    <a:pt x="34178" y="0"/>
                    <a:pt x="46514"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4052377"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9955057" y="3306311"/>
            <a:ext cx="7493532" cy="5644962"/>
          </a:xfrm>
          <a:custGeom>
            <a:avLst/>
            <a:gdLst/>
            <a:ahLst/>
            <a:cxnLst/>
            <a:rect r="r" b="b" t="t" l="l"/>
            <a:pathLst>
              <a:path h="5644962" w="7493532">
                <a:moveTo>
                  <a:pt x="0" y="0"/>
                </a:moveTo>
                <a:lnTo>
                  <a:pt x="7493532" y="0"/>
                </a:lnTo>
                <a:lnTo>
                  <a:pt x="7493532" y="5644962"/>
                </a:lnTo>
                <a:lnTo>
                  <a:pt x="0" y="5644962"/>
                </a:lnTo>
                <a:lnTo>
                  <a:pt x="0" y="0"/>
                </a:lnTo>
                <a:close/>
              </a:path>
            </a:pathLst>
          </a:custGeom>
          <a:blipFill>
            <a:blip r:embed="rId4"/>
            <a:stretch>
              <a:fillRect l="0" t="0" r="0" b="0"/>
            </a:stretch>
          </a:blipFill>
        </p:spPr>
      </p:sp>
      <p:sp>
        <p:nvSpPr>
          <p:cNvPr name="Freeform 11" id="11"/>
          <p:cNvSpPr/>
          <p:nvPr/>
        </p:nvSpPr>
        <p:spPr>
          <a:xfrm flipH="false" flipV="false" rot="0">
            <a:off x="0" y="4258767"/>
            <a:ext cx="9692673" cy="4692506"/>
          </a:xfrm>
          <a:custGeom>
            <a:avLst/>
            <a:gdLst/>
            <a:ahLst/>
            <a:cxnLst/>
            <a:rect r="r" b="b" t="t" l="l"/>
            <a:pathLst>
              <a:path h="4692506" w="9692673">
                <a:moveTo>
                  <a:pt x="0" y="0"/>
                </a:moveTo>
                <a:lnTo>
                  <a:pt x="9692673" y="0"/>
                </a:lnTo>
                <a:lnTo>
                  <a:pt x="9692673" y="4692506"/>
                </a:lnTo>
                <a:lnTo>
                  <a:pt x="0" y="4692506"/>
                </a:lnTo>
                <a:lnTo>
                  <a:pt x="0" y="0"/>
                </a:lnTo>
                <a:close/>
              </a:path>
            </a:pathLst>
          </a:custGeom>
          <a:blipFill>
            <a:blip r:embed="rId5"/>
            <a:stretch>
              <a:fillRect l="0" t="0" r="-12744" b="0"/>
            </a:stretch>
          </a:blipFill>
        </p:spPr>
      </p:sp>
      <p:sp>
        <p:nvSpPr>
          <p:cNvPr name="TextBox 12" id="12"/>
          <p:cNvSpPr txBox="true"/>
          <p:nvPr/>
        </p:nvSpPr>
        <p:spPr>
          <a:xfrm rot="0">
            <a:off x="1074577" y="2389773"/>
            <a:ext cx="7288936" cy="12718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Mô Hình Mặc Định (Ngưỡng 0.5)</a:t>
            </a:r>
          </a:p>
          <a:p>
            <a:pPr algn="l">
              <a:lnSpc>
                <a:spcPts val="3180"/>
              </a:lnSpc>
            </a:pPr>
          </a:p>
          <a:p>
            <a:pPr algn="l">
              <a:lnSpc>
                <a:spcPts val="3180"/>
              </a:lnSpc>
            </a:pPr>
          </a:p>
        </p:txBody>
      </p:sp>
      <p:sp>
        <p:nvSpPr>
          <p:cNvPr name="TextBox 13" id="1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12604069" cy="998829"/>
            <a:chOff x="0" y="0"/>
            <a:chExt cx="8767786" cy="694817"/>
          </a:xfrm>
        </p:grpSpPr>
        <p:sp>
          <p:nvSpPr>
            <p:cNvPr name="Freeform 8" id="8"/>
            <p:cNvSpPr/>
            <p:nvPr/>
          </p:nvSpPr>
          <p:spPr>
            <a:xfrm flipH="false" flipV="false" rot="0">
              <a:off x="0" y="0"/>
              <a:ext cx="8767787" cy="694817"/>
            </a:xfrm>
            <a:custGeom>
              <a:avLst/>
              <a:gdLst/>
              <a:ahLst/>
              <a:cxnLst/>
              <a:rect r="r" b="b" t="t" l="l"/>
              <a:pathLst>
                <a:path h="694817" w="8767787">
                  <a:moveTo>
                    <a:pt x="21498" y="0"/>
                  </a:moveTo>
                  <a:lnTo>
                    <a:pt x="8746288" y="0"/>
                  </a:lnTo>
                  <a:cubicBezTo>
                    <a:pt x="8758162" y="0"/>
                    <a:pt x="8767787" y="9625"/>
                    <a:pt x="8767787" y="21498"/>
                  </a:cubicBezTo>
                  <a:lnTo>
                    <a:pt x="8767787" y="673319"/>
                  </a:lnTo>
                  <a:cubicBezTo>
                    <a:pt x="8767787" y="685192"/>
                    <a:pt x="8758162" y="694817"/>
                    <a:pt x="8746288" y="694817"/>
                  </a:cubicBezTo>
                  <a:lnTo>
                    <a:pt x="21498" y="694817"/>
                  </a:lnTo>
                  <a:cubicBezTo>
                    <a:pt x="9625" y="694817"/>
                    <a:pt x="0" y="685192"/>
                    <a:pt x="0" y="673319"/>
                  </a:cubicBezTo>
                  <a:lnTo>
                    <a:pt x="0" y="21498"/>
                  </a:lnTo>
                  <a:cubicBezTo>
                    <a:pt x="0" y="9625"/>
                    <a:pt x="9625" y="0"/>
                    <a:pt x="21498"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8767786"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9918747" y="3530799"/>
            <a:ext cx="7340553" cy="5727501"/>
          </a:xfrm>
          <a:custGeom>
            <a:avLst/>
            <a:gdLst/>
            <a:ahLst/>
            <a:cxnLst/>
            <a:rect r="r" b="b" t="t" l="l"/>
            <a:pathLst>
              <a:path h="5727501" w="7340553">
                <a:moveTo>
                  <a:pt x="0" y="0"/>
                </a:moveTo>
                <a:lnTo>
                  <a:pt x="7340553" y="0"/>
                </a:lnTo>
                <a:lnTo>
                  <a:pt x="7340553" y="5727501"/>
                </a:lnTo>
                <a:lnTo>
                  <a:pt x="0" y="5727501"/>
                </a:lnTo>
                <a:lnTo>
                  <a:pt x="0" y="0"/>
                </a:lnTo>
                <a:close/>
              </a:path>
            </a:pathLst>
          </a:custGeom>
          <a:blipFill>
            <a:blip r:embed="rId4"/>
            <a:stretch>
              <a:fillRect l="0" t="0" r="0" b="0"/>
            </a:stretch>
          </a:blipFill>
        </p:spPr>
      </p:sp>
      <p:sp>
        <p:nvSpPr>
          <p:cNvPr name="Freeform 11" id="11"/>
          <p:cNvSpPr/>
          <p:nvPr/>
        </p:nvSpPr>
        <p:spPr>
          <a:xfrm flipH="false" flipV="false" rot="0">
            <a:off x="0" y="4258767"/>
            <a:ext cx="9498700" cy="4679848"/>
          </a:xfrm>
          <a:custGeom>
            <a:avLst/>
            <a:gdLst/>
            <a:ahLst/>
            <a:cxnLst/>
            <a:rect r="r" b="b" t="t" l="l"/>
            <a:pathLst>
              <a:path h="4679848" w="9498700">
                <a:moveTo>
                  <a:pt x="0" y="0"/>
                </a:moveTo>
                <a:lnTo>
                  <a:pt x="9498700" y="0"/>
                </a:lnTo>
                <a:lnTo>
                  <a:pt x="9498700" y="4679848"/>
                </a:lnTo>
                <a:lnTo>
                  <a:pt x="0" y="4679848"/>
                </a:lnTo>
                <a:lnTo>
                  <a:pt x="0" y="0"/>
                </a:lnTo>
                <a:close/>
              </a:path>
            </a:pathLst>
          </a:custGeom>
          <a:blipFill>
            <a:blip r:embed="rId5"/>
            <a:stretch>
              <a:fillRect l="0" t="0" r="0" b="0"/>
            </a:stretch>
          </a:blipFill>
        </p:spPr>
      </p:sp>
      <p:sp>
        <p:nvSpPr>
          <p:cNvPr name="TextBox 12" id="12"/>
          <p:cNvSpPr txBox="true"/>
          <p:nvPr/>
        </p:nvSpPr>
        <p:spPr>
          <a:xfrm rot="0">
            <a:off x="1074577" y="2389773"/>
            <a:ext cx="12485707" cy="12718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Tối Ưu Hóa Bằng Phương Pháp Điều Chỉnh Ngưỡng (Threshold Tuning)</a:t>
            </a:r>
          </a:p>
          <a:p>
            <a:pPr algn="l">
              <a:lnSpc>
                <a:spcPts val="3180"/>
              </a:lnSpc>
            </a:pPr>
          </a:p>
          <a:p>
            <a:pPr algn="l">
              <a:lnSpc>
                <a:spcPts val="3180"/>
              </a:lnSpc>
            </a:pPr>
          </a:p>
        </p:txBody>
      </p:sp>
      <p:sp>
        <p:nvSpPr>
          <p:cNvPr name="TextBox 13" id="13"/>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956216" y="2067085"/>
            <a:ext cx="6294027" cy="998829"/>
            <a:chOff x="0" y="0"/>
            <a:chExt cx="4378323" cy="694817"/>
          </a:xfrm>
        </p:grpSpPr>
        <p:sp>
          <p:nvSpPr>
            <p:cNvPr name="Freeform 8" id="8"/>
            <p:cNvSpPr/>
            <p:nvPr/>
          </p:nvSpPr>
          <p:spPr>
            <a:xfrm flipH="false" flipV="false" rot="0">
              <a:off x="0" y="0"/>
              <a:ext cx="4378323" cy="694817"/>
            </a:xfrm>
            <a:custGeom>
              <a:avLst/>
              <a:gdLst/>
              <a:ahLst/>
              <a:cxnLst/>
              <a:rect r="r" b="b" t="t" l="l"/>
              <a:pathLst>
                <a:path h="694817" w="4378323">
                  <a:moveTo>
                    <a:pt x="43051" y="0"/>
                  </a:moveTo>
                  <a:lnTo>
                    <a:pt x="4335271" y="0"/>
                  </a:lnTo>
                  <a:cubicBezTo>
                    <a:pt x="4359048" y="0"/>
                    <a:pt x="4378323" y="19275"/>
                    <a:pt x="4378323" y="43051"/>
                  </a:cubicBezTo>
                  <a:lnTo>
                    <a:pt x="4378323" y="651766"/>
                  </a:lnTo>
                  <a:cubicBezTo>
                    <a:pt x="4378323" y="675542"/>
                    <a:pt x="4359048" y="694817"/>
                    <a:pt x="4335271" y="694817"/>
                  </a:cubicBezTo>
                  <a:lnTo>
                    <a:pt x="43051" y="694817"/>
                  </a:lnTo>
                  <a:cubicBezTo>
                    <a:pt x="19275" y="694817"/>
                    <a:pt x="0" y="675542"/>
                    <a:pt x="0" y="651766"/>
                  </a:cubicBezTo>
                  <a:lnTo>
                    <a:pt x="0" y="43051"/>
                  </a:lnTo>
                  <a:cubicBezTo>
                    <a:pt x="0" y="19275"/>
                    <a:pt x="19275" y="0"/>
                    <a:pt x="43051"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4378323" cy="675767"/>
            </a:xfrm>
            <a:prstGeom prst="rect">
              <a:avLst/>
            </a:prstGeom>
          </p:spPr>
          <p:txBody>
            <a:bodyPr anchor="ctr" rtlCol="false" tIns="19233" lIns="19233" bIns="19233" rIns="19233"/>
            <a:lstStyle/>
            <a:p>
              <a:pPr algn="l">
                <a:lnSpc>
                  <a:spcPts val="1387"/>
                </a:lnSpc>
              </a:pPr>
            </a:p>
          </p:txBody>
        </p:sp>
      </p:grpSp>
      <p:graphicFrame>
        <p:nvGraphicFramePr>
          <p:cNvPr name="Object 10" id="10"/>
          <p:cNvGraphicFramePr/>
          <p:nvPr/>
        </p:nvGraphicFramePr>
        <p:xfrm>
          <a:off x="7404392" y="3065915"/>
          <a:ext cx="5657850" cy="3771900"/>
        </p:xfrm>
        <a:graphic>
          <a:graphicData uri="http://schemas.openxmlformats.org/presentationml/2006/ole">
            <p:oleObj imgW="6781800" imgH="4902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1" id="11"/>
          <p:cNvSpPr txBox="true"/>
          <p:nvPr/>
        </p:nvSpPr>
        <p:spPr>
          <a:xfrm rot="0">
            <a:off x="1074577" y="2389773"/>
            <a:ext cx="7288936" cy="12718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Threshold Tuning</a:t>
            </a:r>
          </a:p>
          <a:p>
            <a:pPr algn="l">
              <a:lnSpc>
                <a:spcPts val="3180"/>
              </a:lnSpc>
            </a:pPr>
          </a:p>
          <a:p>
            <a:pPr algn="l">
              <a:lnSpc>
                <a:spcPts val="3180"/>
              </a:lnSpc>
            </a:pP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3" id="13"/>
          <p:cNvSpPr txBox="true"/>
          <p:nvPr/>
        </p:nvSpPr>
        <p:spPr>
          <a:xfrm rot="0">
            <a:off x="956216" y="4096842"/>
            <a:ext cx="5918644" cy="5884943"/>
          </a:xfrm>
          <a:prstGeom prst="rect">
            <a:avLst/>
          </a:prstGeom>
        </p:spPr>
        <p:txBody>
          <a:bodyPr anchor="t" rtlCol="false" tIns="0" lIns="0" bIns="0" rIns="0">
            <a:spAutoFit/>
          </a:bodyPr>
          <a:lstStyle/>
          <a:p>
            <a:pPr algn="ctr">
              <a:lnSpc>
                <a:spcPts val="5820"/>
              </a:lnSpc>
              <a:spcBef>
                <a:spcPct val="0"/>
              </a:spcBef>
            </a:pPr>
            <a:r>
              <a:rPr lang="en-US" sz="4157">
                <a:solidFill>
                  <a:srgbClr val="FFFFFF"/>
                </a:solidFill>
                <a:latin typeface="Arial MT Pro"/>
                <a:ea typeface="Arial MT Pro"/>
                <a:cs typeface="Arial MT Pro"/>
                <a:sym typeface="Arial MT Pro"/>
              </a:rPr>
              <a:t>Giả</a:t>
            </a:r>
            <a:r>
              <a:rPr lang="en-US" sz="4157">
                <a:solidFill>
                  <a:srgbClr val="FFFFFF"/>
                </a:solidFill>
                <a:latin typeface="Arial MT Pro"/>
                <a:ea typeface="Arial MT Pro"/>
                <a:cs typeface="Arial MT Pro"/>
                <a:sym typeface="Arial MT Pro"/>
              </a:rPr>
              <a:t>i pháp: Sử dụng predict_proba(). Hạ mức tin cậy của việc dự đoán "Hài lòng" xuống ngưỡng 0.65 (Chỉ đoán khách hài lòng nếu độ tự tin &gt; 65%, ngược lại xếp vào nhóm có nguy cơ).</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TextBox 10" id="10"/>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Kết luận</a:t>
            </a:r>
          </a:p>
        </p:txBody>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2" id="12"/>
          <p:cNvSpPr txBox="true"/>
          <p:nvPr/>
        </p:nvSpPr>
        <p:spPr>
          <a:xfrm rot="0">
            <a:off x="340772" y="3323090"/>
            <a:ext cx="17947228" cy="6937835"/>
          </a:xfrm>
          <a:prstGeom prst="rect">
            <a:avLst/>
          </a:prstGeom>
        </p:spPr>
        <p:txBody>
          <a:bodyPr anchor="t" rtlCol="false" tIns="0" lIns="0" bIns="0" rIns="0">
            <a:spAutoFit/>
          </a:bodyPr>
          <a:lstStyle/>
          <a:p>
            <a:pPr algn="ctr">
              <a:lnSpc>
                <a:spcPts val="7877"/>
              </a:lnSpc>
            </a:pPr>
            <a:r>
              <a:rPr lang="en-US" b="true" sz="3151">
                <a:solidFill>
                  <a:srgbClr val="FFFFFF"/>
                </a:solidFill>
                <a:latin typeface="Arial MT Pro Bold"/>
                <a:ea typeface="Arial MT Pro Bold"/>
                <a:cs typeface="Arial MT Pro Bold"/>
                <a:sym typeface="Arial MT Pro Bold"/>
              </a:rPr>
              <a:t>Bằng cách áp dụng kỹ thuật giảm mẫu ngẫu nhiên (Und</a:t>
            </a:r>
            <a:r>
              <a:rPr lang="en-US" b="true" sz="3151">
                <a:solidFill>
                  <a:srgbClr val="FFFFFF"/>
                </a:solidFill>
                <a:latin typeface="Arial MT Pro Bold"/>
                <a:ea typeface="Arial MT Pro Bold"/>
                <a:cs typeface="Arial MT Pro Bold"/>
                <a:sym typeface="Arial MT Pro Bold"/>
              </a:rPr>
              <a:t>ersampling) kết hợp điều chỉnh ngưỡng quyết định về 0.6, mô hình Bal</a:t>
            </a:r>
            <a:r>
              <a:rPr lang="en-US" b="true" sz="3151">
                <a:solidFill>
                  <a:srgbClr val="FFFFFF"/>
                </a:solidFill>
                <a:latin typeface="Arial MT Pro Bold"/>
                <a:ea typeface="Arial MT Pro Bold"/>
                <a:cs typeface="Arial MT Pro Bold"/>
                <a:sym typeface="Arial MT Pro Bold"/>
              </a:rPr>
              <a:t>anced Random</a:t>
            </a:r>
            <a:r>
              <a:rPr lang="en-US" b="true" sz="3151">
                <a:solidFill>
                  <a:srgbClr val="FFFFFF"/>
                </a:solidFill>
                <a:latin typeface="Arial MT Pro Bold"/>
                <a:ea typeface="Arial MT Pro Bold"/>
                <a:cs typeface="Arial MT Pro Bold"/>
                <a:sym typeface="Arial MT Pro Bold"/>
              </a:rPr>
              <a:t> Forest đã cải thiện vượt bậc hiệu quả phát hiện rủi ro từ khách hàng không hài lòng. Mô hình nhận diện chính xác đến 2.912 đánh giá tiêu cực (độ nhạy lớp tiêu cực đạt 73.24%) và chỉ còn bỏ sót 1.064 trường hợp. Mặc dù việc tối ưu hóa này làm giảm độ chính xác tổng thể xuống 52.02% và tăng số lượng cảnh báo nhầm (False Warnings) lên 8.005, đây vẫn là giải pháp thực tế hơn để doanh nghiệp chủ động chăm sóc khách hàng và giảm thiểu rủi ro rời bỏ.</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83774">
            <a:off x="7565571" y="197405"/>
            <a:ext cx="11226909" cy="14341591"/>
            <a:chOff x="0" y="0"/>
            <a:chExt cx="2956881" cy="3777209"/>
          </a:xfrm>
        </p:grpSpPr>
        <p:sp>
          <p:nvSpPr>
            <p:cNvPr name="Freeform 5" id="5"/>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6" id="6"/>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7" id="7"/>
          <p:cNvGrpSpPr/>
          <p:nvPr/>
        </p:nvGrpSpPr>
        <p:grpSpPr>
          <a:xfrm rot="1383774">
            <a:off x="7012072" y="108644"/>
            <a:ext cx="10773748" cy="14341591"/>
            <a:chOff x="0" y="0"/>
            <a:chExt cx="2837530" cy="3777209"/>
          </a:xfrm>
        </p:grpSpPr>
        <p:sp>
          <p:nvSpPr>
            <p:cNvPr name="Freeform 8" id="8"/>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TextBox 10" id="1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grpSp>
        <p:nvGrpSpPr>
          <p:cNvPr name="Group 11" id="11"/>
          <p:cNvGrpSpPr/>
          <p:nvPr/>
        </p:nvGrpSpPr>
        <p:grpSpPr>
          <a:xfrm rot="0">
            <a:off x="1795032" y="3918450"/>
            <a:ext cx="8068420" cy="2985524"/>
            <a:chOff x="0" y="0"/>
            <a:chExt cx="10757893" cy="3980699"/>
          </a:xfrm>
        </p:grpSpPr>
        <p:grpSp>
          <p:nvGrpSpPr>
            <p:cNvPr name="Group 12" id="12"/>
            <p:cNvGrpSpPr/>
            <p:nvPr/>
          </p:nvGrpSpPr>
          <p:grpSpPr>
            <a:xfrm rot="0">
              <a:off x="158986" y="3024109"/>
              <a:ext cx="4602859" cy="956590"/>
              <a:chOff x="0" y="0"/>
              <a:chExt cx="1955491" cy="406400"/>
            </a:xfrm>
          </p:grpSpPr>
          <p:sp>
            <p:nvSpPr>
              <p:cNvPr name="Freeform 13" id="13"/>
              <p:cNvSpPr/>
              <p:nvPr/>
            </p:nvSpPr>
            <p:spPr>
              <a:xfrm flipH="false" flipV="false" rot="0">
                <a:off x="0" y="0"/>
                <a:ext cx="1955491" cy="406400"/>
              </a:xfrm>
              <a:custGeom>
                <a:avLst/>
                <a:gdLst/>
                <a:ahLst/>
                <a:cxnLst/>
                <a:rect r="r" b="b" t="t" l="l"/>
                <a:pathLst>
                  <a:path h="406400" w="1955491">
                    <a:moveTo>
                      <a:pt x="1752291" y="0"/>
                    </a:moveTo>
                    <a:cubicBezTo>
                      <a:pt x="1864515" y="0"/>
                      <a:pt x="1955491" y="90976"/>
                      <a:pt x="1955491" y="203200"/>
                    </a:cubicBezTo>
                    <a:cubicBezTo>
                      <a:pt x="1955491" y="315424"/>
                      <a:pt x="1864515" y="406400"/>
                      <a:pt x="1752291"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14" id="14"/>
              <p:cNvSpPr txBox="true"/>
              <p:nvPr/>
            </p:nvSpPr>
            <p:spPr>
              <a:xfrm>
                <a:off x="0" y="-38100"/>
                <a:ext cx="1955491"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0" y="133350"/>
              <a:ext cx="10757893" cy="2331156"/>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KNN Model</a:t>
              </a:r>
            </a:p>
          </p:txBody>
        </p:sp>
        <p:sp>
          <p:nvSpPr>
            <p:cNvPr name="TextBox 16" id="16"/>
            <p:cNvSpPr txBox="true"/>
            <p:nvPr/>
          </p:nvSpPr>
          <p:spPr>
            <a:xfrm rot="0">
              <a:off x="587481" y="3269467"/>
              <a:ext cx="3745869" cy="494450"/>
            </a:xfrm>
            <a:prstGeom prst="rect">
              <a:avLst/>
            </a:prstGeom>
          </p:spPr>
          <p:txBody>
            <a:bodyPr anchor="t" rtlCol="false" tIns="0" lIns="0" bIns="0" rIns="0">
              <a:spAutoFit/>
            </a:bodyPr>
            <a:lstStyle/>
            <a:p>
              <a:pPr algn="l">
                <a:lnSpc>
                  <a:spcPts val="2306"/>
                </a:lnSpc>
              </a:pPr>
              <a:r>
                <a:rPr lang="en-US" sz="2621">
                  <a:solidFill>
                    <a:srgbClr val="FFFFFF"/>
                  </a:solidFill>
                  <a:latin typeface="Arial MT Pro"/>
                  <a:ea typeface="Arial MT Pro"/>
                  <a:cs typeface="Arial MT Pro"/>
                  <a:sym typeface="Arial MT Pro"/>
                </a:rPr>
                <a:t>k-nearest neighbor</a:t>
              </a:r>
            </a:p>
          </p:txBody>
        </p:sp>
        <p:sp>
          <p:nvSpPr>
            <p:cNvPr name="TextBox 17" id="17"/>
            <p:cNvSpPr txBox="true"/>
            <p:nvPr/>
          </p:nvSpPr>
          <p:spPr>
            <a:xfrm rot="0">
              <a:off x="158986" y="1926740"/>
              <a:ext cx="10598907" cy="1097370"/>
            </a:xfrm>
            <a:prstGeom prst="rect">
              <a:avLst/>
            </a:prstGeom>
          </p:spPr>
          <p:txBody>
            <a:bodyPr anchor="t" rtlCol="false" tIns="0" lIns="0" bIns="0" rIns="0">
              <a:spAutoFit/>
            </a:bodyPr>
            <a:lstStyle/>
            <a:p>
              <a:pPr algn="l">
                <a:lnSpc>
                  <a:spcPts val="5004"/>
                </a:lnSpc>
              </a:pPr>
              <a:r>
                <a:rPr lang="en-US" sz="5687" spc="-90" b="true">
                  <a:solidFill>
                    <a:srgbClr val="FFFFFF"/>
                  </a:solidFill>
                  <a:latin typeface="Arial MT Pro Bold"/>
                  <a:ea typeface="Arial MT Pro Bold"/>
                  <a:cs typeface="Arial MT Pro Bold"/>
                  <a:sym typeface="Arial MT Pro Bold"/>
                </a:rPr>
                <a:t>Olist Review Prediction</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3743553" cy="998829"/>
            <a:chOff x="0" y="0"/>
            <a:chExt cx="2604133" cy="694817"/>
          </a:xfrm>
        </p:grpSpPr>
        <p:sp>
          <p:nvSpPr>
            <p:cNvPr name="Freeform 8" id="8"/>
            <p:cNvSpPr/>
            <p:nvPr/>
          </p:nvSpPr>
          <p:spPr>
            <a:xfrm flipH="false" flipV="false" rot="0">
              <a:off x="0" y="0"/>
              <a:ext cx="2604133" cy="694817"/>
            </a:xfrm>
            <a:custGeom>
              <a:avLst/>
              <a:gdLst/>
              <a:ahLst/>
              <a:cxnLst/>
              <a:rect r="r" b="b" t="t" l="l"/>
              <a:pathLst>
                <a:path h="694817" w="2604133">
                  <a:moveTo>
                    <a:pt x="72382" y="0"/>
                  </a:moveTo>
                  <a:lnTo>
                    <a:pt x="2531751" y="0"/>
                  </a:lnTo>
                  <a:cubicBezTo>
                    <a:pt x="2571726" y="0"/>
                    <a:pt x="2604133" y="32407"/>
                    <a:pt x="2604133" y="72382"/>
                  </a:cubicBezTo>
                  <a:lnTo>
                    <a:pt x="2604133" y="622435"/>
                  </a:lnTo>
                  <a:cubicBezTo>
                    <a:pt x="2604133" y="641632"/>
                    <a:pt x="2596507" y="660043"/>
                    <a:pt x="2582933" y="673617"/>
                  </a:cubicBezTo>
                  <a:cubicBezTo>
                    <a:pt x="2569358" y="687191"/>
                    <a:pt x="2550948" y="694817"/>
                    <a:pt x="2531751" y="694817"/>
                  </a:cubicBezTo>
                  <a:lnTo>
                    <a:pt x="72382" y="694817"/>
                  </a:lnTo>
                  <a:cubicBezTo>
                    <a:pt x="53185" y="694817"/>
                    <a:pt x="34775" y="687191"/>
                    <a:pt x="21200" y="673617"/>
                  </a:cubicBezTo>
                  <a:cubicBezTo>
                    <a:pt x="7626" y="660043"/>
                    <a:pt x="0" y="641632"/>
                    <a:pt x="0" y="622435"/>
                  </a:cubicBezTo>
                  <a:lnTo>
                    <a:pt x="0" y="72382"/>
                  </a:lnTo>
                  <a:cubicBezTo>
                    <a:pt x="0" y="53185"/>
                    <a:pt x="7626" y="34775"/>
                    <a:pt x="21200" y="21200"/>
                  </a:cubicBezTo>
                  <a:cubicBezTo>
                    <a:pt x="34775" y="7626"/>
                    <a:pt x="53185" y="0"/>
                    <a:pt x="72382"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604133" cy="675767"/>
            </a:xfrm>
            <a:prstGeom prst="rect">
              <a:avLst/>
            </a:prstGeom>
          </p:spPr>
          <p:txBody>
            <a:bodyPr anchor="ctr" rtlCol="false" tIns="19233" lIns="19233" bIns="19233" rIns="19233"/>
            <a:lstStyle/>
            <a:p>
              <a:pPr algn="l">
                <a:lnSpc>
                  <a:spcPts val="1387"/>
                </a:lnSpc>
              </a:pPr>
            </a:p>
          </p:txBody>
        </p:sp>
      </p:grpSp>
      <p:sp>
        <p:nvSpPr>
          <p:cNvPr name="TextBox 10" id="10"/>
          <p:cNvSpPr txBox="true"/>
          <p:nvPr/>
        </p:nvSpPr>
        <p:spPr>
          <a:xfrm rot="0">
            <a:off x="1706227" y="2325878"/>
            <a:ext cx="2506346" cy="471720"/>
          </a:xfrm>
          <a:prstGeom prst="rect">
            <a:avLst/>
          </a:prstGeom>
        </p:spPr>
        <p:txBody>
          <a:bodyPr anchor="t" rtlCol="false" tIns="0" lIns="0" bIns="0" rIns="0">
            <a:spAutoFit/>
          </a:bodyPr>
          <a:lstStyle/>
          <a:p>
            <a:pPr algn="l">
              <a:lnSpc>
                <a:spcPts val="3180"/>
              </a:lnSpc>
            </a:pPr>
            <a:r>
              <a:rPr lang="en-US" b="true" sz="3058" spc="-128">
                <a:solidFill>
                  <a:srgbClr val="FFFFFF"/>
                </a:solidFill>
                <a:latin typeface="Arial MT Pro Bold"/>
                <a:ea typeface="Arial MT Pro Bold"/>
                <a:cs typeface="Arial MT Pro Bold"/>
                <a:sym typeface="Arial MT Pro Bold"/>
              </a:rPr>
              <a:t>What is KNN?</a:t>
            </a:r>
          </a:p>
        </p:txBody>
      </p:sp>
      <p:sp>
        <p:nvSpPr>
          <p:cNvPr name="Freeform 11" id="11"/>
          <p:cNvSpPr/>
          <p:nvPr/>
        </p:nvSpPr>
        <p:spPr>
          <a:xfrm flipH="false" flipV="false" rot="0">
            <a:off x="3973363" y="3470100"/>
            <a:ext cx="10341274" cy="6359883"/>
          </a:xfrm>
          <a:custGeom>
            <a:avLst/>
            <a:gdLst/>
            <a:ahLst/>
            <a:cxnLst/>
            <a:rect r="r" b="b" t="t" l="l"/>
            <a:pathLst>
              <a:path h="6359883" w="10341274">
                <a:moveTo>
                  <a:pt x="0" y="0"/>
                </a:moveTo>
                <a:lnTo>
                  <a:pt x="10341274" y="0"/>
                </a:lnTo>
                <a:lnTo>
                  <a:pt x="10341274" y="6359883"/>
                </a:lnTo>
                <a:lnTo>
                  <a:pt x="0" y="6359883"/>
                </a:lnTo>
                <a:lnTo>
                  <a:pt x="0" y="0"/>
                </a:lnTo>
                <a:close/>
              </a:path>
            </a:pathLst>
          </a:custGeom>
          <a:blipFill>
            <a:blip r:embed="rId4"/>
            <a:stretch>
              <a:fillRect l="0" t="0" r="0" b="0"/>
            </a:stretch>
          </a:blipFill>
        </p:spPr>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TextBox 10" id="10"/>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Training the Model</a:t>
            </a:r>
          </a:p>
        </p:txBody>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grpSp>
        <p:nvGrpSpPr>
          <p:cNvPr name="Group 12" id="12"/>
          <p:cNvGrpSpPr/>
          <p:nvPr/>
        </p:nvGrpSpPr>
        <p:grpSpPr>
          <a:xfrm rot="0">
            <a:off x="6292172" y="4633037"/>
            <a:ext cx="5703655" cy="1917307"/>
            <a:chOff x="0" y="0"/>
            <a:chExt cx="7604874" cy="2556409"/>
          </a:xfrm>
        </p:grpSpPr>
        <p:grpSp>
          <p:nvGrpSpPr>
            <p:cNvPr name="Group 13" id="13"/>
            <p:cNvGrpSpPr/>
            <p:nvPr/>
          </p:nvGrpSpPr>
          <p:grpSpPr>
            <a:xfrm rot="0">
              <a:off x="0" y="0"/>
              <a:ext cx="7604874" cy="1139600"/>
              <a:chOff x="0" y="0"/>
              <a:chExt cx="1487879" cy="222961"/>
            </a:xfrm>
          </p:grpSpPr>
          <p:sp>
            <p:nvSpPr>
              <p:cNvPr name="Freeform 14" id="14"/>
              <p:cNvSpPr/>
              <p:nvPr/>
            </p:nvSpPr>
            <p:spPr>
              <a:xfrm flipH="false" flipV="false" rot="0">
                <a:off x="0" y="0"/>
                <a:ext cx="1487880" cy="222961"/>
              </a:xfrm>
              <a:custGeom>
                <a:avLst/>
                <a:gdLst/>
                <a:ahLst/>
                <a:cxnLst/>
                <a:rect r="r" b="b" t="t" l="l"/>
                <a:pathLst>
                  <a:path h="222961" w="1487880">
                    <a:moveTo>
                      <a:pt x="28505" y="0"/>
                    </a:moveTo>
                    <a:lnTo>
                      <a:pt x="1459375" y="0"/>
                    </a:lnTo>
                    <a:cubicBezTo>
                      <a:pt x="1466935" y="0"/>
                      <a:pt x="1474185" y="3003"/>
                      <a:pt x="1479531" y="8349"/>
                    </a:cubicBezTo>
                    <a:cubicBezTo>
                      <a:pt x="1484876" y="13694"/>
                      <a:pt x="1487880" y="20945"/>
                      <a:pt x="1487880" y="28505"/>
                    </a:cubicBezTo>
                    <a:lnTo>
                      <a:pt x="1487880" y="194456"/>
                    </a:lnTo>
                    <a:cubicBezTo>
                      <a:pt x="1487880" y="202016"/>
                      <a:pt x="1484876" y="209266"/>
                      <a:pt x="1479531" y="214612"/>
                    </a:cubicBezTo>
                    <a:cubicBezTo>
                      <a:pt x="1474185" y="219957"/>
                      <a:pt x="1466935" y="222961"/>
                      <a:pt x="1459375" y="222961"/>
                    </a:cubicBezTo>
                    <a:lnTo>
                      <a:pt x="28505" y="222961"/>
                    </a:lnTo>
                    <a:cubicBezTo>
                      <a:pt x="20945" y="222961"/>
                      <a:pt x="13694" y="219957"/>
                      <a:pt x="8349" y="214612"/>
                    </a:cubicBezTo>
                    <a:cubicBezTo>
                      <a:pt x="3003" y="209266"/>
                      <a:pt x="0" y="202016"/>
                      <a:pt x="0" y="194456"/>
                    </a:cubicBezTo>
                    <a:lnTo>
                      <a:pt x="0" y="28505"/>
                    </a:lnTo>
                    <a:cubicBezTo>
                      <a:pt x="0" y="20945"/>
                      <a:pt x="3003" y="13694"/>
                      <a:pt x="8349" y="8349"/>
                    </a:cubicBezTo>
                    <a:cubicBezTo>
                      <a:pt x="13694" y="3003"/>
                      <a:pt x="20945" y="0"/>
                      <a:pt x="28505" y="0"/>
                    </a:cubicBezTo>
                    <a:close/>
                  </a:path>
                </a:pathLst>
              </a:custGeom>
              <a:ln w="9525" cap="rnd">
                <a:solidFill>
                  <a:srgbClr val="FFFFFF"/>
                </a:solidFill>
                <a:prstDash val="solid"/>
                <a:round/>
              </a:ln>
            </p:spPr>
          </p:sp>
          <p:sp>
            <p:nvSpPr>
              <p:cNvPr name="TextBox 15" id="15"/>
              <p:cNvSpPr txBox="true"/>
              <p:nvPr/>
            </p:nvSpPr>
            <p:spPr>
              <a:xfrm>
                <a:off x="0" y="19050"/>
                <a:ext cx="1487879" cy="203911"/>
              </a:xfrm>
              <a:prstGeom prst="rect">
                <a:avLst/>
              </a:prstGeom>
            </p:spPr>
            <p:txBody>
              <a:bodyPr anchor="ctr" rtlCol="false" tIns="50800" lIns="50800" bIns="50800" rIns="50800"/>
              <a:lstStyle/>
              <a:p>
                <a:pPr algn="ctr">
                  <a:lnSpc>
                    <a:spcPts val="1387"/>
                  </a:lnSpc>
                </a:pPr>
              </a:p>
            </p:txBody>
          </p:sp>
        </p:grpSp>
        <p:sp>
          <p:nvSpPr>
            <p:cNvPr name="TextBox 16" id="16"/>
            <p:cNvSpPr txBox="true"/>
            <p:nvPr/>
          </p:nvSpPr>
          <p:spPr>
            <a:xfrm rot="0">
              <a:off x="2705831" y="255187"/>
              <a:ext cx="2193212" cy="884413"/>
            </a:xfrm>
            <a:prstGeom prst="rect">
              <a:avLst/>
            </a:prstGeom>
          </p:spPr>
          <p:txBody>
            <a:bodyPr anchor="t" rtlCol="false" tIns="0" lIns="0" bIns="0" rIns="0">
              <a:spAutoFit/>
            </a:bodyPr>
            <a:lstStyle/>
            <a:p>
              <a:pPr algn="l">
                <a:lnSpc>
                  <a:spcPts val="4047"/>
                </a:lnSpc>
              </a:pPr>
              <a:r>
                <a:rPr lang="en-US" sz="4599">
                  <a:solidFill>
                    <a:srgbClr val="FFFFFF"/>
                  </a:solidFill>
                  <a:latin typeface="Arial MT Pro"/>
                  <a:ea typeface="Arial MT Pro"/>
                  <a:cs typeface="Arial MT Pro"/>
                  <a:sym typeface="Arial MT Pro"/>
                </a:rPr>
                <a:t>n = 15</a:t>
              </a:r>
            </a:p>
          </p:txBody>
        </p:sp>
        <p:grpSp>
          <p:nvGrpSpPr>
            <p:cNvPr name="Group 17" id="17"/>
            <p:cNvGrpSpPr/>
            <p:nvPr/>
          </p:nvGrpSpPr>
          <p:grpSpPr>
            <a:xfrm rot="0">
              <a:off x="0" y="1416809"/>
              <a:ext cx="7604874" cy="1139600"/>
              <a:chOff x="0" y="0"/>
              <a:chExt cx="1487879" cy="222961"/>
            </a:xfrm>
          </p:grpSpPr>
          <p:sp>
            <p:nvSpPr>
              <p:cNvPr name="Freeform 18" id="18"/>
              <p:cNvSpPr/>
              <p:nvPr/>
            </p:nvSpPr>
            <p:spPr>
              <a:xfrm flipH="false" flipV="false" rot="0">
                <a:off x="0" y="0"/>
                <a:ext cx="1487880" cy="222961"/>
              </a:xfrm>
              <a:custGeom>
                <a:avLst/>
                <a:gdLst/>
                <a:ahLst/>
                <a:cxnLst/>
                <a:rect r="r" b="b" t="t" l="l"/>
                <a:pathLst>
                  <a:path h="222961" w="1487880">
                    <a:moveTo>
                      <a:pt x="28505" y="0"/>
                    </a:moveTo>
                    <a:lnTo>
                      <a:pt x="1459375" y="0"/>
                    </a:lnTo>
                    <a:cubicBezTo>
                      <a:pt x="1466935" y="0"/>
                      <a:pt x="1474185" y="3003"/>
                      <a:pt x="1479531" y="8349"/>
                    </a:cubicBezTo>
                    <a:cubicBezTo>
                      <a:pt x="1484876" y="13694"/>
                      <a:pt x="1487880" y="20945"/>
                      <a:pt x="1487880" y="28505"/>
                    </a:cubicBezTo>
                    <a:lnTo>
                      <a:pt x="1487880" y="194456"/>
                    </a:lnTo>
                    <a:cubicBezTo>
                      <a:pt x="1487880" y="202016"/>
                      <a:pt x="1484876" y="209266"/>
                      <a:pt x="1479531" y="214612"/>
                    </a:cubicBezTo>
                    <a:cubicBezTo>
                      <a:pt x="1474185" y="219957"/>
                      <a:pt x="1466935" y="222961"/>
                      <a:pt x="1459375" y="222961"/>
                    </a:cubicBezTo>
                    <a:lnTo>
                      <a:pt x="28505" y="222961"/>
                    </a:lnTo>
                    <a:cubicBezTo>
                      <a:pt x="20945" y="222961"/>
                      <a:pt x="13694" y="219957"/>
                      <a:pt x="8349" y="214612"/>
                    </a:cubicBezTo>
                    <a:cubicBezTo>
                      <a:pt x="3003" y="209266"/>
                      <a:pt x="0" y="202016"/>
                      <a:pt x="0" y="194456"/>
                    </a:cubicBezTo>
                    <a:lnTo>
                      <a:pt x="0" y="28505"/>
                    </a:lnTo>
                    <a:cubicBezTo>
                      <a:pt x="0" y="20945"/>
                      <a:pt x="3003" y="13694"/>
                      <a:pt x="8349" y="8349"/>
                    </a:cubicBezTo>
                    <a:cubicBezTo>
                      <a:pt x="13694" y="3003"/>
                      <a:pt x="20945" y="0"/>
                      <a:pt x="28505" y="0"/>
                    </a:cubicBezTo>
                    <a:close/>
                  </a:path>
                </a:pathLst>
              </a:custGeom>
              <a:ln w="9525" cap="rnd">
                <a:solidFill>
                  <a:srgbClr val="FFFFFF"/>
                </a:solidFill>
                <a:prstDash val="solid"/>
                <a:round/>
              </a:ln>
            </p:spPr>
          </p:sp>
          <p:sp>
            <p:nvSpPr>
              <p:cNvPr name="TextBox 19" id="19"/>
              <p:cNvSpPr txBox="true"/>
              <p:nvPr/>
            </p:nvSpPr>
            <p:spPr>
              <a:xfrm>
                <a:off x="0" y="19050"/>
                <a:ext cx="1487879" cy="203911"/>
              </a:xfrm>
              <a:prstGeom prst="rect">
                <a:avLst/>
              </a:prstGeom>
            </p:spPr>
            <p:txBody>
              <a:bodyPr anchor="ctr" rtlCol="false" tIns="50800" lIns="50800" bIns="50800" rIns="50800"/>
              <a:lstStyle/>
              <a:p>
                <a:pPr algn="ctr">
                  <a:lnSpc>
                    <a:spcPts val="1387"/>
                  </a:lnSpc>
                </a:pPr>
              </a:p>
            </p:txBody>
          </p:sp>
        </p:grpSp>
        <p:sp>
          <p:nvSpPr>
            <p:cNvPr name="TextBox 20" id="20"/>
            <p:cNvSpPr txBox="true"/>
            <p:nvPr/>
          </p:nvSpPr>
          <p:spPr>
            <a:xfrm rot="0">
              <a:off x="582106" y="1671996"/>
              <a:ext cx="6635479" cy="884413"/>
            </a:xfrm>
            <a:prstGeom prst="rect">
              <a:avLst/>
            </a:prstGeom>
          </p:spPr>
          <p:txBody>
            <a:bodyPr anchor="t" rtlCol="false" tIns="0" lIns="0" bIns="0" rIns="0">
              <a:spAutoFit/>
            </a:bodyPr>
            <a:lstStyle/>
            <a:p>
              <a:pPr algn="l">
                <a:lnSpc>
                  <a:spcPts val="4047"/>
                </a:lnSpc>
              </a:pPr>
              <a:r>
                <a:rPr lang="en-US" sz="4599">
                  <a:solidFill>
                    <a:srgbClr val="FFFFFF"/>
                  </a:solidFill>
                  <a:latin typeface="Arial MT Pro"/>
                  <a:ea typeface="Arial MT Pro"/>
                  <a:cs typeface="Arial MT Pro"/>
                  <a:sym typeface="Arial MT Pro"/>
                </a:rPr>
                <a:t>weights = distance</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4772215" y="3639043"/>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4"/>
            <a:stretch>
              <a:fillRect l="0" t="0" r="0" b="0"/>
            </a:stretch>
          </a:blipFill>
        </p:spPr>
      </p:sp>
      <p:sp>
        <p:nvSpPr>
          <p:cNvPr name="TextBox 11" id="11"/>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Training the Model</a:t>
            </a: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5105956" y="4365654"/>
            <a:ext cx="8388467" cy="5596600"/>
          </a:xfrm>
          <a:custGeom>
            <a:avLst/>
            <a:gdLst/>
            <a:ahLst/>
            <a:cxnLst/>
            <a:rect r="r" b="b" t="t" l="l"/>
            <a:pathLst>
              <a:path h="5596600" w="8388467">
                <a:moveTo>
                  <a:pt x="0" y="0"/>
                </a:moveTo>
                <a:lnTo>
                  <a:pt x="8388467" y="0"/>
                </a:lnTo>
                <a:lnTo>
                  <a:pt x="8388467" y="5596600"/>
                </a:lnTo>
                <a:lnTo>
                  <a:pt x="0" y="5596600"/>
                </a:lnTo>
                <a:lnTo>
                  <a:pt x="0" y="0"/>
                </a:lnTo>
                <a:close/>
              </a:path>
            </a:pathLst>
          </a:custGeom>
          <a:blipFill>
            <a:blip r:embed="rId4"/>
            <a:stretch>
              <a:fillRect l="0" t="0" r="0" b="0"/>
            </a:stretch>
          </a:blipFill>
        </p:spPr>
      </p:sp>
      <p:sp>
        <p:nvSpPr>
          <p:cNvPr name="TextBox 11" id="11"/>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Training the Model</a:t>
            </a: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3" id="13"/>
          <p:cNvSpPr txBox="true"/>
          <p:nvPr/>
        </p:nvSpPr>
        <p:spPr>
          <a:xfrm rot="0">
            <a:off x="5726641" y="3275137"/>
            <a:ext cx="3296337" cy="871770"/>
          </a:xfrm>
          <a:prstGeom prst="rect">
            <a:avLst/>
          </a:prstGeom>
        </p:spPr>
        <p:txBody>
          <a:bodyPr anchor="t" rtlCol="false" tIns="0" lIns="0" bIns="0" rIns="0">
            <a:spAutoFit/>
          </a:bodyPr>
          <a:lstStyle/>
          <a:p>
            <a:pPr algn="ctr">
              <a:lnSpc>
                <a:spcPts val="3180"/>
              </a:lnSpc>
            </a:pPr>
            <a:r>
              <a:rPr lang="en-US" b="true" sz="3058" spc="-128">
                <a:solidFill>
                  <a:srgbClr val="2F74B5"/>
                </a:solidFill>
                <a:latin typeface="Arial MT Pro Bold"/>
                <a:ea typeface="Arial MT Pro Bold"/>
                <a:cs typeface="Arial MT Pro Bold"/>
                <a:sym typeface="Arial MT Pro Bold"/>
              </a:rPr>
              <a:t>75,603</a:t>
            </a:r>
          </a:p>
          <a:p>
            <a:pPr algn="ctr">
              <a:lnSpc>
                <a:spcPts val="3180"/>
              </a:lnSpc>
            </a:pPr>
            <a:r>
              <a:rPr lang="en-US" b="true" sz="3058" spc="-128">
                <a:solidFill>
                  <a:srgbClr val="FFFFFF"/>
                </a:solidFill>
                <a:latin typeface="Arial MT Pro Bold"/>
                <a:ea typeface="Arial MT Pro Bold"/>
                <a:cs typeface="Arial MT Pro Bold"/>
                <a:sym typeface="Arial MT Pro Bold"/>
              </a:rPr>
              <a:t>Training orders</a:t>
            </a:r>
          </a:p>
        </p:txBody>
      </p:sp>
      <p:sp>
        <p:nvSpPr>
          <p:cNvPr name="TextBox 14" id="14"/>
          <p:cNvSpPr txBox="true"/>
          <p:nvPr/>
        </p:nvSpPr>
        <p:spPr>
          <a:xfrm rot="0">
            <a:off x="9577401" y="3275137"/>
            <a:ext cx="3296337" cy="871770"/>
          </a:xfrm>
          <a:prstGeom prst="rect">
            <a:avLst/>
          </a:prstGeom>
        </p:spPr>
        <p:txBody>
          <a:bodyPr anchor="t" rtlCol="false" tIns="0" lIns="0" bIns="0" rIns="0">
            <a:spAutoFit/>
          </a:bodyPr>
          <a:lstStyle/>
          <a:p>
            <a:pPr algn="ctr">
              <a:lnSpc>
                <a:spcPts val="3180"/>
              </a:lnSpc>
            </a:pPr>
            <a:r>
              <a:rPr lang="en-US" b="true" sz="3058" spc="-128">
                <a:solidFill>
                  <a:srgbClr val="2F74B5"/>
                </a:solidFill>
                <a:latin typeface="Arial MT Pro Bold"/>
                <a:ea typeface="Arial MT Pro Bold"/>
                <a:cs typeface="Arial MT Pro Bold"/>
                <a:sym typeface="Arial MT Pro Bold"/>
              </a:rPr>
              <a:t>18,901</a:t>
            </a:r>
          </a:p>
          <a:p>
            <a:pPr algn="ctr">
              <a:lnSpc>
                <a:spcPts val="3180"/>
              </a:lnSpc>
            </a:pPr>
            <a:r>
              <a:rPr lang="en-US" b="true" sz="3058" spc="-128">
                <a:solidFill>
                  <a:srgbClr val="FFFFFF"/>
                </a:solidFill>
                <a:latin typeface="Arial MT Pro Bold"/>
                <a:ea typeface="Arial MT Pro Bold"/>
                <a:cs typeface="Arial MT Pro Bold"/>
                <a:sym typeface="Arial MT Pro Bold"/>
              </a:rPr>
              <a:t>Training orders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1746685" y="4765830"/>
            <a:ext cx="14794629" cy="2607553"/>
          </a:xfrm>
          <a:custGeom>
            <a:avLst/>
            <a:gdLst/>
            <a:ahLst/>
            <a:cxnLst/>
            <a:rect r="r" b="b" t="t" l="l"/>
            <a:pathLst>
              <a:path h="2607553" w="14794629">
                <a:moveTo>
                  <a:pt x="0" y="0"/>
                </a:moveTo>
                <a:lnTo>
                  <a:pt x="14794630" y="0"/>
                </a:lnTo>
                <a:lnTo>
                  <a:pt x="14794630" y="2607554"/>
                </a:lnTo>
                <a:lnTo>
                  <a:pt x="0" y="2607554"/>
                </a:lnTo>
                <a:lnTo>
                  <a:pt x="0" y="0"/>
                </a:lnTo>
                <a:close/>
              </a:path>
            </a:pathLst>
          </a:custGeom>
          <a:blipFill>
            <a:blip r:embed="rId4"/>
            <a:stretch>
              <a:fillRect l="0" t="0" r="0" b="0"/>
            </a:stretch>
          </a:blipFill>
        </p:spPr>
      </p:sp>
      <p:sp>
        <p:nvSpPr>
          <p:cNvPr name="TextBox 11" id="11"/>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Training the Model</a:t>
            </a: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Freeform 10" id="10"/>
          <p:cNvSpPr/>
          <p:nvPr/>
        </p:nvSpPr>
        <p:spPr>
          <a:xfrm flipH="false" flipV="false" rot="0">
            <a:off x="3856577" y="3360680"/>
            <a:ext cx="10574845" cy="6559081"/>
          </a:xfrm>
          <a:custGeom>
            <a:avLst/>
            <a:gdLst/>
            <a:ahLst/>
            <a:cxnLst/>
            <a:rect r="r" b="b" t="t" l="l"/>
            <a:pathLst>
              <a:path h="6559081" w="10574845">
                <a:moveTo>
                  <a:pt x="0" y="0"/>
                </a:moveTo>
                <a:lnTo>
                  <a:pt x="10574846" y="0"/>
                </a:lnTo>
                <a:lnTo>
                  <a:pt x="10574846" y="6559081"/>
                </a:lnTo>
                <a:lnTo>
                  <a:pt x="0" y="6559081"/>
                </a:lnTo>
                <a:lnTo>
                  <a:pt x="0" y="0"/>
                </a:lnTo>
                <a:close/>
              </a:path>
            </a:pathLst>
          </a:custGeom>
          <a:blipFill>
            <a:blip r:embed="rId4"/>
            <a:stretch>
              <a:fillRect l="0" t="0" r="0" b="0"/>
            </a:stretch>
          </a:blipFill>
        </p:spPr>
      </p:sp>
      <p:sp>
        <p:nvSpPr>
          <p:cNvPr name="TextBox 11" id="11"/>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Result</a:t>
            </a:r>
          </a:p>
        </p:txBody>
      </p:sp>
      <p:sp>
        <p:nvSpPr>
          <p:cNvPr name="TextBox 12" id="12"/>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grpSp>
        <p:nvGrpSpPr>
          <p:cNvPr name="Group 10" id="10"/>
          <p:cNvGrpSpPr/>
          <p:nvPr/>
        </p:nvGrpSpPr>
        <p:grpSpPr>
          <a:xfrm rot="0">
            <a:off x="9487789" y="3365514"/>
            <a:ext cx="7368800" cy="6097682"/>
            <a:chOff x="0" y="0"/>
            <a:chExt cx="1940754" cy="1605974"/>
          </a:xfrm>
        </p:grpSpPr>
        <p:sp>
          <p:nvSpPr>
            <p:cNvPr name="Freeform 11" id="11"/>
            <p:cNvSpPr/>
            <p:nvPr/>
          </p:nvSpPr>
          <p:spPr>
            <a:xfrm flipH="false" flipV="false" rot="0">
              <a:off x="0" y="0"/>
              <a:ext cx="1940754" cy="1605974"/>
            </a:xfrm>
            <a:custGeom>
              <a:avLst/>
              <a:gdLst/>
              <a:ahLst/>
              <a:cxnLst/>
              <a:rect r="r" b="b" t="t" l="l"/>
              <a:pathLst>
                <a:path h="1605974" w="1940754">
                  <a:moveTo>
                    <a:pt x="36772" y="0"/>
                  </a:moveTo>
                  <a:lnTo>
                    <a:pt x="1903982" y="0"/>
                  </a:lnTo>
                  <a:cubicBezTo>
                    <a:pt x="1913734" y="0"/>
                    <a:pt x="1923087" y="3874"/>
                    <a:pt x="1929984" y="10770"/>
                  </a:cubicBezTo>
                  <a:cubicBezTo>
                    <a:pt x="1936880" y="17666"/>
                    <a:pt x="1940754" y="27020"/>
                    <a:pt x="1940754" y="36772"/>
                  </a:cubicBezTo>
                  <a:lnTo>
                    <a:pt x="1940754" y="1569202"/>
                  </a:lnTo>
                  <a:cubicBezTo>
                    <a:pt x="1940754" y="1578954"/>
                    <a:pt x="1936880" y="1588307"/>
                    <a:pt x="1929984" y="1595203"/>
                  </a:cubicBezTo>
                  <a:cubicBezTo>
                    <a:pt x="1923087" y="1602100"/>
                    <a:pt x="1913734" y="1605974"/>
                    <a:pt x="1903982" y="1605974"/>
                  </a:cubicBezTo>
                  <a:lnTo>
                    <a:pt x="36772" y="1605974"/>
                  </a:lnTo>
                  <a:cubicBezTo>
                    <a:pt x="27020" y="1605974"/>
                    <a:pt x="17666" y="1602100"/>
                    <a:pt x="10770" y="1595203"/>
                  </a:cubicBezTo>
                  <a:cubicBezTo>
                    <a:pt x="3874" y="1588307"/>
                    <a:pt x="0" y="1578954"/>
                    <a:pt x="0" y="1569202"/>
                  </a:cubicBezTo>
                  <a:lnTo>
                    <a:pt x="0" y="36772"/>
                  </a:lnTo>
                  <a:cubicBezTo>
                    <a:pt x="0" y="27020"/>
                    <a:pt x="3874" y="17666"/>
                    <a:pt x="10770" y="10770"/>
                  </a:cubicBezTo>
                  <a:cubicBezTo>
                    <a:pt x="17666" y="3874"/>
                    <a:pt x="27020" y="0"/>
                    <a:pt x="36772" y="0"/>
                  </a:cubicBezTo>
                  <a:close/>
                </a:path>
              </a:pathLst>
            </a:custGeom>
            <a:gradFill rotWithShape="true">
              <a:gsLst>
                <a:gs pos="0">
                  <a:srgbClr val="0C4A5B">
                    <a:alpha val="100000"/>
                  </a:srgbClr>
                </a:gs>
                <a:gs pos="100000">
                  <a:srgbClr val="27DDDF">
                    <a:alpha val="100000"/>
                  </a:srgbClr>
                </a:gs>
              </a:gsLst>
              <a:lin ang="2700000"/>
            </a:gradFill>
          </p:spPr>
        </p:sp>
        <p:sp>
          <p:nvSpPr>
            <p:cNvPr name="TextBox 12" id="12"/>
            <p:cNvSpPr txBox="true"/>
            <p:nvPr/>
          </p:nvSpPr>
          <p:spPr>
            <a:xfrm>
              <a:off x="0" y="19050"/>
              <a:ext cx="1940754" cy="1586924"/>
            </a:xfrm>
            <a:prstGeom prst="rect">
              <a:avLst/>
            </a:prstGeom>
          </p:spPr>
          <p:txBody>
            <a:bodyPr anchor="ctr" rtlCol="false" tIns="50800" lIns="50800" bIns="50800" rIns="50800"/>
            <a:lstStyle/>
            <a:p>
              <a:pPr algn="l">
                <a:lnSpc>
                  <a:spcPts val="1387"/>
                </a:lnSpc>
              </a:pPr>
            </a:p>
          </p:txBody>
        </p:sp>
      </p:grpSp>
      <p:sp>
        <p:nvSpPr>
          <p:cNvPr name="Freeform 13" id="13"/>
          <p:cNvSpPr/>
          <p:nvPr/>
        </p:nvSpPr>
        <p:spPr>
          <a:xfrm flipH="false" flipV="false" rot="0">
            <a:off x="1207019" y="3589480"/>
            <a:ext cx="7355801" cy="5649750"/>
          </a:xfrm>
          <a:custGeom>
            <a:avLst/>
            <a:gdLst/>
            <a:ahLst/>
            <a:cxnLst/>
            <a:rect r="r" b="b" t="t" l="l"/>
            <a:pathLst>
              <a:path h="5649750" w="7355801">
                <a:moveTo>
                  <a:pt x="0" y="0"/>
                </a:moveTo>
                <a:lnTo>
                  <a:pt x="7355801" y="0"/>
                </a:lnTo>
                <a:lnTo>
                  <a:pt x="7355801" y="5649750"/>
                </a:lnTo>
                <a:lnTo>
                  <a:pt x="0" y="5649750"/>
                </a:lnTo>
                <a:lnTo>
                  <a:pt x="0" y="0"/>
                </a:lnTo>
                <a:close/>
              </a:path>
            </a:pathLst>
          </a:custGeom>
          <a:blipFill>
            <a:blip r:embed="rId4"/>
            <a:stretch>
              <a:fillRect l="0" t="0" r="0" b="0"/>
            </a:stretch>
          </a:blipFill>
        </p:spPr>
      </p:sp>
      <p:sp>
        <p:nvSpPr>
          <p:cNvPr name="TextBox 14" id="14"/>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Result</a:t>
            </a:r>
          </a:p>
        </p:txBody>
      </p:sp>
      <p:sp>
        <p:nvSpPr>
          <p:cNvPr name="TextBox 15" id="15"/>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6" id="16"/>
          <p:cNvSpPr txBox="true"/>
          <p:nvPr/>
        </p:nvSpPr>
        <p:spPr>
          <a:xfrm rot="0">
            <a:off x="9691586" y="5133655"/>
            <a:ext cx="6961205" cy="2418524"/>
          </a:xfrm>
          <a:prstGeom prst="rect">
            <a:avLst/>
          </a:prstGeom>
        </p:spPr>
        <p:txBody>
          <a:bodyPr anchor="t" rtlCol="false" tIns="0" lIns="0" bIns="0" rIns="0">
            <a:spAutoFit/>
          </a:bodyPr>
          <a:lstStyle/>
          <a:p>
            <a:pPr algn="l">
              <a:lnSpc>
                <a:spcPts val="3822"/>
              </a:lnSpc>
            </a:pPr>
            <a:r>
              <a:rPr lang="en-US" sz="2345" spc="-98" b="true">
                <a:solidFill>
                  <a:srgbClr val="FFFFFF"/>
                </a:solidFill>
                <a:latin typeface="Arial MT Pro Bold"/>
                <a:ea typeface="Arial MT Pro Bold"/>
                <a:cs typeface="Arial MT Pro Bold"/>
                <a:sym typeface="Arial MT Pro Bold"/>
              </a:rPr>
              <a:t>2399 review xấu được dự đoán đúng.</a:t>
            </a:r>
          </a:p>
          <a:p>
            <a:pPr algn="l">
              <a:lnSpc>
                <a:spcPts val="3822"/>
              </a:lnSpc>
            </a:pPr>
            <a:r>
              <a:rPr lang="en-US" sz="2345" spc="-98" b="true">
                <a:solidFill>
                  <a:srgbClr val="FFFFFF"/>
                </a:solidFill>
                <a:latin typeface="Arial MT Pro Bold"/>
                <a:ea typeface="Arial MT Pro Bold"/>
                <a:cs typeface="Arial MT Pro Bold"/>
                <a:sym typeface="Arial MT Pro Bold"/>
              </a:rPr>
              <a:t>1577</a:t>
            </a:r>
            <a:r>
              <a:rPr lang="en-US" sz="2345" spc="-98" b="true">
                <a:solidFill>
                  <a:srgbClr val="FFFFFF"/>
                </a:solidFill>
                <a:latin typeface="Arial MT Pro Bold"/>
                <a:ea typeface="Arial MT Pro Bold"/>
                <a:cs typeface="Arial MT Pro Bold"/>
                <a:sym typeface="Arial MT Pro Bold"/>
              </a:rPr>
              <a:t> review xấu bị dự đoán nhầm thành review tốt.</a:t>
            </a:r>
          </a:p>
          <a:p>
            <a:pPr algn="l">
              <a:lnSpc>
                <a:spcPts val="3822"/>
              </a:lnSpc>
            </a:pPr>
            <a:r>
              <a:rPr lang="en-US" sz="2345" spc="-98" b="true">
                <a:solidFill>
                  <a:srgbClr val="FFFFFF"/>
                </a:solidFill>
                <a:latin typeface="Arial MT Pro Bold"/>
                <a:ea typeface="Arial MT Pro Bold"/>
                <a:cs typeface="Arial MT Pro Bold"/>
                <a:sym typeface="Arial MT Pro Bold"/>
              </a:rPr>
              <a:t>6317 </a:t>
            </a:r>
            <a:r>
              <a:rPr lang="en-US" sz="2345" spc="-98" b="true">
                <a:solidFill>
                  <a:srgbClr val="FFFFFF"/>
                </a:solidFill>
                <a:latin typeface="Arial MT Pro Bold"/>
                <a:ea typeface="Arial MT Pro Bold"/>
                <a:cs typeface="Arial MT Pro Bold"/>
                <a:sym typeface="Arial MT Pro Bold"/>
              </a:rPr>
              <a:t>review tốt bị cảnh báo nhầm thành review xấu.</a:t>
            </a:r>
          </a:p>
          <a:p>
            <a:pPr algn="l">
              <a:lnSpc>
                <a:spcPts val="3822"/>
              </a:lnSpc>
            </a:pPr>
            <a:r>
              <a:rPr lang="en-US" sz="2345" spc="-98" b="true">
                <a:solidFill>
                  <a:srgbClr val="FFFFFF"/>
                </a:solidFill>
                <a:latin typeface="Arial MT Pro Bold"/>
                <a:ea typeface="Arial MT Pro Bold"/>
                <a:cs typeface="Arial MT Pro Bold"/>
                <a:sym typeface="Arial MT Pro Bold"/>
              </a:rPr>
              <a:t>8608 </a:t>
            </a:r>
            <a:r>
              <a:rPr lang="en-US" sz="2345" spc="-98" b="true">
                <a:solidFill>
                  <a:srgbClr val="FFFFFF"/>
                </a:solidFill>
                <a:latin typeface="Arial MT Pro Bold"/>
                <a:ea typeface="Arial MT Pro Bold"/>
                <a:cs typeface="Arial MT Pro Bold"/>
                <a:sym typeface="Arial MT Pro Bold"/>
              </a:rPr>
              <a:t>review tốt được dự đoán đúng.</a:t>
            </a:r>
          </a:p>
          <a:p>
            <a:pPr algn="l">
              <a:lnSpc>
                <a:spcPts val="3822"/>
              </a:lnSpc>
            </a:pPr>
          </a:p>
        </p:txBody>
      </p:sp>
      <p:sp>
        <p:nvSpPr>
          <p:cNvPr name="TextBox 17" id="17"/>
          <p:cNvSpPr txBox="true"/>
          <p:nvPr/>
        </p:nvSpPr>
        <p:spPr>
          <a:xfrm rot="0">
            <a:off x="9655075" y="3139341"/>
            <a:ext cx="6961205" cy="495551"/>
          </a:xfrm>
          <a:prstGeom prst="rect">
            <a:avLst/>
          </a:prstGeom>
        </p:spPr>
        <p:txBody>
          <a:bodyPr anchor="t" rtlCol="false" tIns="0" lIns="0" bIns="0" rIns="0">
            <a:spAutoFit/>
          </a:bodyPr>
          <a:lstStyle/>
          <a:p>
            <a:pPr algn="l">
              <a:lnSpc>
                <a:spcPts val="3822"/>
              </a:lnSpc>
            </a:pPr>
          </a:p>
        </p:txBody>
      </p:sp>
      <p:sp>
        <p:nvSpPr>
          <p:cNvPr name="TextBox 18" id="18"/>
          <p:cNvSpPr txBox="true"/>
          <p:nvPr/>
        </p:nvSpPr>
        <p:spPr>
          <a:xfrm rot="0">
            <a:off x="9655075" y="3686462"/>
            <a:ext cx="6961205" cy="1457038"/>
          </a:xfrm>
          <a:prstGeom prst="rect">
            <a:avLst/>
          </a:prstGeom>
        </p:spPr>
        <p:txBody>
          <a:bodyPr anchor="t" rtlCol="false" tIns="0" lIns="0" bIns="0" rIns="0">
            <a:spAutoFit/>
          </a:bodyPr>
          <a:lstStyle/>
          <a:p>
            <a:pPr algn="l">
              <a:lnSpc>
                <a:spcPts val="3822"/>
              </a:lnSpc>
            </a:pPr>
          </a:p>
          <a:p>
            <a:pPr algn="l">
              <a:lnSpc>
                <a:spcPts val="3822"/>
              </a:lnSpc>
            </a:pPr>
            <a:r>
              <a:rPr lang="en-US" sz="2345" spc="-98" b="true">
                <a:solidFill>
                  <a:srgbClr val="FFFFFF"/>
                </a:solidFill>
                <a:latin typeface="Arial MT Pro Bold"/>
                <a:ea typeface="Arial MT Pro Bold"/>
                <a:cs typeface="Arial MT Pro Bold"/>
                <a:sym typeface="Arial MT Pro Bold"/>
              </a:rPr>
              <a:t>Kết hợp với SMOTE + Threshold 0.45</a:t>
            </a:r>
          </a:p>
          <a:p>
            <a:pPr algn="l">
              <a:lnSpc>
                <a:spcPts val="3822"/>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51681">
            <a:off x="808966" y="75419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087623" y="2067085"/>
            <a:ext cx="4018332" cy="998829"/>
            <a:chOff x="0" y="0"/>
            <a:chExt cx="2795278" cy="694817"/>
          </a:xfrm>
        </p:grpSpPr>
        <p:sp>
          <p:nvSpPr>
            <p:cNvPr name="Freeform 8" id="8"/>
            <p:cNvSpPr/>
            <p:nvPr/>
          </p:nvSpPr>
          <p:spPr>
            <a:xfrm flipH="false" flipV="false" rot="0">
              <a:off x="0" y="0"/>
              <a:ext cx="2795278" cy="694817"/>
            </a:xfrm>
            <a:custGeom>
              <a:avLst/>
              <a:gdLst/>
              <a:ahLst/>
              <a:cxnLst/>
              <a:rect r="r" b="b" t="t" l="l"/>
              <a:pathLst>
                <a:path h="694817" w="2795278">
                  <a:moveTo>
                    <a:pt x="67433" y="0"/>
                  </a:moveTo>
                  <a:lnTo>
                    <a:pt x="2727846" y="0"/>
                  </a:lnTo>
                  <a:cubicBezTo>
                    <a:pt x="2765088" y="0"/>
                    <a:pt x="2795278" y="30191"/>
                    <a:pt x="2795278" y="67433"/>
                  </a:cubicBezTo>
                  <a:lnTo>
                    <a:pt x="2795278" y="627384"/>
                  </a:lnTo>
                  <a:cubicBezTo>
                    <a:pt x="2795278" y="664627"/>
                    <a:pt x="2765088" y="694817"/>
                    <a:pt x="2727846" y="694817"/>
                  </a:cubicBezTo>
                  <a:lnTo>
                    <a:pt x="67433" y="694817"/>
                  </a:lnTo>
                  <a:cubicBezTo>
                    <a:pt x="30191" y="694817"/>
                    <a:pt x="0" y="664627"/>
                    <a:pt x="0" y="627384"/>
                  </a:cubicBezTo>
                  <a:lnTo>
                    <a:pt x="0" y="67433"/>
                  </a:lnTo>
                  <a:cubicBezTo>
                    <a:pt x="0" y="30191"/>
                    <a:pt x="30191" y="0"/>
                    <a:pt x="67433" y="0"/>
                  </a:cubicBezTo>
                  <a:close/>
                </a:path>
              </a:pathLst>
            </a:custGeom>
            <a:gradFill rotWithShape="true">
              <a:gsLst>
                <a:gs pos="0">
                  <a:srgbClr val="0C4A5B">
                    <a:alpha val="100000"/>
                  </a:srgbClr>
                </a:gs>
                <a:gs pos="100000">
                  <a:srgbClr val="27DDDF">
                    <a:alpha val="100000"/>
                  </a:srgbClr>
                </a:gs>
              </a:gsLst>
              <a:lin ang="2700000"/>
            </a:gradFill>
          </p:spPr>
        </p:sp>
        <p:sp>
          <p:nvSpPr>
            <p:cNvPr name="TextBox 9" id="9"/>
            <p:cNvSpPr txBox="true"/>
            <p:nvPr/>
          </p:nvSpPr>
          <p:spPr>
            <a:xfrm>
              <a:off x="0" y="19050"/>
              <a:ext cx="2795278" cy="675767"/>
            </a:xfrm>
            <a:prstGeom prst="rect">
              <a:avLst/>
            </a:prstGeom>
          </p:spPr>
          <p:txBody>
            <a:bodyPr anchor="ctr" rtlCol="false" tIns="19233" lIns="19233" bIns="19233" rIns="19233"/>
            <a:lstStyle/>
            <a:p>
              <a:pPr algn="l">
                <a:lnSpc>
                  <a:spcPts val="1387"/>
                </a:lnSpc>
              </a:pPr>
            </a:p>
          </p:txBody>
        </p:sp>
      </p:grpSp>
      <p:sp>
        <p:nvSpPr>
          <p:cNvPr name="TextBox 10" id="10"/>
          <p:cNvSpPr txBox="true"/>
          <p:nvPr/>
        </p:nvSpPr>
        <p:spPr>
          <a:xfrm rot="0">
            <a:off x="1448621" y="2325878"/>
            <a:ext cx="3296337" cy="47172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Conclusion</a:t>
            </a:r>
          </a:p>
        </p:txBody>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2" id="12"/>
          <p:cNvSpPr txBox="true"/>
          <p:nvPr/>
        </p:nvSpPr>
        <p:spPr>
          <a:xfrm rot="0">
            <a:off x="206085" y="3071113"/>
            <a:ext cx="17875831" cy="4937585"/>
          </a:xfrm>
          <a:prstGeom prst="rect">
            <a:avLst/>
          </a:prstGeom>
        </p:spPr>
        <p:txBody>
          <a:bodyPr anchor="t" rtlCol="false" tIns="0" lIns="0" bIns="0" rIns="0">
            <a:spAutoFit/>
          </a:bodyPr>
          <a:lstStyle/>
          <a:p>
            <a:pPr algn="ctr">
              <a:lnSpc>
                <a:spcPts val="7877"/>
              </a:lnSpc>
            </a:pPr>
            <a:r>
              <a:rPr lang="en-US" sz="3151" b="true">
                <a:solidFill>
                  <a:srgbClr val="FFFFFF"/>
                </a:solidFill>
                <a:latin typeface="Arial MT Pro Bold"/>
                <a:ea typeface="Arial MT Pro Bold"/>
                <a:cs typeface="Arial MT Pro Bold"/>
                <a:sym typeface="Arial MT Pro Bold"/>
              </a:rPr>
              <a:t>Kết luận KNN (sau cải thiện)</a:t>
            </a:r>
          </a:p>
          <a:p>
            <a:pPr algn="ctr">
              <a:lnSpc>
                <a:spcPts val="7877"/>
              </a:lnSpc>
            </a:pPr>
          </a:p>
          <a:p>
            <a:pPr algn="ctr">
              <a:lnSpc>
                <a:spcPts val="7877"/>
              </a:lnSpc>
            </a:pPr>
            <a:r>
              <a:rPr lang="en-US" b="true" sz="3151">
                <a:solidFill>
                  <a:srgbClr val="FFFFFF"/>
                </a:solidFill>
                <a:latin typeface="Arial MT Pro Bold"/>
                <a:ea typeface="Arial MT Pro Bold"/>
                <a:cs typeface="Arial MT Pro Bold"/>
                <a:sym typeface="Arial MT Pro Bold"/>
              </a:rPr>
              <a:t>Baseline (k=5): m</a:t>
            </a:r>
            <a:r>
              <a:rPr lang="en-US" b="true" sz="3151">
                <a:solidFill>
                  <a:srgbClr val="FFFFFF"/>
                </a:solidFill>
                <a:latin typeface="Arial MT Pro Bold"/>
                <a:ea typeface="Arial MT Pro Bold"/>
                <a:cs typeface="Arial MT Pro Bold"/>
                <a:sym typeface="Arial MT Pro Bold"/>
              </a:rPr>
              <a:t>odel đạt accuracy ~</a:t>
            </a:r>
            <a:r>
              <a:rPr lang="en-US" b="true" sz="3151">
                <a:solidFill>
                  <a:srgbClr val="FFFFFF"/>
                </a:solidFill>
                <a:latin typeface="Arial MT Pro Bold"/>
                <a:ea typeface="Arial MT Pro Bold"/>
                <a:cs typeface="Arial MT Pro Bold"/>
                <a:sym typeface="Arial MT Pro Bold"/>
              </a:rPr>
              <a:t>81.79%</a:t>
            </a:r>
            <a:r>
              <a:rPr lang="en-US" b="true" sz="3151">
                <a:solidFill>
                  <a:srgbClr val="FFFFFF"/>
                </a:solidFill>
                <a:latin typeface="Arial MT Pro Bold"/>
                <a:ea typeface="Arial MT Pro Bold"/>
                <a:cs typeface="Arial MT Pro Bold"/>
                <a:sym typeface="Arial MT Pro Bold"/>
              </a:rPr>
              <a:t>, dự đoán đúng phần lớn test set. Nhưng recall class 0 chỉ ~</a:t>
            </a:r>
            <a:r>
              <a:rPr lang="en-US" b="true" sz="3151">
                <a:solidFill>
                  <a:srgbClr val="FFFFFF"/>
                </a:solidFill>
                <a:latin typeface="Arial MT Pro Bold"/>
                <a:ea typeface="Arial MT Pro Bold"/>
                <a:cs typeface="Arial MT Pro Bold"/>
                <a:sym typeface="Arial MT Pro Bold"/>
              </a:rPr>
              <a:t>23.21% — bỏ sót gần 77% review xấu</a:t>
            </a:r>
            <a:r>
              <a:rPr lang="en-US" b="true" sz="3151">
                <a:solidFill>
                  <a:srgbClr val="FFFFFF"/>
                </a:solidFill>
                <a:latin typeface="Arial MT Pro Bold"/>
                <a:ea typeface="Arial MT Pro Bold"/>
                <a:cs typeface="Arial MT Pro Bold"/>
                <a:sym typeface="Arial MT Pro Bold"/>
              </a:rPr>
              <a:t>, vì KNN bị thiên về class đa số (Positive) trên dữ liệu mất cân bằng.</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330262" y="-6129775"/>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851681">
            <a:off x="808966" y="7541919"/>
            <a:ext cx="21825170" cy="18180272"/>
            <a:chOff x="0" y="0"/>
            <a:chExt cx="5748193" cy="4788220"/>
          </a:xfrm>
        </p:grpSpPr>
        <p:sp>
          <p:nvSpPr>
            <p:cNvPr name="Freeform 8" id="8"/>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9" id="9"/>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10" id="10"/>
          <p:cNvGrpSpPr/>
          <p:nvPr/>
        </p:nvGrpSpPr>
        <p:grpSpPr>
          <a:xfrm rot="0">
            <a:off x="1087623" y="2067085"/>
            <a:ext cx="5765860" cy="998829"/>
            <a:chOff x="0" y="0"/>
            <a:chExt cx="4010914" cy="694817"/>
          </a:xfrm>
        </p:grpSpPr>
        <p:sp>
          <p:nvSpPr>
            <p:cNvPr name="Freeform 11" id="11"/>
            <p:cNvSpPr/>
            <p:nvPr/>
          </p:nvSpPr>
          <p:spPr>
            <a:xfrm flipH="false" flipV="false" rot="0">
              <a:off x="0" y="0"/>
              <a:ext cx="4010914" cy="694817"/>
            </a:xfrm>
            <a:custGeom>
              <a:avLst/>
              <a:gdLst/>
              <a:ahLst/>
              <a:cxnLst/>
              <a:rect r="r" b="b" t="t" l="l"/>
              <a:pathLst>
                <a:path h="694817" w="4010914">
                  <a:moveTo>
                    <a:pt x="46995" y="0"/>
                  </a:moveTo>
                  <a:lnTo>
                    <a:pt x="3963919" y="0"/>
                  </a:lnTo>
                  <a:cubicBezTo>
                    <a:pt x="3976382" y="0"/>
                    <a:pt x="3988336" y="4951"/>
                    <a:pt x="3997149" y="13765"/>
                  </a:cubicBezTo>
                  <a:cubicBezTo>
                    <a:pt x="4005962" y="22578"/>
                    <a:pt x="4010914" y="34531"/>
                    <a:pt x="4010914" y="46995"/>
                  </a:cubicBezTo>
                  <a:lnTo>
                    <a:pt x="4010914" y="647822"/>
                  </a:lnTo>
                  <a:cubicBezTo>
                    <a:pt x="4010914" y="673777"/>
                    <a:pt x="3989873" y="694817"/>
                    <a:pt x="3963919" y="694817"/>
                  </a:cubicBezTo>
                  <a:lnTo>
                    <a:pt x="46995" y="694817"/>
                  </a:lnTo>
                  <a:cubicBezTo>
                    <a:pt x="34531" y="694817"/>
                    <a:pt x="22578" y="689866"/>
                    <a:pt x="13765" y="681053"/>
                  </a:cubicBezTo>
                  <a:cubicBezTo>
                    <a:pt x="4951" y="672239"/>
                    <a:pt x="0" y="660286"/>
                    <a:pt x="0" y="647822"/>
                  </a:cubicBezTo>
                  <a:lnTo>
                    <a:pt x="0" y="46995"/>
                  </a:lnTo>
                  <a:cubicBezTo>
                    <a:pt x="0" y="21040"/>
                    <a:pt x="21040" y="0"/>
                    <a:pt x="46995" y="0"/>
                  </a:cubicBezTo>
                  <a:close/>
                </a:path>
              </a:pathLst>
            </a:custGeom>
            <a:gradFill rotWithShape="true">
              <a:gsLst>
                <a:gs pos="0">
                  <a:srgbClr val="0C4A5B">
                    <a:alpha val="100000"/>
                  </a:srgbClr>
                </a:gs>
                <a:gs pos="100000">
                  <a:srgbClr val="27DDDF">
                    <a:alpha val="100000"/>
                  </a:srgbClr>
                </a:gs>
              </a:gsLst>
              <a:lin ang="2700000"/>
            </a:gradFill>
          </p:spPr>
        </p:sp>
        <p:sp>
          <p:nvSpPr>
            <p:cNvPr name="TextBox 12" id="12"/>
            <p:cNvSpPr txBox="true"/>
            <p:nvPr/>
          </p:nvSpPr>
          <p:spPr>
            <a:xfrm>
              <a:off x="0" y="19050"/>
              <a:ext cx="4010914" cy="675767"/>
            </a:xfrm>
            <a:prstGeom prst="rect">
              <a:avLst/>
            </a:prstGeom>
          </p:spPr>
          <p:txBody>
            <a:bodyPr anchor="ctr" rtlCol="false" tIns="19233" lIns="19233" bIns="19233" rIns="19233"/>
            <a:lstStyle/>
            <a:p>
              <a:pPr algn="l">
                <a:lnSpc>
                  <a:spcPts val="1387"/>
                </a:lnSpc>
              </a:pPr>
            </a:p>
          </p:txBody>
        </p:sp>
      </p:grpSp>
      <p:sp>
        <p:nvSpPr>
          <p:cNvPr name="Freeform 13" id="13"/>
          <p:cNvSpPr/>
          <p:nvPr/>
        </p:nvSpPr>
        <p:spPr>
          <a:xfrm flipH="false" flipV="false" rot="0">
            <a:off x="1028700" y="3912023"/>
            <a:ext cx="15918789" cy="5089488"/>
          </a:xfrm>
          <a:custGeom>
            <a:avLst/>
            <a:gdLst/>
            <a:ahLst/>
            <a:cxnLst/>
            <a:rect r="r" b="b" t="t" l="l"/>
            <a:pathLst>
              <a:path h="5089488" w="15918789">
                <a:moveTo>
                  <a:pt x="0" y="0"/>
                </a:moveTo>
                <a:lnTo>
                  <a:pt x="15918789" y="0"/>
                </a:lnTo>
                <a:lnTo>
                  <a:pt x="15918789" y="5089488"/>
                </a:lnTo>
                <a:lnTo>
                  <a:pt x="0" y="5089488"/>
                </a:lnTo>
                <a:lnTo>
                  <a:pt x="0" y="0"/>
                </a:lnTo>
                <a:close/>
              </a:path>
            </a:pathLst>
          </a:custGeom>
          <a:blipFill>
            <a:blip r:embed="rId4"/>
            <a:stretch>
              <a:fillRect l="0" t="0" r="0" b="0"/>
            </a:stretch>
          </a:blipFill>
        </p:spPr>
      </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@reallygreatsite</a:t>
            </a:r>
          </a:p>
        </p:txBody>
      </p:sp>
      <p:sp>
        <p:nvSpPr>
          <p:cNvPr name="TextBox 16" id="16"/>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About Us</a:t>
            </a:r>
          </a:p>
        </p:txBody>
      </p:sp>
      <p:sp>
        <p:nvSpPr>
          <p:cNvPr name="TextBox 17" id="17"/>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Menu</a:t>
            </a:r>
          </a:p>
        </p:txBody>
      </p:sp>
      <p:sp>
        <p:nvSpPr>
          <p:cNvPr name="TextBox 18" id="18"/>
          <p:cNvSpPr txBox="true"/>
          <p:nvPr/>
        </p:nvSpPr>
        <p:spPr>
          <a:xfrm rot="0">
            <a:off x="1448621" y="2325878"/>
            <a:ext cx="5404863" cy="87177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So sánh tổng hợp các mô hình</a:t>
            </a:r>
          </a:p>
          <a:p>
            <a:pPr algn="l">
              <a:lnSpc>
                <a:spcPts val="3180"/>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330262" y="-6129775"/>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851681">
            <a:off x="808966" y="7541919"/>
            <a:ext cx="21825170" cy="18180272"/>
            <a:chOff x="0" y="0"/>
            <a:chExt cx="5748193" cy="4788220"/>
          </a:xfrm>
        </p:grpSpPr>
        <p:sp>
          <p:nvSpPr>
            <p:cNvPr name="Freeform 8" id="8"/>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9" id="9"/>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grpSp>
        <p:nvGrpSpPr>
          <p:cNvPr name="Group 10" id="10"/>
          <p:cNvGrpSpPr/>
          <p:nvPr/>
        </p:nvGrpSpPr>
        <p:grpSpPr>
          <a:xfrm rot="0">
            <a:off x="1087623" y="2067085"/>
            <a:ext cx="5765860" cy="998829"/>
            <a:chOff x="0" y="0"/>
            <a:chExt cx="4010914" cy="694817"/>
          </a:xfrm>
        </p:grpSpPr>
        <p:sp>
          <p:nvSpPr>
            <p:cNvPr name="Freeform 11" id="11"/>
            <p:cNvSpPr/>
            <p:nvPr/>
          </p:nvSpPr>
          <p:spPr>
            <a:xfrm flipH="false" flipV="false" rot="0">
              <a:off x="0" y="0"/>
              <a:ext cx="4010914" cy="694817"/>
            </a:xfrm>
            <a:custGeom>
              <a:avLst/>
              <a:gdLst/>
              <a:ahLst/>
              <a:cxnLst/>
              <a:rect r="r" b="b" t="t" l="l"/>
              <a:pathLst>
                <a:path h="694817" w="4010914">
                  <a:moveTo>
                    <a:pt x="46995" y="0"/>
                  </a:moveTo>
                  <a:lnTo>
                    <a:pt x="3963919" y="0"/>
                  </a:lnTo>
                  <a:cubicBezTo>
                    <a:pt x="3976382" y="0"/>
                    <a:pt x="3988336" y="4951"/>
                    <a:pt x="3997149" y="13765"/>
                  </a:cubicBezTo>
                  <a:cubicBezTo>
                    <a:pt x="4005962" y="22578"/>
                    <a:pt x="4010914" y="34531"/>
                    <a:pt x="4010914" y="46995"/>
                  </a:cubicBezTo>
                  <a:lnTo>
                    <a:pt x="4010914" y="647822"/>
                  </a:lnTo>
                  <a:cubicBezTo>
                    <a:pt x="4010914" y="673777"/>
                    <a:pt x="3989873" y="694817"/>
                    <a:pt x="3963919" y="694817"/>
                  </a:cubicBezTo>
                  <a:lnTo>
                    <a:pt x="46995" y="694817"/>
                  </a:lnTo>
                  <a:cubicBezTo>
                    <a:pt x="34531" y="694817"/>
                    <a:pt x="22578" y="689866"/>
                    <a:pt x="13765" y="681053"/>
                  </a:cubicBezTo>
                  <a:cubicBezTo>
                    <a:pt x="4951" y="672239"/>
                    <a:pt x="0" y="660286"/>
                    <a:pt x="0" y="647822"/>
                  </a:cubicBezTo>
                  <a:lnTo>
                    <a:pt x="0" y="46995"/>
                  </a:lnTo>
                  <a:cubicBezTo>
                    <a:pt x="0" y="21040"/>
                    <a:pt x="21040" y="0"/>
                    <a:pt x="46995" y="0"/>
                  </a:cubicBezTo>
                  <a:close/>
                </a:path>
              </a:pathLst>
            </a:custGeom>
            <a:gradFill rotWithShape="true">
              <a:gsLst>
                <a:gs pos="0">
                  <a:srgbClr val="0C4A5B">
                    <a:alpha val="100000"/>
                  </a:srgbClr>
                </a:gs>
                <a:gs pos="100000">
                  <a:srgbClr val="27DDDF">
                    <a:alpha val="100000"/>
                  </a:srgbClr>
                </a:gs>
              </a:gsLst>
              <a:lin ang="2700000"/>
            </a:gradFill>
          </p:spPr>
        </p:sp>
        <p:sp>
          <p:nvSpPr>
            <p:cNvPr name="TextBox 12" id="12"/>
            <p:cNvSpPr txBox="true"/>
            <p:nvPr/>
          </p:nvSpPr>
          <p:spPr>
            <a:xfrm>
              <a:off x="0" y="19050"/>
              <a:ext cx="4010914" cy="675767"/>
            </a:xfrm>
            <a:prstGeom prst="rect">
              <a:avLst/>
            </a:prstGeom>
          </p:spPr>
          <p:txBody>
            <a:bodyPr anchor="ctr" rtlCol="false" tIns="19233" lIns="19233" bIns="19233" rIns="19233"/>
            <a:lstStyle/>
            <a:p>
              <a:pPr algn="l">
                <a:lnSpc>
                  <a:spcPts val="1387"/>
                </a:lnSpc>
              </a:pPr>
            </a:p>
          </p:txBody>
        </p:sp>
      </p:grpSp>
      <p:sp>
        <p:nvSpPr>
          <p:cNvPr name="Freeform 13" id="13"/>
          <p:cNvSpPr/>
          <p:nvPr/>
        </p:nvSpPr>
        <p:spPr>
          <a:xfrm flipH="false" flipV="false" rot="0">
            <a:off x="1004517" y="3886942"/>
            <a:ext cx="16665822" cy="4937250"/>
          </a:xfrm>
          <a:custGeom>
            <a:avLst/>
            <a:gdLst/>
            <a:ahLst/>
            <a:cxnLst/>
            <a:rect r="r" b="b" t="t" l="l"/>
            <a:pathLst>
              <a:path h="4937250" w="16665822">
                <a:moveTo>
                  <a:pt x="0" y="0"/>
                </a:moveTo>
                <a:lnTo>
                  <a:pt x="16665822" y="0"/>
                </a:lnTo>
                <a:lnTo>
                  <a:pt x="16665822" y="4937250"/>
                </a:lnTo>
                <a:lnTo>
                  <a:pt x="0" y="4937250"/>
                </a:lnTo>
                <a:lnTo>
                  <a:pt x="0" y="0"/>
                </a:lnTo>
                <a:close/>
              </a:path>
            </a:pathLst>
          </a:custGeom>
          <a:blipFill>
            <a:blip r:embed="rId4"/>
            <a:stretch>
              <a:fillRect l="0" t="0" r="0" b="0"/>
            </a:stretch>
          </a:blipFill>
        </p:spPr>
      </p:sp>
      <p:sp>
        <p:nvSpPr>
          <p:cNvPr name="TextBox 14" id="14"/>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15" id="15"/>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@reallygreatsite</a:t>
            </a:r>
          </a:p>
        </p:txBody>
      </p:sp>
      <p:sp>
        <p:nvSpPr>
          <p:cNvPr name="TextBox 16" id="16"/>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About Us</a:t>
            </a:r>
          </a:p>
        </p:txBody>
      </p:sp>
      <p:sp>
        <p:nvSpPr>
          <p:cNvPr name="TextBox 17" id="17"/>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MT Pro"/>
                <a:ea typeface="Arial MT Pro"/>
                <a:cs typeface="Arial MT Pro"/>
                <a:sym typeface="Arial MT Pro"/>
              </a:rPr>
              <a:t>Menu</a:t>
            </a:r>
          </a:p>
        </p:txBody>
      </p:sp>
      <p:sp>
        <p:nvSpPr>
          <p:cNvPr name="TextBox 18" id="18"/>
          <p:cNvSpPr txBox="true"/>
          <p:nvPr/>
        </p:nvSpPr>
        <p:spPr>
          <a:xfrm rot="0">
            <a:off x="1448621" y="2325878"/>
            <a:ext cx="5404863" cy="871770"/>
          </a:xfrm>
          <a:prstGeom prst="rect">
            <a:avLst/>
          </a:prstGeom>
        </p:spPr>
        <p:txBody>
          <a:bodyPr anchor="t" rtlCol="false" tIns="0" lIns="0" bIns="0" rIns="0">
            <a:spAutoFit/>
          </a:bodyPr>
          <a:lstStyle/>
          <a:p>
            <a:pPr algn="l">
              <a:lnSpc>
                <a:spcPts val="3180"/>
              </a:lnSpc>
            </a:pPr>
            <a:r>
              <a:rPr lang="en-US" sz="3058" spc="-128" b="true">
                <a:solidFill>
                  <a:srgbClr val="FFFFFF"/>
                </a:solidFill>
                <a:latin typeface="Arial MT Pro Bold"/>
                <a:ea typeface="Arial MT Pro Bold"/>
                <a:cs typeface="Arial MT Pro Bold"/>
                <a:sym typeface="Arial MT Pro Bold"/>
              </a:rPr>
              <a:t>So sánh tổng hợp các mô hình</a:t>
            </a:r>
          </a:p>
          <a:p>
            <a:pPr algn="l">
              <a:lnSpc>
                <a:spcPts val="3180"/>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74770">
            <a:off x="-1666180" y="6478089"/>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sp>
        <p:nvSpPr>
          <p:cNvPr name="TextBox 6" id="6"/>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7" id="7"/>
          <p:cNvSpPr txBox="true"/>
          <p:nvPr/>
        </p:nvSpPr>
        <p:spPr>
          <a:xfrm rot="0">
            <a:off x="-574854" y="1505902"/>
            <a:ext cx="6866357" cy="1996202"/>
          </a:xfrm>
          <a:prstGeom prst="rect">
            <a:avLst/>
          </a:prstGeom>
        </p:spPr>
        <p:txBody>
          <a:bodyPr anchor="t" rtlCol="false" tIns="0" lIns="0" bIns="0" rIns="0">
            <a:spAutoFit/>
          </a:bodyPr>
          <a:lstStyle/>
          <a:p>
            <a:pPr algn="ctr">
              <a:lnSpc>
                <a:spcPts val="7218"/>
              </a:lnSpc>
            </a:pPr>
            <a:r>
              <a:rPr lang="en-US" b="true" sz="6941" spc="-291">
                <a:solidFill>
                  <a:srgbClr val="FFFFFF"/>
                </a:solidFill>
                <a:latin typeface="Arial MT Pro Bold"/>
                <a:ea typeface="Arial MT Pro Bold"/>
                <a:cs typeface="Arial MT Pro Bold"/>
                <a:sym typeface="Arial MT Pro Bold"/>
              </a:rPr>
              <a:t>Kết luận</a:t>
            </a:r>
          </a:p>
          <a:p>
            <a:pPr algn="ctr">
              <a:lnSpc>
                <a:spcPts val="7218"/>
              </a:lnSpc>
            </a:pPr>
          </a:p>
        </p:txBody>
      </p:sp>
      <p:sp>
        <p:nvSpPr>
          <p:cNvPr name="TextBox 8" id="8"/>
          <p:cNvSpPr txBox="true"/>
          <p:nvPr/>
        </p:nvSpPr>
        <p:spPr>
          <a:xfrm rot="0">
            <a:off x="1203846" y="2384940"/>
            <a:ext cx="14528366" cy="2955258"/>
          </a:xfrm>
          <a:prstGeom prst="rect">
            <a:avLst/>
          </a:prstGeom>
        </p:spPr>
        <p:txBody>
          <a:bodyPr anchor="t" rtlCol="false" tIns="0" lIns="0" bIns="0" rIns="0">
            <a:spAutoFit/>
          </a:bodyPr>
          <a:lstStyle/>
          <a:p>
            <a:pPr algn="l">
              <a:lnSpc>
                <a:spcPts val="4586"/>
              </a:lnSpc>
              <a:spcBef>
                <a:spcPct val="0"/>
              </a:spcBef>
            </a:pPr>
            <a:r>
              <a:rPr lang="en-US" sz="3276">
                <a:solidFill>
                  <a:srgbClr val="FFFFFF"/>
                </a:solidFill>
                <a:latin typeface="Arial MT Pro"/>
                <a:ea typeface="Arial MT Pro"/>
                <a:cs typeface="Arial MT Pro"/>
                <a:sym typeface="Arial MT Pro"/>
              </a:rPr>
              <a:t>Tất cả 4 mô hình dùng chung 14 features và cùng tập train/test. Kết quả cho thấy một sự đánh đổi rõ ràng giữa Accuracy/Precision và Recall của class 0 (review xấu) — đúng với bản chất bài toán cảnh báo sớm trên dữ liệu mất cân bằng.</a:t>
            </a:r>
          </a:p>
          <a:p>
            <a:pPr algn="l">
              <a:lnSpc>
                <a:spcPts val="4586"/>
              </a:lnSpc>
              <a:spcBef>
                <a:spcPct val="0"/>
              </a:spcBef>
            </a:pPr>
          </a:p>
        </p:txBody>
      </p:sp>
      <p:sp>
        <p:nvSpPr>
          <p:cNvPr name="TextBox 9" id="9"/>
          <p:cNvSpPr txBox="true"/>
          <p:nvPr/>
        </p:nvSpPr>
        <p:spPr>
          <a:xfrm rot="0">
            <a:off x="1028700" y="4874641"/>
            <a:ext cx="17074899" cy="5276864"/>
          </a:xfrm>
          <a:prstGeom prst="rect">
            <a:avLst/>
          </a:prstGeom>
        </p:spPr>
        <p:txBody>
          <a:bodyPr anchor="t" rtlCol="false" tIns="0" lIns="0" bIns="0" rIns="0">
            <a:spAutoFit/>
          </a:bodyPr>
          <a:lstStyle/>
          <a:p>
            <a:pPr algn="l" marL="647580" indent="-323790" lvl="1">
              <a:lnSpc>
                <a:spcPts val="4199"/>
              </a:lnSpc>
              <a:buFont typeface="Arial"/>
              <a:buChar char="•"/>
            </a:pPr>
            <a:r>
              <a:rPr lang="en-US" sz="2999">
                <a:solidFill>
                  <a:srgbClr val="FFFFFF"/>
                </a:solidFill>
                <a:latin typeface="Arial MT Pro"/>
                <a:ea typeface="Arial MT Pro"/>
                <a:cs typeface="Arial MT Pro"/>
                <a:sym typeface="Arial MT Pro"/>
              </a:rPr>
              <a:t>Accuracy / Prec</a:t>
            </a:r>
            <a:r>
              <a:rPr lang="en-US" sz="2999">
                <a:solidFill>
                  <a:srgbClr val="FFFFFF"/>
                </a:solidFill>
                <a:latin typeface="Arial MT Pro"/>
                <a:ea typeface="Arial MT Pro"/>
                <a:cs typeface="Arial MT Pro"/>
                <a:sym typeface="Arial MT Pro"/>
              </a:rPr>
              <a:t>ision cao nhất (ít báo động giả): Random Forest (baseline) mạnh nhất — accuracy ≈ 0.82, precision class 0 ≈ 0.73. Nhưng recall class 0 chỉ ≈ 0.22, tức bỏ sót gần 78% review xấu.</a:t>
            </a:r>
          </a:p>
          <a:p>
            <a:pPr algn="l" marL="647580" indent="-323790" lvl="1">
              <a:lnSpc>
                <a:spcPts val="4199"/>
              </a:lnSpc>
              <a:buFont typeface="Arial"/>
              <a:buChar char="•"/>
            </a:pPr>
            <a:r>
              <a:rPr lang="en-US" sz="2999">
                <a:solidFill>
                  <a:srgbClr val="FFFFFF"/>
                </a:solidFill>
                <a:latin typeface="Arial MT Pro"/>
                <a:ea typeface="Arial MT Pro"/>
                <a:cs typeface="Arial MT Pro"/>
                <a:sym typeface="Arial MT Pro"/>
              </a:rPr>
              <a:t>Bắt được nhiều review xấu nhất (Recall class 0):Random Forest (undersampling + threshold 0.60) đạt recall ≈ 0.73, cao nhất toàn bộ, đổi lại accuracy giảm còn ≈ 0.52. Hai lựa chọn cân bằng hơn: Decision Tree (optimized) recall ≈ 0.64 (acc ≈ 0.61) và KNN (SMOTE + threshold) recall ≈ 0.60 (acc ≈ 0.58).</a:t>
            </a:r>
          </a:p>
          <a:p>
            <a:pPr algn="l" marL="647580" indent="-323790" lvl="1">
              <a:lnSpc>
                <a:spcPts val="4199"/>
              </a:lnSpc>
              <a:buFont typeface="Arial"/>
              <a:buChar char="•"/>
            </a:pPr>
            <a:r>
              <a:rPr lang="en-US" sz="2999">
                <a:solidFill>
                  <a:srgbClr val="FFFFFF"/>
                </a:solidFill>
                <a:latin typeface="Arial MT Pro"/>
                <a:ea typeface="Arial MT Pro"/>
                <a:cs typeface="Arial MT Pro"/>
                <a:sym typeface="Arial MT Pro"/>
              </a:rPr>
              <a:t>Cân bằng tốt nhất (F1 class 0): các baseline đơn giản lại cho F1 class 0 tốt nhất — Decision Tree baseline ≈ 0.43, Logistic Regression baseline ≈ 0.41.</a:t>
            </a:r>
          </a:p>
          <a:p>
            <a:pPr algn="l" marL="647580" indent="-323790" lvl="1">
              <a:lnSpc>
                <a:spcPts val="4199"/>
              </a:lnSpc>
              <a:buFont typeface="Arial"/>
              <a:buChar char="•"/>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74770">
            <a:off x="-1666180" y="6478089"/>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sp>
        <p:nvSpPr>
          <p:cNvPr name="TextBox 6" id="6"/>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7" id="7"/>
          <p:cNvSpPr txBox="true"/>
          <p:nvPr/>
        </p:nvSpPr>
        <p:spPr>
          <a:xfrm rot="0">
            <a:off x="-574854" y="1505902"/>
            <a:ext cx="6866357" cy="1082910"/>
          </a:xfrm>
          <a:prstGeom prst="rect">
            <a:avLst/>
          </a:prstGeom>
        </p:spPr>
        <p:txBody>
          <a:bodyPr anchor="t" rtlCol="false" tIns="0" lIns="0" bIns="0" rIns="0">
            <a:spAutoFit/>
          </a:bodyPr>
          <a:lstStyle/>
          <a:p>
            <a:pPr algn="ctr">
              <a:lnSpc>
                <a:spcPts val="7218"/>
              </a:lnSpc>
            </a:pPr>
            <a:r>
              <a:rPr lang="en-US" b="true" sz="6941" spc="-291">
                <a:solidFill>
                  <a:srgbClr val="FFFFFF"/>
                </a:solidFill>
                <a:latin typeface="Arial MT Pro Bold"/>
                <a:ea typeface="Arial MT Pro Bold"/>
                <a:cs typeface="Arial MT Pro Bold"/>
                <a:sym typeface="Arial MT Pro Bold"/>
              </a:rPr>
              <a:t>Question </a:t>
            </a:r>
          </a:p>
        </p:txBody>
      </p:sp>
      <p:sp>
        <p:nvSpPr>
          <p:cNvPr name="TextBox 8" id="8"/>
          <p:cNvSpPr txBox="true"/>
          <p:nvPr/>
        </p:nvSpPr>
        <p:spPr>
          <a:xfrm rot="0">
            <a:off x="793665" y="2573107"/>
            <a:ext cx="17084154" cy="713709"/>
          </a:xfrm>
          <a:prstGeom prst="rect">
            <a:avLst/>
          </a:prstGeom>
        </p:spPr>
        <p:txBody>
          <a:bodyPr anchor="t" rtlCol="false" tIns="0" lIns="0" bIns="0" rIns="0">
            <a:spAutoFit/>
          </a:bodyPr>
          <a:lstStyle/>
          <a:p>
            <a:pPr algn="ctr">
              <a:lnSpc>
                <a:spcPts val="5286"/>
              </a:lnSpc>
              <a:spcBef>
                <a:spcPct val="0"/>
              </a:spcBef>
            </a:pPr>
            <a:r>
              <a:rPr lang="en-US" sz="3776">
                <a:solidFill>
                  <a:srgbClr val="FFFFFF"/>
                </a:solidFill>
                <a:latin typeface="Arial MT Pro"/>
                <a:ea typeface="Arial MT Pro"/>
                <a:cs typeface="Arial MT Pro"/>
                <a:sym typeface="Arial MT Pro"/>
              </a:rPr>
              <a:t>Tại sao KHÔNG cần chuẩn hóa dữ liệu cho Decision Tree &amp; Random Forest ?</a:t>
            </a:r>
          </a:p>
        </p:txBody>
      </p:sp>
      <p:sp>
        <p:nvSpPr>
          <p:cNvPr name="TextBox 9" id="9"/>
          <p:cNvSpPr txBox="true"/>
          <p:nvPr/>
        </p:nvSpPr>
        <p:spPr>
          <a:xfrm rot="0">
            <a:off x="638049" y="3717260"/>
            <a:ext cx="17011903" cy="3880499"/>
          </a:xfrm>
          <a:prstGeom prst="rect">
            <a:avLst/>
          </a:prstGeom>
        </p:spPr>
        <p:txBody>
          <a:bodyPr anchor="t" rtlCol="false" tIns="0" lIns="0" bIns="0" rIns="0">
            <a:spAutoFit/>
          </a:bodyPr>
          <a:lstStyle/>
          <a:p>
            <a:pPr algn="l" marL="777117" indent="-388558" lvl="1">
              <a:lnSpc>
                <a:spcPts val="5039"/>
              </a:lnSpc>
              <a:buFont typeface="Arial"/>
              <a:buChar char="•"/>
            </a:pPr>
            <a:r>
              <a:rPr lang="en-US" sz="3599">
                <a:solidFill>
                  <a:srgbClr val="FFFFFF"/>
                </a:solidFill>
                <a:latin typeface="Arial MT Pro"/>
                <a:ea typeface="Arial MT Pro"/>
                <a:cs typeface="Arial MT Pro"/>
                <a:sym typeface="Arial MT Pro"/>
              </a:rPr>
              <a:t>Chia theo ngưỡng (Thresholds): Thuật toán chỉ tìm điểm cắt trên từng biến độc lập (VD: Tuổi &gt; 30), không gộp chung các biến lại với nhau.</a:t>
            </a:r>
          </a:p>
          <a:p>
            <a:pPr algn="l" marL="777117" indent="-388558" lvl="1">
              <a:lnSpc>
                <a:spcPts val="5039"/>
              </a:lnSpc>
              <a:buFont typeface="Arial"/>
              <a:buChar char="•"/>
            </a:pPr>
            <a:r>
              <a:rPr lang="en-US" sz="3599">
                <a:solidFill>
                  <a:srgbClr val="FFFFFF"/>
                </a:solidFill>
                <a:latin typeface="Arial MT Pro"/>
                <a:ea typeface="Arial MT Pro"/>
                <a:cs typeface="Arial MT Pro"/>
                <a:sym typeface="Arial MT Pro"/>
              </a:rPr>
              <a:t>Không đo khoảng cách: Quyết định dựa trên logic phân nhánh (If-Else), hoàn toàn bỏ qua khoảng cách không gian hình học.</a:t>
            </a:r>
          </a:p>
          <a:p>
            <a:pPr algn="l" marL="777117" indent="-388558" lvl="1">
              <a:lnSpc>
                <a:spcPts val="5039"/>
              </a:lnSpc>
              <a:buFont typeface="Arial"/>
              <a:buChar char="•"/>
            </a:pPr>
            <a:r>
              <a:rPr lang="en-US" sz="3599">
                <a:solidFill>
                  <a:srgbClr val="FFFFFF"/>
                </a:solidFill>
                <a:latin typeface="Arial MT Pro"/>
                <a:ea typeface="Arial MT Pro"/>
                <a:cs typeface="Arial MT Pro"/>
                <a:sym typeface="Arial MT Pro"/>
              </a:rPr>
              <a:t>Bất chấp thang đoSự chênh lệch đơn vị lớn (Triệu VNĐ vs Ngày) không ảnh hưởng đến cấu trúc cây phân lớp.</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74770">
            <a:off x="-1666180" y="6478089"/>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sp>
        <p:nvSpPr>
          <p:cNvPr name="TextBox 6" id="6"/>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pic>
        <p:nvPicPr>
          <p:cNvPr name="Picture 7" id="7"/>
          <p:cNvPicPr>
            <a:picLocks noChangeAspect="true"/>
          </p:cNvPicPr>
          <p:nvPr/>
        </p:nvPicPr>
        <p:blipFill>
          <a:blip r:embed="rId4"/>
          <a:stretch>
            <a:fillRect/>
          </a:stretch>
        </p:blipFill>
        <p:spPr>
          <a:xfrm rot="0">
            <a:off x="-306675" y="1470069"/>
            <a:ext cx="10962546" cy="8568358"/>
          </a:xfrm>
          <a:prstGeom prst="rect">
            <a:avLst/>
          </a:prstGeom>
        </p:spPr>
      </p:pic>
      <p:sp>
        <p:nvSpPr>
          <p:cNvPr name="TextBox 8" id="8"/>
          <p:cNvSpPr txBox="true"/>
          <p:nvPr/>
        </p:nvSpPr>
        <p:spPr>
          <a:xfrm rot="0">
            <a:off x="52945" y="1231089"/>
            <a:ext cx="17549684" cy="11525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Arial MT Pro"/>
                <a:ea typeface="Arial MT Pro"/>
                <a:cs typeface="Arial MT Pro"/>
                <a:sym typeface="Arial MT Pro"/>
              </a:rPr>
              <a:t>Mức độ đóng góp của từng thành viên</a:t>
            </a:r>
          </a:p>
        </p:txBody>
      </p:sp>
      <p:sp>
        <p:nvSpPr>
          <p:cNvPr name="TextBox 9" id="9"/>
          <p:cNvSpPr txBox="true"/>
          <p:nvPr/>
        </p:nvSpPr>
        <p:spPr>
          <a:xfrm rot="0">
            <a:off x="10695332" y="3522193"/>
            <a:ext cx="5903318" cy="4892330"/>
          </a:xfrm>
          <a:prstGeom prst="rect">
            <a:avLst/>
          </a:prstGeom>
        </p:spPr>
        <p:txBody>
          <a:bodyPr anchor="t" rtlCol="false" tIns="0" lIns="0" bIns="0" rIns="0">
            <a:spAutoFit/>
          </a:bodyPr>
          <a:lstStyle/>
          <a:p>
            <a:pPr algn="l" marL="596658" indent="-298329" lvl="1">
              <a:lnSpc>
                <a:spcPts val="3869"/>
              </a:lnSpc>
              <a:buFont typeface="Arial"/>
              <a:buChar char="•"/>
            </a:pPr>
            <a:r>
              <a:rPr lang="en-US" sz="2763">
                <a:solidFill>
                  <a:srgbClr val="FFFFFF"/>
                </a:solidFill>
                <a:latin typeface="Arial MT Pro"/>
                <a:ea typeface="Arial MT Pro"/>
                <a:cs typeface="Arial MT Pro"/>
                <a:sym typeface="Arial MT Pro"/>
              </a:rPr>
              <a:t>Trần Quốc An — 22%</a:t>
            </a:r>
          </a:p>
          <a:p>
            <a:pPr algn="l">
              <a:lnSpc>
                <a:spcPts val="3869"/>
              </a:lnSpc>
            </a:pPr>
            <a:r>
              <a:rPr lang="en-US" sz="2763">
                <a:solidFill>
                  <a:srgbClr val="FFFFFF"/>
                </a:solidFill>
                <a:latin typeface="Arial MT Pro"/>
                <a:ea typeface="Arial MT Pro"/>
                <a:cs typeface="Arial MT Pro"/>
                <a:sym typeface="Arial MT Pro"/>
              </a:rPr>
              <a:t>      Train model, làm slide, thuyết trình</a:t>
            </a:r>
          </a:p>
          <a:p>
            <a:pPr algn="l" marL="596658" indent="-298329" lvl="1">
              <a:lnSpc>
                <a:spcPts val="3869"/>
              </a:lnSpc>
              <a:buFont typeface="Arial"/>
              <a:buChar char="•"/>
            </a:pPr>
            <a:r>
              <a:rPr lang="en-US" sz="2763">
                <a:solidFill>
                  <a:srgbClr val="FFFFFF"/>
                </a:solidFill>
                <a:latin typeface="Arial MT Pro"/>
                <a:ea typeface="Arial MT Pro"/>
                <a:cs typeface="Arial MT Pro"/>
                <a:sym typeface="Arial MT Pro"/>
              </a:rPr>
              <a:t>Lê Minh Trí — 22%</a:t>
            </a:r>
          </a:p>
          <a:p>
            <a:pPr algn="l">
              <a:lnSpc>
                <a:spcPts val="3869"/>
              </a:lnSpc>
            </a:pPr>
            <a:r>
              <a:rPr lang="en-US" sz="2763">
                <a:solidFill>
                  <a:srgbClr val="FFFFFF"/>
                </a:solidFill>
                <a:latin typeface="Arial MT Pro"/>
                <a:ea typeface="Arial MT Pro"/>
                <a:cs typeface="Arial MT Pro"/>
                <a:sym typeface="Arial MT Pro"/>
              </a:rPr>
              <a:t>      Train model, làm slide, thuyết trình</a:t>
            </a:r>
          </a:p>
          <a:p>
            <a:pPr algn="l" marL="596658" indent="-298329" lvl="1">
              <a:lnSpc>
                <a:spcPts val="3869"/>
              </a:lnSpc>
              <a:buFont typeface="Arial"/>
              <a:buChar char="•"/>
            </a:pPr>
            <a:r>
              <a:rPr lang="en-US" sz="2763">
                <a:solidFill>
                  <a:srgbClr val="FFFFFF"/>
                </a:solidFill>
                <a:latin typeface="Arial MT Pro"/>
                <a:ea typeface="Arial MT Pro"/>
                <a:cs typeface="Arial MT Pro"/>
                <a:sym typeface="Arial MT Pro"/>
              </a:rPr>
              <a:t>Nguyễn Phúc Hậu — 22%</a:t>
            </a:r>
          </a:p>
          <a:p>
            <a:pPr algn="l">
              <a:lnSpc>
                <a:spcPts val="3869"/>
              </a:lnSpc>
            </a:pPr>
            <a:r>
              <a:rPr lang="en-US" sz="2763">
                <a:solidFill>
                  <a:srgbClr val="FFFFFF"/>
                </a:solidFill>
                <a:latin typeface="Arial MT Pro"/>
                <a:ea typeface="Arial MT Pro"/>
                <a:cs typeface="Arial MT Pro"/>
                <a:sym typeface="Arial MT Pro"/>
              </a:rPr>
              <a:t>      Train model, làm slide, thuyết trình</a:t>
            </a:r>
          </a:p>
          <a:p>
            <a:pPr algn="l" marL="596658" indent="-298329" lvl="1">
              <a:lnSpc>
                <a:spcPts val="3869"/>
              </a:lnSpc>
              <a:buFont typeface="Arial"/>
              <a:buChar char="•"/>
            </a:pPr>
            <a:r>
              <a:rPr lang="en-US" sz="2763">
                <a:solidFill>
                  <a:srgbClr val="FFFFFF"/>
                </a:solidFill>
                <a:latin typeface="Arial MT Pro"/>
                <a:ea typeface="Arial MT Pro"/>
                <a:cs typeface="Arial MT Pro"/>
                <a:sym typeface="Arial MT Pro"/>
              </a:rPr>
              <a:t>Đặng Cao Cường — 22%</a:t>
            </a:r>
          </a:p>
          <a:p>
            <a:pPr algn="l">
              <a:lnSpc>
                <a:spcPts val="3869"/>
              </a:lnSpc>
            </a:pPr>
            <a:r>
              <a:rPr lang="en-US" sz="2763">
                <a:solidFill>
                  <a:srgbClr val="FFFFFF"/>
                </a:solidFill>
                <a:latin typeface="Arial MT Pro"/>
                <a:ea typeface="Arial MT Pro"/>
                <a:cs typeface="Arial MT Pro"/>
                <a:sym typeface="Arial MT Pro"/>
              </a:rPr>
              <a:t>      Train model, làm slide, thuyết trình</a:t>
            </a:r>
          </a:p>
          <a:p>
            <a:pPr algn="l" marL="596658" indent="-298329" lvl="1">
              <a:lnSpc>
                <a:spcPts val="3869"/>
              </a:lnSpc>
              <a:buFont typeface="Arial"/>
              <a:buChar char="•"/>
            </a:pPr>
            <a:r>
              <a:rPr lang="en-US" sz="2763">
                <a:solidFill>
                  <a:srgbClr val="FFFFFF"/>
                </a:solidFill>
                <a:latin typeface="Arial MT Pro"/>
                <a:ea typeface="Arial MT Pro"/>
                <a:cs typeface="Arial MT Pro"/>
                <a:sym typeface="Arial MT Pro"/>
              </a:rPr>
              <a:t>Lê Triết Huân — 12%</a:t>
            </a:r>
          </a:p>
          <a:p>
            <a:pPr algn="l">
              <a:lnSpc>
                <a:spcPts val="3869"/>
              </a:lnSpc>
            </a:pPr>
            <a:r>
              <a:rPr lang="en-US" sz="2763">
                <a:solidFill>
                  <a:srgbClr val="FFFFFF"/>
                </a:solidFill>
                <a:latin typeface="Arial MT Pro"/>
                <a:ea typeface="Arial MT Pro"/>
                <a:cs typeface="Arial MT Pro"/>
                <a:sym typeface="Arial MT Pro"/>
              </a:rPr>
              <a:t>       Xử lý data</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74770">
            <a:off x="-1666180" y="6478089"/>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sp>
        <p:nvSpPr>
          <p:cNvPr name="TextBox 6" id="6"/>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Nhóm 1</a:t>
            </a:r>
          </a:p>
        </p:txBody>
      </p:sp>
      <p:sp>
        <p:nvSpPr>
          <p:cNvPr name="TextBox 7" id="7"/>
          <p:cNvSpPr txBox="true"/>
          <p:nvPr/>
        </p:nvSpPr>
        <p:spPr>
          <a:xfrm rot="0">
            <a:off x="2080871" y="4001801"/>
            <a:ext cx="14126257" cy="2226248"/>
          </a:xfrm>
          <a:prstGeom prst="rect">
            <a:avLst/>
          </a:prstGeom>
        </p:spPr>
        <p:txBody>
          <a:bodyPr anchor="t" rtlCol="false" tIns="0" lIns="0" bIns="0" rIns="0">
            <a:spAutoFit/>
          </a:bodyPr>
          <a:lstStyle/>
          <a:p>
            <a:pPr algn="ctr">
              <a:lnSpc>
                <a:spcPts val="14851"/>
              </a:lnSpc>
            </a:pPr>
            <a:r>
              <a:rPr lang="en-US" b="true" sz="14279" spc="-599">
                <a:solidFill>
                  <a:srgbClr val="FFFFFF"/>
                </a:solidFill>
                <a:latin typeface="Arial MT Pro Bold"/>
                <a:ea typeface="Arial MT Pro Bold"/>
                <a:cs typeface="Arial MT Pro Bold"/>
                <a:sym typeface="Arial MT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DAHLVeiqux0</dc:identifier>
  <dcterms:modified xsi:type="dcterms:W3CDTF">2011-08-01T06:04:30Z</dcterms:modified>
  <cp:revision>1</cp:revision>
  <dc:title>CSW 439 Data Mining</dc:title>
</cp:coreProperties>
</file>